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335" r:id="rId3"/>
    <p:sldId id="337" r:id="rId4"/>
    <p:sldId id="338" r:id="rId5"/>
    <p:sldId id="336" r:id="rId6"/>
    <p:sldId id="291" r:id="rId7"/>
    <p:sldId id="292" r:id="rId8"/>
    <p:sldId id="293" r:id="rId9"/>
    <p:sldId id="294" r:id="rId10"/>
    <p:sldId id="295" r:id="rId11"/>
    <p:sldId id="296" r:id="rId12"/>
    <p:sldId id="297" r:id="rId13"/>
    <p:sldId id="298" r:id="rId14"/>
    <p:sldId id="300" r:id="rId15"/>
    <p:sldId id="301" r:id="rId16"/>
    <p:sldId id="302" r:id="rId17"/>
    <p:sldId id="303" r:id="rId18"/>
    <p:sldId id="304" r:id="rId19"/>
    <p:sldId id="322" r:id="rId20"/>
    <p:sldId id="321" r:id="rId21"/>
    <p:sldId id="333" r:id="rId22"/>
    <p:sldId id="309" r:id="rId23"/>
    <p:sldId id="323" r:id="rId24"/>
    <p:sldId id="324" r:id="rId25"/>
    <p:sldId id="326" r:id="rId26"/>
    <p:sldId id="327" r:id="rId27"/>
    <p:sldId id="328" r:id="rId28"/>
    <p:sldId id="329" r:id="rId29"/>
    <p:sldId id="330" r:id="rId30"/>
    <p:sldId id="310" r:id="rId31"/>
    <p:sldId id="311" r:id="rId32"/>
    <p:sldId id="312" r:id="rId33"/>
    <p:sldId id="313" r:id="rId34"/>
    <p:sldId id="315" r:id="rId35"/>
    <p:sldId id="316" r:id="rId36"/>
    <p:sldId id="317" r:id="rId37"/>
    <p:sldId id="319" r:id="rId38"/>
    <p:sldId id="260" r:id="rId39"/>
    <p:sldId id="261" r:id="rId40"/>
    <p:sldId id="262" r:id="rId41"/>
    <p:sldId id="263" r:id="rId42"/>
    <p:sldId id="270" r:id="rId43"/>
    <p:sldId id="271" r:id="rId44"/>
    <p:sldId id="273" r:id="rId45"/>
    <p:sldId id="274" r:id="rId46"/>
    <p:sldId id="334" r:id="rId47"/>
    <p:sldId id="279" r:id="rId48"/>
    <p:sldId id="280" r:id="rId49"/>
    <p:sldId id="281" r:id="rId50"/>
    <p:sldId id="282" r:id="rId51"/>
    <p:sldId id="283" r:id="rId52"/>
    <p:sldId id="284" r:id="rId53"/>
    <p:sldId id="285" r:id="rId54"/>
    <p:sldId id="286" r:id="rId55"/>
    <p:sldId id="287" r:id="rId56"/>
    <p:sldId id="288" r:id="rId5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C5C5C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8" d="100"/>
          <a:sy n="88" d="100"/>
        </p:scale>
        <p:origin x="466"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0" Type="http://schemas.openxmlformats.org/officeDocument/2006/relationships/tableStyles" Target="tableStyles.xml"/><Relationship Id="rId6" Type="http://schemas.openxmlformats.org/officeDocument/2006/relationships/slide" Target="slides/slide4.xml"/><Relationship Id="rId59" Type="http://schemas.openxmlformats.org/officeDocument/2006/relationships/viewProps" Target="viewProps.xml"/><Relationship Id="rId58" Type="http://schemas.openxmlformats.org/officeDocument/2006/relationships/presProps" Target="presProps.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63E715-DFF6-4310-A411-FBD0CCFB36F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A8801D-8891-4B9D-BB7A-2EC6095852DA}"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63E715-DFF6-4310-A411-FBD0CCFB36F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A8801D-8891-4B9D-BB7A-2EC6095852DA}"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63E715-DFF6-4310-A411-FBD0CCFB36F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A8801D-8891-4B9D-BB7A-2EC6095852DA}"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63E715-DFF6-4310-A411-FBD0CCFB36FA}"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7A8801D-8891-4B9D-BB7A-2EC6095852DA}"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63E715-DFF6-4310-A411-FBD0CCFB36FA}"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7A8801D-8891-4B9D-BB7A-2EC6095852DA}"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63E715-DFF6-4310-A411-FBD0CCFB36FA}"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7A8801D-8891-4B9D-BB7A-2EC6095852DA}"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63E715-DFF6-4310-A411-FBD0CCFB36FA}"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7A8801D-8891-4B9D-BB7A-2EC6095852DA}"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63E715-DFF6-4310-A411-FBD0CCFB36FA}"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7A8801D-8891-4B9D-BB7A-2EC6095852DA}"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63E715-DFF6-4310-A411-FBD0CCFB36FA}"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7A8801D-8891-4B9D-BB7A-2EC6095852DA}"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63E715-DFF6-4310-A411-FBD0CCFB36F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A8801D-8891-4B9D-BB7A-2EC6095852DA}"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63E715-DFF6-4310-A411-FBD0CCFB36F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A8801D-8891-4B9D-BB7A-2EC6095852DA}"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63E715-DFF6-4310-A411-FBD0CCFB36FA}"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7A8801D-8891-4B9D-BB7A-2EC6095852DA}"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s://www.geeksforgeeks.org/java/new-operator-java/"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9792" y="80453"/>
            <a:ext cx="10515600" cy="1325563"/>
          </a:xfrm>
        </p:spPr>
        <p:txBody>
          <a:bodyPr>
            <a:normAutofit/>
          </a:bodyPr>
          <a:lstStyle/>
          <a:p>
            <a:r>
              <a:rPr lang="en-US" sz="3200" b="1" dirty="0">
                <a:latin typeface="Times New Roman" panose="02020603050405020304" pitchFamily="18" charset="0"/>
                <a:cs typeface="Times New Roman" panose="02020603050405020304" pitchFamily="18" charset="0"/>
              </a:rPr>
              <a:t>Difference Between </a:t>
            </a:r>
            <a:r>
              <a:rPr lang="en-US" sz="3200" b="1" dirty="0" smtClean="0">
                <a:latin typeface="Times New Roman" panose="02020603050405020304" pitchFamily="18" charset="0"/>
                <a:cs typeface="Times New Roman" panose="02020603050405020304" pitchFamily="18" charset="0"/>
              </a:rPr>
              <a:t>C </a:t>
            </a:r>
            <a:r>
              <a:rPr lang="en-US" sz="3200" b="1" dirty="0">
                <a:latin typeface="Times New Roman" panose="02020603050405020304" pitchFamily="18" charset="0"/>
                <a:cs typeface="Times New Roman" panose="02020603050405020304" pitchFamily="18" charset="0"/>
              </a:rPr>
              <a:t>and </a:t>
            </a:r>
            <a:r>
              <a:rPr lang="en-US" sz="3200" b="1" dirty="0" smtClean="0">
                <a:latin typeface="Times New Roman" panose="02020603050405020304" pitchFamily="18" charset="0"/>
                <a:cs typeface="Times New Roman" panose="02020603050405020304" pitchFamily="18" charset="0"/>
              </a:rPr>
              <a:t>Java</a:t>
            </a:r>
            <a:endParaRPr lang="en-US" sz="3200" b="1" dirty="0">
              <a:latin typeface="Times New Roman" panose="02020603050405020304" pitchFamily="18" charset="0"/>
              <a:cs typeface="Times New Roman" panose="02020603050405020304" pitchFamily="18" charset="0"/>
            </a:endParaRPr>
          </a:p>
        </p:txBody>
      </p:sp>
      <p:graphicFrame>
        <p:nvGraphicFramePr>
          <p:cNvPr id="7" name="Table 6"/>
          <p:cNvGraphicFramePr>
            <a:graphicFrameLocks noGrp="1"/>
          </p:cNvGraphicFramePr>
          <p:nvPr/>
        </p:nvGraphicFramePr>
        <p:xfrm>
          <a:off x="888521" y="1406017"/>
          <a:ext cx="9238890" cy="3926996"/>
        </p:xfrm>
        <a:graphic>
          <a:graphicData uri="http://schemas.openxmlformats.org/drawingml/2006/table">
            <a:tbl>
              <a:tblPr firstRow="1" bandRow="1">
                <a:tableStyleId>{5C22544A-7EE6-4342-B048-85BDC9FD1C3A}</a:tableStyleId>
              </a:tblPr>
              <a:tblGrid>
                <a:gridCol w="4572000"/>
                <a:gridCol w="4666890"/>
              </a:tblGrid>
              <a:tr h="622046">
                <a:tc>
                  <a:txBody>
                    <a:bodyPr/>
                    <a:lstStyle/>
                    <a:p>
                      <a:r>
                        <a:rPr lang="en-US" sz="2000" b="1" dirty="0" smtClean="0">
                          <a:solidFill>
                            <a:schemeClr val="tx1"/>
                          </a:solidFill>
                          <a:latin typeface="Times New Roman" panose="02020603050405020304" pitchFamily="18" charset="0"/>
                          <a:cs typeface="Times New Roman" panose="02020603050405020304" pitchFamily="18" charset="0"/>
                        </a:rPr>
                        <a:t>C</a:t>
                      </a:r>
                      <a:endParaRPr lang="en-US" sz="2000" b="1"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US" sz="2000" dirty="0" smtClean="0">
                          <a:solidFill>
                            <a:schemeClr val="tx1"/>
                          </a:solidFill>
                          <a:latin typeface="Times New Roman" panose="02020603050405020304" pitchFamily="18" charset="0"/>
                          <a:cs typeface="Times New Roman" panose="02020603050405020304" pitchFamily="18" charset="0"/>
                        </a:rPr>
                        <a:t>JAVA</a:t>
                      </a:r>
                      <a:endParaRPr lang="en-US" sz="2000" dirty="0">
                        <a:solidFill>
                          <a:schemeClr val="tx1"/>
                        </a:solidFill>
                        <a:latin typeface="Times New Roman" panose="02020603050405020304" pitchFamily="18" charset="0"/>
                        <a:cs typeface="Times New Roman" panose="02020603050405020304" pitchFamily="18" charset="0"/>
                      </a:endParaRPr>
                    </a:p>
                  </a:txBody>
                  <a:tcPr/>
                </a:tc>
              </a:tr>
              <a:tr h="622046">
                <a:tc>
                  <a:txBody>
                    <a:bodyPr/>
                    <a:lstStyle/>
                    <a:p>
                      <a:r>
                        <a:rPr lang="en-US" sz="2000" b="0" i="0" kern="1200" dirty="0" smtClean="0">
                          <a:solidFill>
                            <a:schemeClr val="dk1"/>
                          </a:solidFill>
                          <a:effectLst/>
                          <a:latin typeface="Times New Roman" panose="02020603050405020304" pitchFamily="18" charset="0"/>
                          <a:ea typeface="+mn-ea"/>
                          <a:cs typeface="Times New Roman" panose="02020603050405020304" pitchFamily="18" charset="0"/>
                        </a:rPr>
                        <a:t>C is a Procedural Programming Language.</a:t>
                      </a:r>
                      <a:endParaRPr lang="en-US" sz="2000" dirty="0">
                        <a:latin typeface="Times New Roman" panose="02020603050405020304" pitchFamily="18" charset="0"/>
                        <a:cs typeface="Times New Roman" panose="02020603050405020304" pitchFamily="18" charset="0"/>
                      </a:endParaRPr>
                    </a:p>
                  </a:txBody>
                  <a:tcPr/>
                </a:tc>
                <a:tc>
                  <a:txBody>
                    <a:bodyPr/>
                    <a:lstStyle/>
                    <a:p>
                      <a:r>
                        <a:rPr lang="en-US" sz="2000" b="0" i="0" kern="1200" dirty="0" smtClean="0">
                          <a:solidFill>
                            <a:schemeClr val="dk1"/>
                          </a:solidFill>
                          <a:effectLst/>
                          <a:latin typeface="Times New Roman" panose="02020603050405020304" pitchFamily="18" charset="0"/>
                          <a:ea typeface="+mn-ea"/>
                          <a:cs typeface="Times New Roman" panose="02020603050405020304" pitchFamily="18" charset="0"/>
                        </a:rPr>
                        <a:t>Java is </a:t>
                      </a:r>
                      <a:r>
                        <a:rPr lang="en-US" sz="2000" b="0" i="0" u="none" kern="1200" dirty="0" smtClean="0">
                          <a:solidFill>
                            <a:schemeClr val="dk1"/>
                          </a:solidFill>
                          <a:effectLst/>
                          <a:latin typeface="Times New Roman" panose="02020603050405020304" pitchFamily="18" charset="0"/>
                          <a:ea typeface="+mn-ea"/>
                          <a:cs typeface="Times New Roman" panose="02020603050405020304" pitchFamily="18" charset="0"/>
                        </a:rPr>
                        <a:t>Object-Oriented language.</a:t>
                      </a:r>
                      <a:endParaRPr lang="en-US" sz="2000" u="none" dirty="0">
                        <a:latin typeface="Times New Roman" panose="02020603050405020304" pitchFamily="18" charset="0"/>
                        <a:cs typeface="Times New Roman" panose="02020603050405020304" pitchFamily="18" charset="0"/>
                      </a:endParaRPr>
                    </a:p>
                  </a:txBody>
                  <a:tcPr/>
                </a:tc>
              </a:tr>
              <a:tr h="622046">
                <a:tc>
                  <a:txBody>
                    <a:bodyPr/>
                    <a:lstStyle/>
                    <a:p>
                      <a:r>
                        <a:rPr lang="en-US" sz="2000" b="0" i="0" kern="1200" dirty="0" smtClean="0">
                          <a:solidFill>
                            <a:schemeClr val="dk1"/>
                          </a:solidFill>
                          <a:effectLst/>
                          <a:latin typeface="Times New Roman" panose="02020603050405020304" pitchFamily="18" charset="0"/>
                          <a:ea typeface="+mn-ea"/>
                          <a:cs typeface="Times New Roman" panose="02020603050405020304" pitchFamily="18" charset="0"/>
                        </a:rPr>
                        <a:t>C generally breaks down into functions.</a:t>
                      </a:r>
                      <a:endParaRPr lang="en-US" sz="2000" dirty="0">
                        <a:latin typeface="Times New Roman" panose="02020603050405020304" pitchFamily="18" charset="0"/>
                        <a:cs typeface="Times New Roman" panose="02020603050405020304" pitchFamily="18" charset="0"/>
                      </a:endParaRPr>
                    </a:p>
                  </a:txBody>
                  <a:tcPr/>
                </a:tc>
                <a:tc>
                  <a:txBody>
                    <a:bodyPr/>
                    <a:lstStyle/>
                    <a:p>
                      <a:r>
                        <a:rPr lang="en-US" sz="2000" b="0" i="0" kern="1200" dirty="0" smtClean="0">
                          <a:solidFill>
                            <a:schemeClr val="dk1"/>
                          </a:solidFill>
                          <a:effectLst/>
                          <a:latin typeface="Times New Roman" panose="02020603050405020304" pitchFamily="18" charset="0"/>
                          <a:ea typeface="+mn-ea"/>
                          <a:cs typeface="Times New Roman" panose="02020603050405020304" pitchFamily="18" charset="0"/>
                        </a:rPr>
                        <a:t>Java breaks down into Objects.</a:t>
                      </a:r>
                      <a:endParaRPr lang="en-US" sz="2000" dirty="0">
                        <a:latin typeface="Times New Roman" panose="02020603050405020304" pitchFamily="18" charset="0"/>
                        <a:cs typeface="Times New Roman" panose="02020603050405020304" pitchFamily="18" charset="0"/>
                      </a:endParaRPr>
                    </a:p>
                  </a:txBody>
                  <a:tcPr/>
                </a:tc>
              </a:tr>
              <a:tr h="816766">
                <a:tc>
                  <a:txBody>
                    <a:bodyPr/>
                    <a:lstStyle/>
                    <a:p>
                      <a:r>
                        <a:rPr lang="en-US" sz="2000" b="0" i="0" u="none" kern="1200" dirty="0" smtClean="0">
                          <a:solidFill>
                            <a:schemeClr val="dk1"/>
                          </a:solidFill>
                          <a:effectLst/>
                          <a:latin typeface="Times New Roman" panose="02020603050405020304" pitchFamily="18" charset="0"/>
                          <a:ea typeface="+mn-ea"/>
                          <a:cs typeface="Times New Roman" panose="02020603050405020304" pitchFamily="18" charset="0"/>
                        </a:rPr>
                        <a:t>Memory allocation</a:t>
                      </a:r>
                      <a:r>
                        <a:rPr lang="en-US" sz="2000" b="0" i="0" kern="1200" dirty="0" smtClean="0">
                          <a:solidFill>
                            <a:schemeClr val="dk1"/>
                          </a:solidFill>
                          <a:effectLst/>
                          <a:latin typeface="Times New Roman" panose="02020603050405020304" pitchFamily="18" charset="0"/>
                          <a:ea typeface="+mn-ea"/>
                          <a:cs typeface="Times New Roman" panose="02020603050405020304" pitchFamily="18" charset="0"/>
                        </a:rPr>
                        <a:t> can be done by </a:t>
                      </a:r>
                      <a:r>
                        <a:rPr lang="en-US" sz="2000" b="0" i="0" kern="1200" dirty="0" err="1" smtClean="0">
                          <a:solidFill>
                            <a:schemeClr val="dk1"/>
                          </a:solidFill>
                          <a:effectLst/>
                          <a:latin typeface="Times New Roman" panose="02020603050405020304" pitchFamily="18" charset="0"/>
                          <a:ea typeface="+mn-ea"/>
                          <a:cs typeface="Times New Roman" panose="02020603050405020304" pitchFamily="18" charset="0"/>
                        </a:rPr>
                        <a:t>malloc</a:t>
                      </a:r>
                      <a:r>
                        <a:rPr lang="en-US" sz="2000" b="0" i="0" kern="1200" dirty="0" smtClean="0">
                          <a:solidFill>
                            <a:schemeClr val="dk1"/>
                          </a:solidFill>
                          <a:effectLst/>
                          <a:latin typeface="Times New Roman" panose="02020603050405020304" pitchFamily="18" charset="0"/>
                          <a:ea typeface="+mn-ea"/>
                          <a:cs typeface="Times New Roman" panose="02020603050405020304" pitchFamily="18" charset="0"/>
                        </a:rPr>
                        <a:t> in C.</a:t>
                      </a:r>
                      <a:endParaRPr lang="en-US" sz="2000" dirty="0">
                        <a:latin typeface="Times New Roman" panose="02020603050405020304" pitchFamily="18" charset="0"/>
                        <a:cs typeface="Times New Roman" panose="02020603050405020304" pitchFamily="18" charset="0"/>
                      </a:endParaRPr>
                    </a:p>
                  </a:txBody>
                  <a:tcPr/>
                </a:tc>
                <a:tc>
                  <a:txBody>
                    <a:bodyPr/>
                    <a:lstStyle/>
                    <a:p>
                      <a:r>
                        <a:rPr lang="en-US" sz="2000" b="0" i="0" kern="1200" dirty="0" smtClean="0">
                          <a:solidFill>
                            <a:schemeClr val="dk1"/>
                          </a:solidFill>
                          <a:effectLst/>
                          <a:latin typeface="Times New Roman" panose="02020603050405020304" pitchFamily="18" charset="0"/>
                          <a:ea typeface="+mn-ea"/>
                          <a:cs typeface="Times New Roman" panose="02020603050405020304" pitchFamily="18" charset="0"/>
                        </a:rPr>
                        <a:t>Memory allocation can be done by a </a:t>
                      </a:r>
                      <a:r>
                        <a:rPr lang="en-US" sz="2000" b="0" i="0" u="none" kern="1200" dirty="0" smtClean="0">
                          <a:solidFill>
                            <a:schemeClr val="dk1"/>
                          </a:solidFill>
                          <a:effectLst/>
                          <a:latin typeface="Times New Roman" panose="02020603050405020304" pitchFamily="18" charset="0"/>
                          <a:ea typeface="+mn-ea"/>
                          <a:cs typeface="Times New Roman" panose="02020603050405020304" pitchFamily="18" charset="0"/>
                        </a:rPr>
                        <a:t>new keyword</a:t>
                      </a:r>
                      <a:r>
                        <a:rPr lang="en-US" sz="2000" b="0" i="0" u="sng" kern="1200" dirty="0" smtClean="0">
                          <a:solidFill>
                            <a:schemeClr val="dk1"/>
                          </a:solidFill>
                          <a:effectLst/>
                          <a:latin typeface="Times New Roman" panose="02020603050405020304" pitchFamily="18" charset="0"/>
                          <a:ea typeface="+mn-ea"/>
                          <a:cs typeface="Times New Roman" panose="02020603050405020304" pitchFamily="18" charset="0"/>
                          <a:hlinkClick r:id="rId1"/>
                        </a:rPr>
                        <a:t> </a:t>
                      </a:r>
                      <a:r>
                        <a:rPr lang="en-US" sz="2000" b="0" i="0" kern="1200" dirty="0" smtClean="0">
                          <a:solidFill>
                            <a:schemeClr val="dk1"/>
                          </a:solidFill>
                          <a:effectLst/>
                          <a:latin typeface="Times New Roman" panose="02020603050405020304" pitchFamily="18" charset="0"/>
                          <a:ea typeface="+mn-ea"/>
                          <a:cs typeface="Times New Roman" panose="02020603050405020304" pitchFamily="18" charset="0"/>
                        </a:rPr>
                        <a:t>in Java.</a:t>
                      </a:r>
                      <a:endParaRPr lang="en-US" sz="2000" dirty="0">
                        <a:latin typeface="Times New Roman" panose="02020603050405020304" pitchFamily="18" charset="0"/>
                        <a:cs typeface="Times New Roman" panose="02020603050405020304" pitchFamily="18" charset="0"/>
                      </a:endParaRPr>
                    </a:p>
                  </a:txBody>
                  <a:tcPr/>
                </a:tc>
              </a:tr>
              <a:tr h="622046">
                <a:tc>
                  <a:txBody>
                    <a:bodyPr/>
                    <a:lstStyle/>
                    <a:p>
                      <a:r>
                        <a:rPr lang="en-US" sz="2000" b="0" i="0" kern="1200" dirty="0" smtClean="0">
                          <a:solidFill>
                            <a:schemeClr val="dk1"/>
                          </a:solidFill>
                          <a:effectLst/>
                          <a:latin typeface="Times New Roman" panose="02020603050405020304" pitchFamily="18" charset="0"/>
                          <a:ea typeface="+mn-ea"/>
                          <a:cs typeface="Times New Roman" panose="02020603050405020304" pitchFamily="18" charset="0"/>
                        </a:rPr>
                        <a:t>C does not supports</a:t>
                      </a:r>
                      <a:r>
                        <a:rPr lang="en-US" sz="2000" b="0" i="0" kern="1200" baseline="0" dirty="0" smtClean="0">
                          <a:solidFill>
                            <a:schemeClr val="dk1"/>
                          </a:solidFill>
                          <a:effectLst/>
                          <a:latin typeface="Times New Roman" panose="02020603050405020304" pitchFamily="18" charset="0"/>
                          <a:ea typeface="+mn-ea"/>
                          <a:cs typeface="Times New Roman" panose="02020603050405020304" pitchFamily="18" charset="0"/>
                        </a:rPr>
                        <a:t> inheritance.</a:t>
                      </a:r>
                      <a:endParaRPr lang="en-US" sz="2000" dirty="0">
                        <a:latin typeface="Times New Roman" panose="02020603050405020304" pitchFamily="18" charset="0"/>
                        <a:cs typeface="Times New Roman" panose="02020603050405020304" pitchFamily="18" charset="0"/>
                      </a:endParaRPr>
                    </a:p>
                  </a:txBody>
                  <a:tcPr/>
                </a:tc>
                <a:tc>
                  <a:txBody>
                    <a:bodyPr/>
                    <a:lstStyle/>
                    <a:p>
                      <a:r>
                        <a:rPr lang="en-US" sz="2000" b="0" i="0" kern="1200" dirty="0" smtClean="0">
                          <a:solidFill>
                            <a:schemeClr val="dk1"/>
                          </a:solidFill>
                          <a:effectLst/>
                          <a:latin typeface="Times New Roman" panose="02020603050405020304" pitchFamily="18" charset="0"/>
                          <a:ea typeface="+mn-ea"/>
                          <a:cs typeface="Times New Roman" panose="02020603050405020304" pitchFamily="18" charset="0"/>
                        </a:rPr>
                        <a:t>Java supports</a:t>
                      </a:r>
                      <a:r>
                        <a:rPr lang="en-US" sz="2000" b="0" i="0" kern="1200" baseline="0" dirty="0" smtClean="0">
                          <a:solidFill>
                            <a:schemeClr val="dk1"/>
                          </a:solidFill>
                          <a:effectLst/>
                          <a:latin typeface="Times New Roman" panose="02020603050405020304" pitchFamily="18" charset="0"/>
                          <a:ea typeface="+mn-ea"/>
                          <a:cs typeface="Times New Roman" panose="02020603050405020304" pitchFamily="18" charset="0"/>
                        </a:rPr>
                        <a:t> inheritance.</a:t>
                      </a:r>
                      <a:endParaRPr lang="en-US" sz="2000" dirty="0">
                        <a:latin typeface="Times New Roman" panose="02020603050405020304" pitchFamily="18" charset="0"/>
                        <a:cs typeface="Times New Roman" panose="02020603050405020304" pitchFamily="18" charset="0"/>
                      </a:endParaRPr>
                    </a:p>
                  </a:txBody>
                  <a:tcPr/>
                </a:tc>
              </a:tr>
              <a:tr h="622046">
                <a:tc>
                  <a:txBody>
                    <a:bodyPr/>
                    <a:lstStyle/>
                    <a:p>
                      <a:r>
                        <a:rPr lang="en-US" sz="2000" b="0" i="0" kern="1200" dirty="0" smtClean="0">
                          <a:solidFill>
                            <a:schemeClr val="dk1"/>
                          </a:solidFill>
                          <a:effectLst/>
                          <a:latin typeface="Times New Roman" panose="02020603050405020304" pitchFamily="18" charset="0"/>
                          <a:ea typeface="+mn-ea"/>
                          <a:cs typeface="Times New Roman" panose="02020603050405020304" pitchFamily="18" charset="0"/>
                        </a:rPr>
                        <a:t>C is platform dependent.</a:t>
                      </a:r>
                      <a:endParaRPr lang="en-US" sz="2000" dirty="0">
                        <a:latin typeface="Times New Roman" panose="02020603050405020304" pitchFamily="18" charset="0"/>
                        <a:cs typeface="Times New Roman" panose="02020603050405020304" pitchFamily="18" charset="0"/>
                      </a:endParaRPr>
                    </a:p>
                  </a:txBody>
                  <a:tcPr/>
                </a:tc>
                <a:tc>
                  <a:txBody>
                    <a:bodyPr/>
                    <a:lstStyle/>
                    <a:p>
                      <a:r>
                        <a:rPr lang="en-US" sz="2000" b="0" i="0" kern="1200" dirty="0" smtClean="0">
                          <a:solidFill>
                            <a:schemeClr val="dk1"/>
                          </a:solidFill>
                          <a:effectLst/>
                          <a:latin typeface="Times New Roman" panose="02020603050405020304" pitchFamily="18" charset="0"/>
                          <a:ea typeface="+mn-ea"/>
                          <a:cs typeface="Times New Roman" panose="02020603050405020304" pitchFamily="18" charset="0"/>
                        </a:rPr>
                        <a:t>Java is a platform independent.</a:t>
                      </a:r>
                      <a:endParaRPr lang="en-US" sz="2000" dirty="0">
                        <a:latin typeface="Times New Roman" panose="02020603050405020304" pitchFamily="18" charset="0"/>
                        <a:cs typeface="Times New Roman" panose="02020603050405020304" pitchFamily="18" charset="0"/>
                      </a:endParaRPr>
                    </a:p>
                  </a:txBody>
                  <a:tcPr/>
                </a:tc>
              </a:tr>
            </a:tbl>
          </a:graphicData>
        </a:graphic>
      </p:graphicFrame>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16694"/>
          </a:xfrm>
        </p:spPr>
        <p:txBody>
          <a:bodyPr>
            <a:normAutofit/>
          </a:bodyPr>
          <a:lstStyle/>
          <a:p>
            <a:r>
              <a:rPr lang="en-US" sz="3200" b="1" dirty="0" smtClean="0">
                <a:latin typeface="Times New Roman" panose="02020603050405020304" pitchFamily="18" charset="0"/>
                <a:cs typeface="Times New Roman" panose="02020603050405020304" pitchFamily="18" charset="0"/>
              </a:rPr>
              <a:t>Object-Oriented Programming (OOP)</a:t>
            </a:r>
            <a:endParaRPr lang="en-US" sz="3200" b="1" dirty="0" smtClean="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905774"/>
            <a:ext cx="10515600" cy="5271189"/>
          </a:xfrm>
        </p:spPr>
        <p:txBody>
          <a:bodyPr>
            <a:noAutofit/>
          </a:bodyPr>
          <a:lstStyle/>
          <a:p>
            <a:pPr marL="0" indent="0">
              <a:buNone/>
            </a:pPr>
            <a:r>
              <a:rPr lang="en-US" sz="2400" b="1" dirty="0" smtClean="0">
                <a:latin typeface="Times New Roman" panose="02020603050405020304" pitchFamily="18" charset="0"/>
                <a:cs typeface="Times New Roman" panose="02020603050405020304" pitchFamily="18" charset="0"/>
              </a:rPr>
              <a:t>Definition</a:t>
            </a:r>
            <a:r>
              <a:rPr lang="en-US" sz="2400" dirty="0" smtClean="0">
                <a:latin typeface="Times New Roman" panose="02020603050405020304" pitchFamily="18" charset="0"/>
                <a:cs typeface="Times New Roman" panose="02020603050405020304" pitchFamily="18" charset="0"/>
              </a:rPr>
              <a:t>:</a:t>
            </a:r>
            <a:br>
              <a:rPr lang="en-US" sz="2400" dirty="0" smtClean="0">
                <a:latin typeface="Times New Roman" panose="02020603050405020304" pitchFamily="18" charset="0"/>
                <a:cs typeface="Times New Roman" panose="02020603050405020304" pitchFamily="18" charset="0"/>
              </a:rPr>
            </a:br>
            <a:r>
              <a:rPr lang="en-US" sz="2400" dirty="0" smtClean="0">
                <a:latin typeface="Times New Roman" panose="02020603050405020304" pitchFamily="18" charset="0"/>
                <a:cs typeface="Times New Roman" panose="02020603050405020304" pitchFamily="18" charset="0"/>
              </a:rPr>
              <a:t>Object-oriented programming is a programming paradigm based on </a:t>
            </a:r>
            <a:r>
              <a:rPr lang="en-US" sz="2400" b="1" dirty="0" smtClean="0">
                <a:latin typeface="Times New Roman" panose="02020603050405020304" pitchFamily="18" charset="0"/>
                <a:cs typeface="Times New Roman" panose="02020603050405020304" pitchFamily="18" charset="0"/>
              </a:rPr>
              <a:t>objects</a:t>
            </a:r>
            <a:r>
              <a:rPr lang="en-US" sz="2400" dirty="0" smtClean="0">
                <a:latin typeface="Times New Roman" panose="02020603050405020304" pitchFamily="18" charset="0"/>
                <a:cs typeface="Times New Roman" panose="02020603050405020304" pitchFamily="18" charset="0"/>
              </a:rPr>
              <a:t>, which are instances of </a:t>
            </a:r>
            <a:r>
              <a:rPr lang="en-US" sz="2400" b="1" dirty="0" smtClean="0">
                <a:latin typeface="Times New Roman" panose="02020603050405020304" pitchFamily="18" charset="0"/>
                <a:cs typeface="Times New Roman" panose="02020603050405020304" pitchFamily="18" charset="0"/>
              </a:rPr>
              <a:t>classes</a:t>
            </a:r>
            <a:r>
              <a:rPr lang="en-US" sz="2400" dirty="0" smtClean="0">
                <a:latin typeface="Times New Roman" panose="02020603050405020304" pitchFamily="18" charset="0"/>
                <a:cs typeface="Times New Roman" panose="02020603050405020304" pitchFamily="18" charset="0"/>
              </a:rPr>
              <a:t>. It focuses on organizing code around </a:t>
            </a:r>
            <a:r>
              <a:rPr lang="en-US" sz="2400" b="1" dirty="0" smtClean="0">
                <a:latin typeface="Times New Roman" panose="02020603050405020304" pitchFamily="18" charset="0"/>
                <a:cs typeface="Times New Roman" panose="02020603050405020304" pitchFamily="18" charset="0"/>
              </a:rPr>
              <a:t>data (attributes)</a:t>
            </a:r>
            <a:r>
              <a:rPr lang="en-US" sz="2400" dirty="0" smtClean="0">
                <a:latin typeface="Times New Roman" panose="02020603050405020304" pitchFamily="18" charset="0"/>
                <a:cs typeface="Times New Roman" panose="02020603050405020304" pitchFamily="18" charset="0"/>
              </a:rPr>
              <a:t> and </a:t>
            </a:r>
            <a:r>
              <a:rPr lang="en-US" sz="2400" b="1" dirty="0" smtClean="0">
                <a:latin typeface="Times New Roman" panose="02020603050405020304" pitchFamily="18" charset="0"/>
                <a:cs typeface="Times New Roman" panose="02020603050405020304" pitchFamily="18" charset="0"/>
              </a:rPr>
              <a:t>behavior (methods)</a:t>
            </a:r>
            <a:r>
              <a:rPr lang="en-US" sz="2400" dirty="0" smtClean="0">
                <a:latin typeface="Times New Roman" panose="02020603050405020304" pitchFamily="18" charset="0"/>
                <a:cs typeface="Times New Roman" panose="02020603050405020304" pitchFamily="18" charset="0"/>
              </a:rPr>
              <a:t>.</a:t>
            </a:r>
            <a:endParaRPr lang="en-US" sz="2400" dirty="0" smtClean="0">
              <a:latin typeface="Times New Roman" panose="02020603050405020304" pitchFamily="18" charset="0"/>
              <a:cs typeface="Times New Roman" panose="02020603050405020304" pitchFamily="18" charset="0"/>
            </a:endParaRPr>
          </a:p>
          <a:p>
            <a:pPr marL="0" indent="0">
              <a:buNone/>
            </a:pPr>
            <a:r>
              <a:rPr lang="en-US" sz="2400" b="1" dirty="0" smtClean="0">
                <a:latin typeface="Times New Roman" panose="02020603050405020304" pitchFamily="18" charset="0"/>
                <a:cs typeface="Times New Roman" panose="02020603050405020304" pitchFamily="18" charset="0"/>
              </a:rPr>
              <a:t>Key Features</a:t>
            </a:r>
            <a:r>
              <a:rPr lang="en-US" sz="2400" dirty="0" smtClean="0">
                <a:latin typeface="Times New Roman" panose="02020603050405020304" pitchFamily="18" charset="0"/>
                <a:cs typeface="Times New Roman" panose="02020603050405020304" pitchFamily="18" charset="0"/>
              </a:rPr>
              <a:t>:</a:t>
            </a:r>
            <a:endParaRPr lang="en-US" sz="2400" dirty="0" smtClean="0">
              <a:latin typeface="Times New Roman" panose="02020603050405020304" pitchFamily="18" charset="0"/>
              <a:cs typeface="Times New Roman" panose="02020603050405020304" pitchFamily="18" charset="0"/>
            </a:endParaRPr>
          </a:p>
          <a:p>
            <a:pPr lvl="1">
              <a:buFont typeface="Wingdings" panose="05000000000000000000" pitchFamily="2" charset="2"/>
              <a:buChar char="Ø"/>
            </a:pPr>
            <a:r>
              <a:rPr lang="en-US" sz="2000" dirty="0" smtClean="0">
                <a:latin typeface="Times New Roman" panose="02020603050405020304" pitchFamily="18" charset="0"/>
                <a:cs typeface="Times New Roman" panose="02020603050405020304" pitchFamily="18" charset="0"/>
              </a:rPr>
              <a:t>Based on </a:t>
            </a:r>
            <a:r>
              <a:rPr lang="en-US" sz="2000" b="1" dirty="0" smtClean="0">
                <a:latin typeface="Times New Roman" panose="02020603050405020304" pitchFamily="18" charset="0"/>
                <a:cs typeface="Times New Roman" panose="02020603050405020304" pitchFamily="18" charset="0"/>
              </a:rPr>
              <a:t>classes and objects</a:t>
            </a:r>
            <a:r>
              <a:rPr lang="en-US" sz="2000" dirty="0" smtClean="0">
                <a:latin typeface="Times New Roman" panose="02020603050405020304" pitchFamily="18" charset="0"/>
                <a:cs typeface="Times New Roman" panose="02020603050405020304" pitchFamily="18" charset="0"/>
              </a:rPr>
              <a:t>.</a:t>
            </a:r>
            <a:endParaRPr lang="en-US" sz="2000" dirty="0" smtClean="0">
              <a:latin typeface="Times New Roman" panose="02020603050405020304" pitchFamily="18" charset="0"/>
              <a:cs typeface="Times New Roman" panose="02020603050405020304" pitchFamily="18" charset="0"/>
            </a:endParaRPr>
          </a:p>
          <a:p>
            <a:pPr lvl="1">
              <a:buFont typeface="Wingdings" panose="05000000000000000000" pitchFamily="2" charset="2"/>
              <a:buChar char="Ø"/>
            </a:pPr>
            <a:r>
              <a:rPr lang="en-US" sz="2000" dirty="0" smtClean="0">
                <a:latin typeface="Times New Roman" panose="02020603050405020304" pitchFamily="18" charset="0"/>
                <a:cs typeface="Times New Roman" panose="02020603050405020304" pitchFamily="18" charset="0"/>
              </a:rPr>
              <a:t>Follows a </a:t>
            </a:r>
            <a:r>
              <a:rPr lang="en-US" sz="2000" b="1" dirty="0" smtClean="0">
                <a:latin typeface="Times New Roman" panose="02020603050405020304" pitchFamily="18" charset="0"/>
                <a:cs typeface="Times New Roman" panose="02020603050405020304" pitchFamily="18" charset="0"/>
              </a:rPr>
              <a:t>bottom-up</a:t>
            </a:r>
            <a:r>
              <a:rPr lang="en-US" sz="2000" dirty="0" smtClean="0">
                <a:latin typeface="Times New Roman" panose="02020603050405020304" pitchFamily="18" charset="0"/>
                <a:cs typeface="Times New Roman" panose="02020603050405020304" pitchFamily="18" charset="0"/>
              </a:rPr>
              <a:t> approach.</a:t>
            </a:r>
            <a:endParaRPr lang="en-US" sz="2000" dirty="0" smtClean="0">
              <a:latin typeface="Times New Roman" panose="02020603050405020304" pitchFamily="18" charset="0"/>
              <a:cs typeface="Times New Roman" panose="02020603050405020304" pitchFamily="18" charset="0"/>
            </a:endParaRPr>
          </a:p>
          <a:p>
            <a:pPr lvl="1">
              <a:buFont typeface="Wingdings" panose="05000000000000000000" pitchFamily="2" charset="2"/>
              <a:buChar char="Ø"/>
            </a:pPr>
            <a:r>
              <a:rPr lang="en-US" sz="2000" dirty="0" smtClean="0">
                <a:latin typeface="Times New Roman" panose="02020603050405020304" pitchFamily="18" charset="0"/>
                <a:cs typeface="Times New Roman" panose="02020603050405020304" pitchFamily="18" charset="0"/>
              </a:rPr>
              <a:t>Supports </a:t>
            </a:r>
            <a:r>
              <a:rPr lang="en-US" sz="2000" b="1" dirty="0" smtClean="0">
                <a:latin typeface="Times New Roman" panose="02020603050405020304" pitchFamily="18" charset="0"/>
                <a:cs typeface="Times New Roman" panose="02020603050405020304" pitchFamily="18" charset="0"/>
              </a:rPr>
              <a:t>encapsulation, inheritance, and polymorphism</a:t>
            </a:r>
            <a:r>
              <a:rPr lang="en-US" sz="2000" dirty="0" smtClean="0">
                <a:latin typeface="Times New Roman" panose="02020603050405020304" pitchFamily="18" charset="0"/>
                <a:cs typeface="Times New Roman" panose="02020603050405020304" pitchFamily="18" charset="0"/>
              </a:rPr>
              <a:t>.</a:t>
            </a:r>
            <a:endParaRPr lang="en-US" sz="2000" dirty="0" smtClean="0">
              <a:latin typeface="Times New Roman" panose="02020603050405020304" pitchFamily="18" charset="0"/>
              <a:cs typeface="Times New Roman" panose="02020603050405020304" pitchFamily="18" charset="0"/>
            </a:endParaRPr>
          </a:p>
          <a:p>
            <a:pPr lvl="1">
              <a:buFont typeface="Wingdings" panose="05000000000000000000" pitchFamily="2" charset="2"/>
              <a:buChar char="Ø"/>
            </a:pPr>
            <a:r>
              <a:rPr lang="en-US" sz="2000" dirty="0" smtClean="0">
                <a:latin typeface="Times New Roman" panose="02020603050405020304" pitchFamily="18" charset="0"/>
                <a:cs typeface="Times New Roman" panose="02020603050405020304" pitchFamily="18" charset="0"/>
              </a:rPr>
              <a:t>Data and methods are bundled together in objects.</a:t>
            </a:r>
            <a:endParaRPr lang="en-US" sz="2000" dirty="0" smtClean="0">
              <a:latin typeface="Times New Roman" panose="02020603050405020304" pitchFamily="18" charset="0"/>
              <a:cs typeface="Times New Roman" panose="02020603050405020304" pitchFamily="18" charset="0"/>
            </a:endParaRPr>
          </a:p>
          <a:p>
            <a:pPr marL="0" indent="0">
              <a:buNone/>
            </a:pPr>
            <a:r>
              <a:rPr lang="en-US" sz="2400" b="1" dirty="0" smtClean="0">
                <a:latin typeface="Times New Roman" panose="02020603050405020304" pitchFamily="18" charset="0"/>
                <a:cs typeface="Times New Roman" panose="02020603050405020304" pitchFamily="18" charset="0"/>
              </a:rPr>
              <a:t>Example Languages</a:t>
            </a:r>
            <a:r>
              <a:rPr lang="en-US" sz="2400" dirty="0" smtClean="0">
                <a:latin typeface="Times New Roman" panose="02020603050405020304" pitchFamily="18" charset="0"/>
                <a:cs typeface="Times New Roman" panose="02020603050405020304" pitchFamily="18" charset="0"/>
              </a:rPr>
              <a:t>: Java, Python, C++, C#</a:t>
            </a:r>
            <a:endParaRPr lang="en-US" sz="2400"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400" b="1" dirty="0" smtClean="0">
                <a:latin typeface="Times New Roman" panose="02020603050405020304" pitchFamily="18" charset="0"/>
                <a:cs typeface="Times New Roman" panose="02020603050405020304" pitchFamily="18" charset="0"/>
              </a:rPr>
              <a:t>Example</a:t>
            </a:r>
            <a:r>
              <a:rPr lang="en-US" sz="2400" dirty="0" smtClean="0">
                <a:latin typeface="Times New Roman" panose="02020603050405020304" pitchFamily="18" charset="0"/>
                <a:cs typeface="Times New Roman" panose="02020603050405020304" pitchFamily="18" charset="0"/>
              </a:rPr>
              <a:t>:</a:t>
            </a:r>
            <a:br>
              <a:rPr lang="en-US" sz="2400" dirty="0" smtClean="0">
                <a:latin typeface="Times New Roman" panose="02020603050405020304" pitchFamily="18" charset="0"/>
                <a:cs typeface="Times New Roman" panose="02020603050405020304" pitchFamily="18" charset="0"/>
              </a:rPr>
            </a:br>
            <a:r>
              <a:rPr lang="en-US" sz="2400" dirty="0" smtClean="0">
                <a:latin typeface="Times New Roman" panose="02020603050405020304" pitchFamily="18" charset="0"/>
                <a:cs typeface="Times New Roman" panose="02020603050405020304" pitchFamily="18" charset="0"/>
              </a:rPr>
              <a:t>Think of a </a:t>
            </a:r>
            <a:r>
              <a:rPr lang="en-US" sz="2400" b="1" dirty="0" smtClean="0">
                <a:latin typeface="Times New Roman" panose="02020603050405020304" pitchFamily="18" charset="0"/>
                <a:cs typeface="Times New Roman" panose="02020603050405020304" pitchFamily="18" charset="0"/>
              </a:rPr>
              <a:t>car</a:t>
            </a:r>
            <a:r>
              <a:rPr lang="en-US" sz="2400" dirty="0" smtClean="0">
                <a:latin typeface="Times New Roman" panose="02020603050405020304" pitchFamily="18" charset="0"/>
                <a:cs typeface="Times New Roman" panose="02020603050405020304" pitchFamily="18" charset="0"/>
              </a:rPr>
              <a:t> as an object: It has </a:t>
            </a:r>
            <a:r>
              <a:rPr lang="en-US" sz="2400" b="1" dirty="0" smtClean="0">
                <a:latin typeface="Times New Roman" panose="02020603050405020304" pitchFamily="18" charset="0"/>
                <a:cs typeface="Times New Roman" panose="02020603050405020304" pitchFamily="18" charset="0"/>
              </a:rPr>
              <a:t>data</a:t>
            </a:r>
            <a:r>
              <a:rPr lang="en-US" sz="2400" dirty="0" smtClean="0">
                <a:latin typeface="Times New Roman" panose="02020603050405020304" pitchFamily="18" charset="0"/>
                <a:cs typeface="Times New Roman" panose="02020603050405020304" pitchFamily="18" charset="0"/>
              </a:rPr>
              <a:t> like color and model, and </a:t>
            </a:r>
            <a:r>
              <a:rPr lang="en-US" sz="2400" b="1" dirty="0" smtClean="0">
                <a:latin typeface="Times New Roman" panose="02020603050405020304" pitchFamily="18" charset="0"/>
                <a:cs typeface="Times New Roman" panose="02020603050405020304" pitchFamily="18" charset="0"/>
              </a:rPr>
              <a:t>methods</a:t>
            </a:r>
            <a:r>
              <a:rPr lang="en-US" sz="2400" dirty="0" smtClean="0">
                <a:latin typeface="Times New Roman" panose="02020603050405020304" pitchFamily="18" charset="0"/>
                <a:cs typeface="Times New Roman" panose="02020603050405020304" pitchFamily="18" charset="0"/>
              </a:rPr>
              <a:t> like start() or stop(). You can create many cars (objects) from the same design (class).</a:t>
            </a:r>
            <a:endParaRPr lang="en-US" sz="24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37868" y="721444"/>
            <a:ext cx="10515600" cy="4351338"/>
          </a:xfrm>
        </p:spPr>
        <p:txBody>
          <a:bodyPr/>
          <a:lstStyle/>
          <a:p>
            <a:pPr marL="0" indent="0">
              <a:buNone/>
            </a:pPr>
            <a:r>
              <a:rPr lang="en-US" dirty="0" smtClean="0">
                <a:latin typeface="Times New Roman" panose="02020603050405020304" pitchFamily="18" charset="0"/>
                <a:cs typeface="Times New Roman" panose="02020603050405020304" pitchFamily="18" charset="0"/>
              </a:rPr>
              <a:t>Everything is written as </a:t>
            </a:r>
            <a:r>
              <a:rPr lang="en-US" b="1" dirty="0" smtClean="0">
                <a:latin typeface="Times New Roman" panose="02020603050405020304" pitchFamily="18" charset="0"/>
                <a:cs typeface="Times New Roman" panose="02020603050405020304" pitchFamily="18" charset="0"/>
              </a:rPr>
              <a:t>objects and classes in OOPs</a:t>
            </a:r>
            <a:r>
              <a:rPr lang="en-US" dirty="0" smtClean="0">
                <a:latin typeface="Times New Roman" panose="02020603050405020304" pitchFamily="18" charset="0"/>
                <a:cs typeface="Times New Roman" panose="02020603050405020304" pitchFamily="18" charset="0"/>
              </a:rPr>
              <a:t> because for:</a:t>
            </a:r>
            <a:endParaRPr lang="en-US"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b="1" dirty="0" smtClean="0">
                <a:latin typeface="Times New Roman" panose="02020603050405020304" pitchFamily="18" charset="0"/>
                <a:cs typeface="Times New Roman" panose="02020603050405020304" pitchFamily="18" charset="0"/>
              </a:rPr>
              <a:t>Encapsulation</a:t>
            </a:r>
            <a:r>
              <a:rPr lang="en-US" dirty="0" smtClean="0">
                <a:latin typeface="Times New Roman" panose="02020603050405020304" pitchFamily="18" charset="0"/>
                <a:cs typeface="Times New Roman" panose="02020603050405020304" pitchFamily="18" charset="0"/>
              </a:rPr>
              <a:t> (security &amp; structure)</a:t>
            </a:r>
            <a:endParaRPr lang="en-US"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b="1" dirty="0" smtClean="0">
                <a:latin typeface="Times New Roman" panose="02020603050405020304" pitchFamily="18" charset="0"/>
                <a:cs typeface="Times New Roman" panose="02020603050405020304" pitchFamily="18" charset="0"/>
              </a:rPr>
              <a:t>Reusability</a:t>
            </a:r>
            <a:r>
              <a:rPr lang="en-US" dirty="0" smtClean="0">
                <a:latin typeface="Times New Roman" panose="02020603050405020304" pitchFamily="18" charset="0"/>
                <a:cs typeface="Times New Roman" panose="02020603050405020304" pitchFamily="18" charset="0"/>
              </a:rPr>
              <a:t> (via inheritance)</a:t>
            </a:r>
            <a:endParaRPr lang="en-US"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b="1" dirty="0" smtClean="0">
                <a:latin typeface="Times New Roman" panose="02020603050405020304" pitchFamily="18" charset="0"/>
                <a:cs typeface="Times New Roman" panose="02020603050405020304" pitchFamily="18" charset="0"/>
              </a:rPr>
              <a:t>Abstraction</a:t>
            </a:r>
            <a:r>
              <a:rPr lang="en-US" dirty="0" smtClean="0">
                <a:latin typeface="Times New Roman" panose="02020603050405020304" pitchFamily="18" charset="0"/>
                <a:cs typeface="Times New Roman" panose="02020603050405020304" pitchFamily="18" charset="0"/>
              </a:rPr>
              <a:t> (modeling real-world)</a:t>
            </a:r>
            <a:endParaRPr lang="en-US"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b="1" dirty="0" smtClean="0">
                <a:latin typeface="Times New Roman" panose="02020603050405020304" pitchFamily="18" charset="0"/>
                <a:cs typeface="Times New Roman" panose="02020603050405020304" pitchFamily="18" charset="0"/>
              </a:rPr>
              <a:t>Polymorphism</a:t>
            </a:r>
            <a:r>
              <a:rPr lang="en-US" dirty="0" smtClean="0">
                <a:latin typeface="Times New Roman" panose="02020603050405020304" pitchFamily="18" charset="0"/>
                <a:cs typeface="Times New Roman" panose="02020603050405020304" pitchFamily="18" charset="0"/>
              </a:rPr>
              <a:t> (flexibility)</a:t>
            </a:r>
            <a:endParaRPr lang="en-US"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b="1" dirty="0" smtClean="0">
                <a:latin typeface="Times New Roman" panose="02020603050405020304" pitchFamily="18" charset="0"/>
                <a:cs typeface="Times New Roman" panose="02020603050405020304" pitchFamily="18" charset="0"/>
              </a:rPr>
              <a:t>Modularity</a:t>
            </a:r>
            <a:r>
              <a:rPr lang="en-US" dirty="0" smtClean="0">
                <a:latin typeface="Times New Roman" panose="02020603050405020304" pitchFamily="18" charset="0"/>
                <a:cs typeface="Times New Roman" panose="02020603050405020304" pitchFamily="18" charset="0"/>
              </a:rPr>
              <a:t> (easy maintenance)</a:t>
            </a:r>
            <a:endParaRPr 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52732" y="147578"/>
            <a:ext cx="3884762" cy="991109"/>
          </a:xfrm>
        </p:spPr>
        <p:txBody>
          <a:bodyPr>
            <a:normAutofit/>
          </a:bodyPr>
          <a:lstStyle/>
          <a:p>
            <a:r>
              <a:rPr lang="en-US" sz="3200" b="1" dirty="0" smtClean="0">
                <a:latin typeface="Times New Roman" panose="02020603050405020304" pitchFamily="18" charset="0"/>
                <a:cs typeface="Times New Roman" panose="02020603050405020304" pitchFamily="18" charset="0"/>
              </a:rPr>
              <a:t>Introduction to Java</a:t>
            </a:r>
            <a:endParaRPr lang="en-US" sz="3200" b="1"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084053" y="1341917"/>
            <a:ext cx="9144000" cy="5033003"/>
          </a:xfrm>
        </p:spPr>
        <p:txBody>
          <a:bodyPr>
            <a:normAutofit/>
          </a:bodyPr>
          <a:lstStyle/>
          <a:p>
            <a:pPr algn="l"/>
            <a:endParaRPr lang="en-US" sz="3200" dirty="0" smtClean="0">
              <a:latin typeface="Times New Roman" panose="02020603050405020304" pitchFamily="18" charset="0"/>
              <a:cs typeface="Times New Roman" panose="02020603050405020304" pitchFamily="18" charset="0"/>
            </a:endParaRPr>
          </a:p>
          <a:p>
            <a:pPr marL="457200" indent="-457200" algn="just">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Java is a high-level, robust, </a:t>
            </a:r>
            <a:r>
              <a:rPr lang="en-US" sz="2800" dirty="0" smtClean="0">
                <a:latin typeface="Times New Roman" panose="02020603050405020304" pitchFamily="18" charset="0"/>
                <a:cs typeface="Times New Roman" panose="02020603050405020304" pitchFamily="18" charset="0"/>
              </a:rPr>
              <a:t>object-oriented, </a:t>
            </a:r>
            <a:r>
              <a:rPr lang="en-US" sz="2800" dirty="0">
                <a:latin typeface="Times New Roman" panose="02020603050405020304" pitchFamily="18" charset="0"/>
                <a:cs typeface="Times New Roman" panose="02020603050405020304" pitchFamily="18" charset="0"/>
              </a:rPr>
              <a:t>and secure programming language</a:t>
            </a:r>
            <a:r>
              <a:rPr lang="en-US" sz="2800" dirty="0" smtClean="0">
                <a:latin typeface="Times New Roman" panose="02020603050405020304" pitchFamily="18" charset="0"/>
                <a:cs typeface="Times New Roman" panose="02020603050405020304" pitchFamily="18" charset="0"/>
              </a:rPr>
              <a:t>.</a:t>
            </a:r>
            <a:endParaRPr lang="en-US" sz="2800" dirty="0" smtClean="0">
              <a:latin typeface="Times New Roman" panose="02020603050405020304" pitchFamily="18" charset="0"/>
              <a:cs typeface="Times New Roman" panose="02020603050405020304" pitchFamily="18" charset="0"/>
            </a:endParaRPr>
          </a:p>
          <a:p>
            <a:pPr marL="457200" indent="-457200" algn="just">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Java was developed by </a:t>
            </a:r>
            <a:r>
              <a:rPr lang="en-US" sz="2800" i="1" dirty="0">
                <a:latin typeface="Times New Roman" panose="02020603050405020304" pitchFamily="18" charset="0"/>
                <a:cs typeface="Times New Roman" panose="02020603050405020304" pitchFamily="18" charset="0"/>
              </a:rPr>
              <a:t>Sun Microsystems</a:t>
            </a:r>
            <a:r>
              <a:rPr lang="en-US" sz="2800" dirty="0">
                <a:latin typeface="Times New Roman" panose="02020603050405020304" pitchFamily="18" charset="0"/>
                <a:cs typeface="Times New Roman" panose="02020603050405020304" pitchFamily="18" charset="0"/>
              </a:rPr>
              <a:t> (which is now a subsidiary of Oracle) in the year 1995. </a:t>
            </a:r>
            <a:endParaRPr lang="en-US" sz="2800" dirty="0" smtClean="0">
              <a:latin typeface="Times New Roman" panose="02020603050405020304" pitchFamily="18" charset="0"/>
              <a:cs typeface="Times New Roman" panose="02020603050405020304" pitchFamily="18" charset="0"/>
            </a:endParaRPr>
          </a:p>
          <a:p>
            <a:pPr marL="457200" indent="-457200" algn="just">
              <a:buFont typeface="Wingdings" panose="05000000000000000000" pitchFamily="2" charset="2"/>
              <a:buChar char="Ø"/>
            </a:pPr>
            <a:r>
              <a:rPr lang="en-US" sz="2800" i="1" dirty="0" smtClean="0">
                <a:latin typeface="Times New Roman" panose="02020603050405020304" pitchFamily="18" charset="0"/>
                <a:cs typeface="Times New Roman" panose="02020603050405020304" pitchFamily="18" charset="0"/>
              </a:rPr>
              <a:t>James </a:t>
            </a:r>
            <a:r>
              <a:rPr lang="en-US" sz="2800" i="1" dirty="0">
                <a:latin typeface="Times New Roman" panose="02020603050405020304" pitchFamily="18" charset="0"/>
                <a:cs typeface="Times New Roman" panose="02020603050405020304" pitchFamily="18" charset="0"/>
              </a:rPr>
              <a:t>Gosling</a:t>
            </a:r>
            <a:r>
              <a:rPr lang="en-US" sz="2800" dirty="0">
                <a:latin typeface="Times New Roman" panose="02020603050405020304" pitchFamily="18" charset="0"/>
                <a:cs typeface="Times New Roman" panose="02020603050405020304" pitchFamily="18" charset="0"/>
              </a:rPr>
              <a:t> is known as the father of Java. Before Java, its name was </a:t>
            </a:r>
            <a:r>
              <a:rPr lang="en-US" sz="2800" i="1" dirty="0">
                <a:latin typeface="Times New Roman" panose="02020603050405020304" pitchFamily="18" charset="0"/>
                <a:cs typeface="Times New Roman" panose="02020603050405020304" pitchFamily="18" charset="0"/>
              </a:rPr>
              <a:t>Oak</a:t>
            </a:r>
            <a:r>
              <a:rPr lang="en-US" sz="2800" dirty="0">
                <a:latin typeface="Times New Roman" panose="02020603050405020304" pitchFamily="18" charset="0"/>
                <a:cs typeface="Times New Roman" panose="02020603050405020304" pitchFamily="18" charset="0"/>
              </a:rPr>
              <a:t>. Since Oak was already a registered company, so James Gosling and his team changed the name from Oak to Java.</a:t>
            </a:r>
            <a:endParaRPr lang="en-US" sz="2800" dirty="0" smtClean="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latin typeface="Times New Roman" panose="02020603050405020304" pitchFamily="18" charset="0"/>
                <a:cs typeface="Times New Roman" panose="02020603050405020304" pitchFamily="18" charset="0"/>
              </a:rPr>
              <a:t>History of Java</a:t>
            </a:r>
            <a:endParaRPr lang="en-US" sz="32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lgn="just">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James Gosling</a:t>
            </a:r>
            <a:r>
              <a:rPr lang="en-US" dirty="0">
                <a:latin typeface="Times New Roman" panose="02020603050405020304" pitchFamily="18" charset="0"/>
                <a:cs typeface="Times New Roman" panose="02020603050405020304" pitchFamily="18" charset="0"/>
              </a:rPr>
              <a:t>,</a:t>
            </a:r>
            <a:r>
              <a:rPr lang="en-US" b="1" dirty="0">
                <a:latin typeface="Times New Roman" panose="02020603050405020304" pitchFamily="18" charset="0"/>
                <a:cs typeface="Times New Roman" panose="02020603050405020304" pitchFamily="18" charset="0"/>
              </a:rPr>
              <a:t> Mike Sheridan</a:t>
            </a:r>
            <a:r>
              <a:rPr lang="en-US" dirty="0">
                <a:latin typeface="Times New Roman" panose="02020603050405020304" pitchFamily="18" charset="0"/>
                <a:cs typeface="Times New Roman" panose="02020603050405020304" pitchFamily="18" charset="0"/>
              </a:rPr>
              <a:t>, and </a:t>
            </a:r>
            <a:r>
              <a:rPr lang="en-US" b="1" dirty="0">
                <a:latin typeface="Times New Roman" panose="02020603050405020304" pitchFamily="18" charset="0"/>
                <a:cs typeface="Times New Roman" panose="02020603050405020304" pitchFamily="18" charset="0"/>
              </a:rPr>
              <a:t>Patrick </a:t>
            </a:r>
            <a:r>
              <a:rPr lang="en-US" b="1" dirty="0" err="1">
                <a:latin typeface="Times New Roman" panose="02020603050405020304" pitchFamily="18" charset="0"/>
                <a:cs typeface="Times New Roman" panose="02020603050405020304" pitchFamily="18" charset="0"/>
              </a:rPr>
              <a:t>Naughton</a:t>
            </a:r>
            <a:r>
              <a:rPr lang="en-US" dirty="0">
                <a:latin typeface="Times New Roman" panose="02020603050405020304" pitchFamily="18" charset="0"/>
                <a:cs typeface="Times New Roman" panose="02020603050405020304" pitchFamily="18" charset="0"/>
              </a:rPr>
              <a:t> initiated the Java language project in June 1991. The small team of sun engineers called </a:t>
            </a:r>
            <a:r>
              <a:rPr lang="en-US" b="1" dirty="0">
                <a:latin typeface="Times New Roman" panose="02020603050405020304" pitchFamily="18" charset="0"/>
                <a:cs typeface="Times New Roman" panose="02020603050405020304" pitchFamily="18" charset="0"/>
              </a:rPr>
              <a:t>Green Team</a:t>
            </a:r>
            <a:r>
              <a:rPr lang="en-US"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Initially it was designed for small, </a:t>
            </a:r>
            <a:r>
              <a:rPr lang="en-US" dirty="0">
                <a:solidFill>
                  <a:srgbClr val="000000"/>
                </a:solidFill>
                <a:latin typeface="Times New Roman" panose="02020603050405020304" pitchFamily="18" charset="0"/>
                <a:cs typeface="Times New Roman" panose="02020603050405020304" pitchFamily="18" charset="0"/>
              </a:rPr>
              <a:t>embedded systems</a:t>
            </a:r>
            <a:r>
              <a:rPr lang="en-US" dirty="0">
                <a:latin typeface="Times New Roman" panose="02020603050405020304" pitchFamily="18" charset="0"/>
                <a:cs typeface="Times New Roman" panose="02020603050405020304" pitchFamily="18" charset="0"/>
              </a:rPr>
              <a:t> in electronic appliances like set-top boxes.</a:t>
            </a:r>
            <a:endParaRPr lang="en-US"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Firstly, it was called </a:t>
            </a:r>
            <a:r>
              <a:rPr lang="en-US" b="1" dirty="0">
                <a:latin typeface="Times New Roman" panose="02020603050405020304" pitchFamily="18" charset="0"/>
                <a:cs typeface="Times New Roman" panose="02020603050405020304" pitchFamily="18" charset="0"/>
              </a:rPr>
              <a:t>"</a:t>
            </a:r>
            <a:r>
              <a:rPr lang="en-US" b="1" dirty="0" err="1">
                <a:latin typeface="Times New Roman" panose="02020603050405020304" pitchFamily="18" charset="0"/>
                <a:cs typeface="Times New Roman" panose="02020603050405020304" pitchFamily="18" charset="0"/>
              </a:rPr>
              <a:t>Greentalk</a:t>
            </a:r>
            <a:r>
              <a:rPr lang="en-US" b="1"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by James Gosling, and the file extension was .</a:t>
            </a:r>
            <a:r>
              <a:rPr lang="en-US" dirty="0" err="1">
                <a:latin typeface="Times New Roman" panose="02020603050405020304" pitchFamily="18" charset="0"/>
                <a:cs typeface="Times New Roman" panose="02020603050405020304" pitchFamily="18" charset="0"/>
              </a:rPr>
              <a:t>gt.</a:t>
            </a:r>
            <a:endParaRPr lang="en-US"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After that, it was called </a:t>
            </a:r>
            <a:r>
              <a:rPr lang="en-US" b="1" dirty="0">
                <a:latin typeface="Times New Roman" panose="02020603050405020304" pitchFamily="18" charset="0"/>
                <a:cs typeface="Times New Roman" panose="02020603050405020304" pitchFamily="18" charset="0"/>
              </a:rPr>
              <a:t>Oak</a:t>
            </a:r>
            <a:r>
              <a:rPr lang="en-US" dirty="0">
                <a:latin typeface="Times New Roman" panose="02020603050405020304" pitchFamily="18" charset="0"/>
                <a:cs typeface="Times New Roman" panose="02020603050405020304" pitchFamily="18" charset="0"/>
              </a:rPr>
              <a:t> and was developed as a part of the Green project.</a:t>
            </a:r>
            <a:endParaRPr 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069675"/>
            <a:ext cx="10515600" cy="5107288"/>
          </a:xfrm>
        </p:spPr>
        <p:txBody>
          <a:bodyPr>
            <a:normAutofit/>
          </a:bodyPr>
          <a:lstStyle/>
          <a:p>
            <a:pPr>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Oak </a:t>
            </a:r>
            <a:r>
              <a:rPr lang="en-US" dirty="0">
                <a:latin typeface="Times New Roman" panose="02020603050405020304" pitchFamily="18" charset="0"/>
                <a:cs typeface="Times New Roman" panose="02020603050405020304" pitchFamily="18" charset="0"/>
              </a:rPr>
              <a:t>is a symbol of strength and chosen as a national tree of many countries like the U.S.A., France, Germany, Romania, etc.</a:t>
            </a: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In </a:t>
            </a:r>
            <a:r>
              <a:rPr lang="en-US" dirty="0">
                <a:latin typeface="Times New Roman" panose="02020603050405020304" pitchFamily="18" charset="0"/>
                <a:cs typeface="Times New Roman" panose="02020603050405020304" pitchFamily="18" charset="0"/>
              </a:rPr>
              <a:t>1995, Oak was renamed as </a:t>
            </a:r>
            <a:r>
              <a:rPr lang="en-US" b="1" dirty="0">
                <a:latin typeface="Times New Roman" panose="02020603050405020304" pitchFamily="18" charset="0"/>
                <a:cs typeface="Times New Roman" panose="02020603050405020304" pitchFamily="18" charset="0"/>
              </a:rPr>
              <a:t>"Java"</a:t>
            </a:r>
            <a:r>
              <a:rPr lang="en-US" dirty="0">
                <a:latin typeface="Times New Roman" panose="02020603050405020304" pitchFamily="18" charset="0"/>
                <a:cs typeface="Times New Roman" panose="02020603050405020304" pitchFamily="18" charset="0"/>
              </a:rPr>
              <a:t> because it was already a trademark by Oak Technologies.</a:t>
            </a:r>
            <a:endParaRPr lang="en-US" dirty="0">
              <a:latin typeface="Times New Roman" panose="02020603050405020304" pitchFamily="18" charset="0"/>
              <a:cs typeface="Times New Roman" panose="02020603050405020304" pitchFamily="18" charset="0"/>
            </a:endParaRPr>
          </a:p>
          <a:p>
            <a:pPr marL="0" indent="0">
              <a:buNone/>
            </a:pPr>
            <a:r>
              <a:rPr lang="en-US" dirty="0" smtClean="0">
                <a:latin typeface="Times New Roman" panose="02020603050405020304" pitchFamily="18" charset="0"/>
                <a:cs typeface="Times New Roman" panose="02020603050405020304" pitchFamily="18" charset="0"/>
              </a:rPr>
              <a:t>Why </a:t>
            </a:r>
            <a:r>
              <a:rPr lang="en-US" dirty="0">
                <a:latin typeface="Times New Roman" panose="02020603050405020304" pitchFamily="18" charset="0"/>
                <a:cs typeface="Times New Roman" panose="02020603050405020304" pitchFamily="18" charset="0"/>
              </a:rPr>
              <a:t>had they chose the name Java for Java language? </a:t>
            </a:r>
            <a:endParaRPr lang="en-US"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team gathered to choose a new name. The suggested words were "dynamic", "revolutionary", "Silk", "jolt", "DNA", etc. They wanted something that reflected the essence of the technology: revolutionary, dynamic, lively, cool, unique, and easy to spell, and fun to say</a:t>
            </a:r>
            <a:r>
              <a:rPr lang="en-US" dirty="0" smtClean="0">
                <a:latin typeface="Times New Roman" panose="02020603050405020304" pitchFamily="18" charset="0"/>
                <a:cs typeface="Times New Roman" panose="02020603050405020304" pitchFamily="18" charset="0"/>
              </a:rPr>
              <a:t>.</a:t>
            </a:r>
            <a:endParaRPr lang="en-US"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71268"/>
            <a:ext cx="10515600" cy="5305695"/>
          </a:xfrm>
        </p:spPr>
        <p:txBody>
          <a:bodyPr>
            <a:normAutofit/>
          </a:bodyPr>
          <a:lstStyle/>
          <a:p>
            <a:pPr algn="just">
              <a:buFont typeface="Wingdings" panose="05000000000000000000" pitchFamily="2" charset="2"/>
              <a:buChar char="Ø"/>
            </a:pPr>
            <a:r>
              <a:rPr lang="en-US" dirty="0" smtClean="0"/>
              <a:t>Java is an island in Indonesia where the first coffee was produced (called Java coffee). It is a kind of espresso bean. Java name was chosen by James Gosling while having a cup of coffee nearby his office.</a:t>
            </a:r>
            <a:endParaRPr lang="en-US" dirty="0" smtClean="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Note </a:t>
            </a:r>
            <a:r>
              <a:rPr lang="en-US" dirty="0">
                <a:latin typeface="Times New Roman" panose="02020603050405020304" pitchFamily="18" charset="0"/>
                <a:cs typeface="Times New Roman" panose="02020603050405020304" pitchFamily="18" charset="0"/>
              </a:rPr>
              <a:t>that Java is just a name, not an acronym.</a:t>
            </a:r>
            <a:endParaRPr lang="en-US"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Initially </a:t>
            </a:r>
            <a:r>
              <a:rPr lang="en-US" dirty="0">
                <a:latin typeface="Times New Roman" panose="02020603050405020304" pitchFamily="18" charset="0"/>
                <a:cs typeface="Times New Roman" panose="02020603050405020304" pitchFamily="18" charset="0"/>
              </a:rPr>
              <a:t>developed by James Gosling at Sun Microsystems (which is now a subsidiary of Oracle Corporation) and released in 1995.</a:t>
            </a:r>
            <a:endParaRPr lang="en-US"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In </a:t>
            </a:r>
            <a:r>
              <a:rPr lang="en-US" dirty="0">
                <a:latin typeface="Times New Roman" panose="02020603050405020304" pitchFamily="18" charset="0"/>
                <a:cs typeface="Times New Roman" panose="02020603050405020304" pitchFamily="18" charset="0"/>
              </a:rPr>
              <a:t>1995, Time magazine called </a:t>
            </a:r>
            <a:r>
              <a:rPr lang="en-US" b="1" dirty="0">
                <a:latin typeface="Times New Roman" panose="02020603050405020304" pitchFamily="18" charset="0"/>
                <a:cs typeface="Times New Roman" panose="02020603050405020304" pitchFamily="18" charset="0"/>
              </a:rPr>
              <a:t>Java one of the Ten Best Products of 1995</a:t>
            </a:r>
            <a:r>
              <a:rPr lang="en-US"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latin typeface="Times New Roman" panose="02020603050405020304" pitchFamily="18" charset="0"/>
                <a:cs typeface="Times New Roman" panose="02020603050405020304" pitchFamily="18" charset="0"/>
              </a:rPr>
              <a:t>Features of Java</a:t>
            </a:r>
            <a:endParaRPr lang="en-US" sz="3200" b="1" dirty="0">
              <a:latin typeface="Times New Roman" panose="02020603050405020304" pitchFamily="18" charset="0"/>
              <a:cs typeface="Times New Roman" panose="02020603050405020304" pitchFamily="18" charset="0"/>
            </a:endParaRPr>
          </a:p>
        </p:txBody>
      </p:sp>
      <p:pic>
        <p:nvPicPr>
          <p:cNvPr id="1026" name="Picture 2" descr="Java Features"/>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bwMode="auto">
          <a:xfrm>
            <a:off x="3950370" y="1825625"/>
            <a:ext cx="4291260" cy="435133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latin typeface="Times New Roman" panose="02020603050405020304" pitchFamily="18" charset="0"/>
                <a:cs typeface="Times New Roman" panose="02020603050405020304" pitchFamily="18" charset="0"/>
              </a:rPr>
              <a:t>S</a:t>
            </a:r>
            <a:r>
              <a:rPr lang="en-US" sz="3200" b="1" dirty="0" smtClean="0">
                <a:latin typeface="Times New Roman" panose="02020603050405020304" pitchFamily="18" charset="0"/>
                <a:cs typeface="Times New Roman" panose="02020603050405020304" pitchFamily="18" charset="0"/>
              </a:rPr>
              <a:t>imple</a:t>
            </a:r>
            <a:endParaRPr lang="en-US" sz="3200" b="1" dirty="0" smtClean="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Java syntax is based on C++, making it easier for programmers to learn after C++.</a:t>
            </a:r>
            <a:endParaRPr lang="en-US"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Java has eliminated many complex and seldom-used features, such as explicit pointers and operator overloading.</a:t>
            </a:r>
            <a:endParaRPr lang="en-US"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There is no need to remove unreferenced objects because Java has Automatic Garbage Collection.</a:t>
            </a:r>
            <a:endParaRPr 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1551" y="140838"/>
            <a:ext cx="10515600" cy="678671"/>
          </a:xfrm>
        </p:spPr>
        <p:txBody>
          <a:bodyPr/>
          <a:lstStyle/>
          <a:p>
            <a:pPr>
              <a:spcBef>
                <a:spcPct val="50000"/>
              </a:spcBef>
            </a:pPr>
            <a:r>
              <a:rPr lang="en-US" sz="3200" b="1" dirty="0" smtClean="0">
                <a:latin typeface="Times New Roman" panose="02020603050405020304" pitchFamily="18" charset="0"/>
                <a:cs typeface="Times New Roman" panose="02020603050405020304" pitchFamily="18" charset="0"/>
              </a:rPr>
              <a:t>Object-Oriented</a:t>
            </a:r>
            <a:endParaRPr lang="en-US" sz="3200" b="1" dirty="0" smtClean="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819510"/>
            <a:ext cx="10515600" cy="5357454"/>
          </a:xfrm>
        </p:spPr>
        <p:txBody>
          <a:bodyPr>
            <a:noAutofit/>
          </a:bodyPr>
          <a:lstStyle/>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Java is an object-oriented programming language where everything is an object. </a:t>
            </a:r>
            <a:endParaRPr lang="en-US"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basic concepts of OOP are:</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Object</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Class</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Inheritance</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Polymorphism</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Abstraction</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Encapsulation</a:t>
            </a: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latin typeface="Times New Roman" panose="02020603050405020304" pitchFamily="18" charset="0"/>
                <a:cs typeface="Times New Roman" panose="02020603050405020304" pitchFamily="18" charset="0"/>
              </a:rPr>
              <a:t>Portable</a:t>
            </a:r>
            <a:endParaRPr lang="en-US" sz="32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Java's portability allows programs to run on various platforms without modification. </a:t>
            </a:r>
            <a:endParaRPr lang="en-US" dirty="0" smtClean="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This </a:t>
            </a:r>
            <a:r>
              <a:rPr lang="en-US" dirty="0">
                <a:latin typeface="Times New Roman" panose="02020603050405020304" pitchFamily="18" charset="0"/>
                <a:cs typeface="Times New Roman" panose="02020603050405020304" pitchFamily="18" charset="0"/>
              </a:rPr>
              <a:t>is achievable because Java code is compiled into </a:t>
            </a:r>
            <a:r>
              <a:rPr lang="en-US" dirty="0" err="1">
                <a:latin typeface="Times New Roman" panose="02020603050405020304" pitchFamily="18" charset="0"/>
                <a:cs typeface="Times New Roman" panose="02020603050405020304" pitchFamily="18" charset="0"/>
              </a:rPr>
              <a:t>bytecode</a:t>
            </a:r>
            <a:r>
              <a:rPr lang="en-US" dirty="0">
                <a:latin typeface="Times New Roman" panose="02020603050405020304" pitchFamily="18" charset="0"/>
                <a:cs typeface="Times New Roman" panose="02020603050405020304" pitchFamily="18" charset="0"/>
              </a:rPr>
              <a:t>, which is independent of the underlying hardware and operating system. The JVM on each system interprets this </a:t>
            </a:r>
            <a:r>
              <a:rPr lang="en-US" dirty="0" err="1">
                <a:latin typeface="Times New Roman" panose="02020603050405020304" pitchFamily="18" charset="0"/>
                <a:cs typeface="Times New Roman" panose="02020603050405020304" pitchFamily="18" charset="0"/>
              </a:rPr>
              <a:t>bytecode</a:t>
            </a:r>
            <a:r>
              <a:rPr lang="en-US" dirty="0">
                <a:latin typeface="Times New Roman" panose="02020603050405020304" pitchFamily="18" charset="0"/>
                <a:cs typeface="Times New Roman" panose="02020603050405020304" pitchFamily="18" charset="0"/>
              </a:rPr>
              <a:t>, ensuring platform compatibility</a:t>
            </a:r>
            <a:r>
              <a:rPr lang="en-US" dirty="0" smtClean="0">
                <a:latin typeface="Times New Roman" panose="02020603050405020304" pitchFamily="18" charset="0"/>
                <a:cs typeface="Times New Roman" panose="02020603050405020304" pitchFamily="18" charset="0"/>
              </a:rPr>
              <a:t>.</a:t>
            </a:r>
            <a:endParaRPr lang="en-US" dirty="0" smtClean="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b="1" dirty="0" smtClean="0">
                <a:latin typeface="Times New Roman" panose="02020603050405020304" pitchFamily="18" charset="0"/>
                <a:cs typeface="Times New Roman" panose="02020603050405020304" pitchFamily="18" charset="0"/>
              </a:rPr>
              <a:t>Write </a:t>
            </a:r>
            <a:r>
              <a:rPr lang="en-US" b="1" dirty="0">
                <a:latin typeface="Times New Roman" panose="02020603050405020304" pitchFamily="18" charset="0"/>
                <a:cs typeface="Times New Roman" panose="02020603050405020304" pitchFamily="18" charset="0"/>
              </a:rPr>
              <a:t>code once and run it </a:t>
            </a:r>
            <a:r>
              <a:rPr lang="en-US" b="1" dirty="0" smtClean="0">
                <a:latin typeface="Times New Roman" panose="02020603050405020304" pitchFamily="18" charset="0"/>
                <a:cs typeface="Times New Roman" panose="02020603050405020304" pitchFamily="18" charset="0"/>
              </a:rPr>
              <a:t>anywhere.</a:t>
            </a:r>
            <a:endParaRPr 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latin typeface="Times New Roman" panose="02020603050405020304" pitchFamily="18" charset="0"/>
                <a:cs typeface="Times New Roman" panose="02020603050405020304" pitchFamily="18" charset="0"/>
              </a:rPr>
              <a:t>Platform Independent</a:t>
            </a:r>
            <a:endParaRPr lang="en-US" sz="32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A platform refers to the hardware or software environment in which a program runs</a:t>
            </a:r>
            <a:r>
              <a:rPr lang="en-US" dirty="0" smtClean="0">
                <a:latin typeface="Times New Roman" panose="02020603050405020304" pitchFamily="18" charset="0"/>
                <a:cs typeface="Times New Roman" panose="02020603050405020304" pitchFamily="18" charset="0"/>
              </a:rPr>
              <a:t>.</a:t>
            </a:r>
            <a:endParaRPr lang="en-US" dirty="0" smtClean="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There are two types of platforms: software-based and hardware-based. </a:t>
            </a:r>
            <a:endParaRPr lang="en-US" dirty="0" smtClean="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Java </a:t>
            </a:r>
            <a:r>
              <a:rPr lang="en-US" dirty="0">
                <a:latin typeface="Times New Roman" panose="02020603050405020304" pitchFamily="18" charset="0"/>
                <a:cs typeface="Times New Roman" panose="02020603050405020304" pitchFamily="18" charset="0"/>
              </a:rPr>
              <a:t>offers a software-based </a:t>
            </a:r>
            <a:r>
              <a:rPr lang="en-US" dirty="0" smtClean="0">
                <a:latin typeface="Times New Roman" panose="02020603050405020304" pitchFamily="18" charset="0"/>
                <a:cs typeface="Times New Roman" panose="02020603050405020304" pitchFamily="18" charset="0"/>
              </a:rPr>
              <a:t>platform</a:t>
            </a:r>
            <a:r>
              <a:rPr lang="en-US" dirty="0" smtClean="0">
                <a:latin typeface="Times New Roman" panose="02020603050405020304" pitchFamily="18" charset="0"/>
                <a:cs typeface="Times New Roman" panose="02020603050405020304" pitchFamily="18" charset="0"/>
              </a:rPr>
              <a:t> running on top of hardware-based platforms.</a:t>
            </a:r>
            <a:endParaRPr lang="en-US" dirty="0" smtClean="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 It consists of two components:</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Runtime Environment</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API (Application Programming Interface)</a:t>
            </a:r>
            <a:endParaRPr lang="en-US" dirty="0" smtClean="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endParaRPr lang="en-US" dirty="0" smtClean="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a:latin typeface="Times New Roman" panose="02020603050405020304" pitchFamily="18" charset="0"/>
                <a:cs typeface="Times New Roman" panose="02020603050405020304" pitchFamily="18" charset="0"/>
              </a:rPr>
              <a:t>Secured</a:t>
            </a:r>
            <a:endParaRPr lang="en-US" sz="32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No explicit </a:t>
            </a:r>
            <a:r>
              <a:rPr lang="en-US" dirty="0" smtClean="0">
                <a:latin typeface="Times New Roman" panose="02020603050405020304" pitchFamily="18" charset="0"/>
                <a:cs typeface="Times New Roman" panose="02020603050405020304" pitchFamily="18" charset="0"/>
              </a:rPr>
              <a:t>pointer.</a:t>
            </a:r>
            <a:endParaRPr lang="en-US"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Java Programs run inside a virtual machine </a:t>
            </a:r>
            <a:r>
              <a:rPr lang="en-US" dirty="0" smtClean="0">
                <a:latin typeface="Times New Roman" panose="02020603050405020304" pitchFamily="18" charset="0"/>
                <a:cs typeface="Times New Roman" panose="02020603050405020304" pitchFamily="18" charset="0"/>
              </a:rPr>
              <a:t>sandbox.</a:t>
            </a:r>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a:latin typeface="Times New Roman" panose="02020603050405020304" pitchFamily="18" charset="0"/>
                <a:cs typeface="Times New Roman" panose="02020603050405020304" pitchFamily="18" charset="0"/>
              </a:rPr>
              <a:t>Robust</a:t>
            </a:r>
            <a:endParaRPr lang="en-US" sz="32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It employs strong memory management.</a:t>
            </a:r>
            <a:endParaRPr lang="en-US"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There is a deficiency of pointers that prevent security issues.</a:t>
            </a:r>
            <a:endParaRPr lang="en-US"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Java offers automatic garbage collection, which operates on the Java Virtual Machine to dispose of objects that are no longer being utilized by a Java application.</a:t>
            </a:r>
            <a:endParaRPr lang="en-US"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Java includes exception handling and type checking mechanisms. All these factors contribute to making Java robust.</a:t>
            </a:r>
            <a:endParaRPr 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latin typeface="Times New Roman" panose="02020603050405020304" pitchFamily="18" charset="0"/>
                <a:cs typeface="Times New Roman" panose="02020603050405020304" pitchFamily="18" charset="0"/>
              </a:rPr>
              <a:t>Architecture-Neutral</a:t>
            </a:r>
            <a:endParaRPr lang="en-US" sz="32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Java is architecture-neutral because it lacks implementation-dependent features; for instance, the size of primitive types is fixed.</a:t>
            </a:r>
            <a:endParaRPr lang="en-US"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In C programming, the </a:t>
            </a:r>
            <a:r>
              <a:rPr lang="en-US" dirty="0" err="1">
                <a:latin typeface="Times New Roman" panose="02020603050405020304" pitchFamily="18" charset="0"/>
                <a:cs typeface="Times New Roman" panose="02020603050405020304" pitchFamily="18" charset="0"/>
              </a:rPr>
              <a:t>int</a:t>
            </a:r>
            <a:r>
              <a:rPr lang="en-US" dirty="0">
                <a:latin typeface="Times New Roman" panose="02020603050405020304" pitchFamily="18" charset="0"/>
                <a:cs typeface="Times New Roman" panose="02020603050405020304" pitchFamily="18" charset="0"/>
              </a:rPr>
              <a:t> data type occupies 2 bytes of memory in a 32-bit architecture and 4 bytes in a 64-bit architecture. However, it occupies 4 bytes of memory in both 32-bit and 64-bit architectures in Java.</a:t>
            </a:r>
            <a:endParaRPr lang="en-US" dirty="0">
              <a:latin typeface="Times New Roman" panose="02020603050405020304" pitchFamily="18" charset="0"/>
              <a:cs typeface="Times New Roman" panose="02020603050405020304" pitchFamily="18" charset="0"/>
            </a:endParaRPr>
          </a:p>
          <a:p>
            <a:pPr marL="0" indent="0" algn="just">
              <a:buNone/>
            </a:pPr>
            <a:br>
              <a:rPr lang="en-US" dirty="0" smtClean="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a:latin typeface="Times New Roman" panose="02020603050405020304" pitchFamily="18" charset="0"/>
                <a:cs typeface="Times New Roman" panose="02020603050405020304" pitchFamily="18" charset="0"/>
              </a:rPr>
              <a:t>Interpreted</a:t>
            </a:r>
            <a:endParaRPr lang="en-US" sz="3200" b="1" dirty="0">
              <a:latin typeface="Times New Roman" panose="02020603050405020304" pitchFamily="18" charset="0"/>
              <a:cs typeface="Times New Roman" panose="02020603050405020304" pitchFamily="18" charset="0"/>
            </a:endParaRPr>
          </a:p>
        </p:txBody>
      </p:sp>
      <p:pic>
        <p:nvPicPr>
          <p:cNvPr id="3074" name="Picture 2" descr="Java Features"/>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bwMode="auto">
          <a:xfrm>
            <a:off x="1042628" y="4106877"/>
            <a:ext cx="9382125" cy="962025"/>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966952" y="1432485"/>
            <a:ext cx="9591780" cy="2246769"/>
          </a:xfrm>
          <a:prstGeom prst="rect">
            <a:avLst/>
          </a:prstGeom>
        </p:spPr>
        <p:txBody>
          <a:bodyPr wrap="square">
            <a:spAutoFit/>
          </a:bodyPr>
          <a:lstStyle/>
          <a:p>
            <a:pPr algn="just"/>
            <a:r>
              <a:rPr lang="en-US" sz="2800" b="0" i="0" dirty="0" smtClean="0">
                <a:solidFill>
                  <a:srgbClr val="333333"/>
                </a:solidFill>
                <a:effectLst/>
                <a:latin typeface="Times New Roman" panose="02020603050405020304" pitchFamily="18" charset="0"/>
                <a:cs typeface="Times New Roman" panose="02020603050405020304" pitchFamily="18" charset="0"/>
              </a:rPr>
              <a:t>Java's interpreted feature means that Java code is not directly converted into machine code by a compiler. Instead, first, it compiled into </a:t>
            </a:r>
            <a:r>
              <a:rPr lang="en-US" sz="2800" b="1" i="0" dirty="0" err="1" smtClean="0">
                <a:solidFill>
                  <a:srgbClr val="333333"/>
                </a:solidFill>
                <a:effectLst/>
                <a:latin typeface="Times New Roman" panose="02020603050405020304" pitchFamily="18" charset="0"/>
                <a:cs typeface="Times New Roman" panose="02020603050405020304" pitchFamily="18" charset="0"/>
              </a:rPr>
              <a:t>bytecode</a:t>
            </a:r>
            <a:r>
              <a:rPr lang="en-US" sz="2800" b="0" i="0" dirty="0" smtClean="0">
                <a:solidFill>
                  <a:srgbClr val="333333"/>
                </a:solidFill>
                <a:effectLst/>
                <a:latin typeface="Times New Roman" panose="02020603050405020304" pitchFamily="18" charset="0"/>
                <a:cs typeface="Times New Roman" panose="02020603050405020304" pitchFamily="18" charset="0"/>
              </a:rPr>
              <a:t>, then executed by the </a:t>
            </a:r>
            <a:r>
              <a:rPr lang="en-US" sz="2800" b="1" i="0" dirty="0" smtClean="0">
                <a:solidFill>
                  <a:srgbClr val="333333"/>
                </a:solidFill>
                <a:effectLst/>
                <a:latin typeface="Times New Roman" panose="02020603050405020304" pitchFamily="18" charset="0"/>
                <a:cs typeface="Times New Roman" panose="02020603050405020304" pitchFamily="18" charset="0"/>
              </a:rPr>
              <a:t>JVM </a:t>
            </a:r>
            <a:r>
              <a:rPr lang="en-US" sz="2800" b="0" i="0" dirty="0" smtClean="0">
                <a:solidFill>
                  <a:srgbClr val="333333"/>
                </a:solidFill>
                <a:effectLst/>
                <a:latin typeface="Times New Roman" panose="02020603050405020304" pitchFamily="18" charset="0"/>
                <a:cs typeface="Times New Roman" panose="02020603050405020304" pitchFamily="18" charset="0"/>
              </a:rPr>
              <a:t>through an </a:t>
            </a:r>
            <a:r>
              <a:rPr lang="en-US" sz="2800" b="1" i="0" dirty="0" smtClean="0">
                <a:solidFill>
                  <a:srgbClr val="333333"/>
                </a:solidFill>
                <a:effectLst/>
                <a:latin typeface="Times New Roman" panose="02020603050405020304" pitchFamily="18" charset="0"/>
                <a:cs typeface="Times New Roman" panose="02020603050405020304" pitchFamily="18" charset="0"/>
              </a:rPr>
              <a:t>interpreter</a:t>
            </a:r>
            <a:r>
              <a:rPr lang="en-US" sz="2800" b="0" i="0" dirty="0" smtClean="0">
                <a:solidFill>
                  <a:srgbClr val="333333"/>
                </a:solidFill>
                <a:effectLst/>
                <a:latin typeface="Times New Roman" panose="02020603050405020304" pitchFamily="18" charset="0"/>
                <a:cs typeface="Times New Roman" panose="02020603050405020304" pitchFamily="18" charset="0"/>
              </a:rPr>
              <a:t>. It allows Java to be </a:t>
            </a:r>
            <a:r>
              <a:rPr lang="en-US" sz="2800" b="1" i="0" dirty="0" smtClean="0">
                <a:solidFill>
                  <a:srgbClr val="333333"/>
                </a:solidFill>
                <a:effectLst/>
                <a:latin typeface="Times New Roman" panose="02020603050405020304" pitchFamily="18" charset="0"/>
                <a:cs typeface="Times New Roman" panose="02020603050405020304" pitchFamily="18" charset="0"/>
              </a:rPr>
              <a:t>platform-independent</a:t>
            </a:r>
            <a:r>
              <a:rPr lang="en-US" sz="2800" b="0" i="0" dirty="0" smtClean="0">
                <a:solidFill>
                  <a:srgbClr val="333333"/>
                </a:solidFill>
                <a:effectLst/>
                <a:latin typeface="Times New Roman" panose="02020603050405020304" pitchFamily="18" charset="0"/>
                <a:cs typeface="Times New Roman" panose="02020603050405020304" pitchFamily="18" charset="0"/>
              </a:rPr>
              <a:t>, meaning the same </a:t>
            </a:r>
            <a:r>
              <a:rPr lang="en-US" sz="2800" b="0" i="0" dirty="0" err="1" smtClean="0">
                <a:solidFill>
                  <a:srgbClr val="333333"/>
                </a:solidFill>
                <a:effectLst/>
                <a:latin typeface="Times New Roman" panose="02020603050405020304" pitchFamily="18" charset="0"/>
                <a:cs typeface="Times New Roman" panose="02020603050405020304" pitchFamily="18" charset="0"/>
              </a:rPr>
              <a:t>bytecode</a:t>
            </a:r>
            <a:r>
              <a:rPr lang="en-US" sz="2800" b="0" i="0" dirty="0" smtClean="0">
                <a:solidFill>
                  <a:srgbClr val="333333"/>
                </a:solidFill>
                <a:effectLst/>
                <a:latin typeface="Times New Roman" panose="02020603050405020304" pitchFamily="18" charset="0"/>
                <a:cs typeface="Times New Roman" panose="02020603050405020304" pitchFamily="18" charset="0"/>
              </a:rPr>
              <a:t> can run on any system with a JVM.</a:t>
            </a:r>
            <a:endParaRPr lang="en-US" sz="28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a:latin typeface="Times New Roman" panose="02020603050405020304" pitchFamily="18" charset="0"/>
                <a:cs typeface="Times New Roman" panose="02020603050405020304" pitchFamily="18" charset="0"/>
              </a:rPr>
              <a:t>Dynamic</a:t>
            </a:r>
            <a:endParaRPr lang="en-US" sz="32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Java is a dynamic language that supports the on-demand loading of classes. It also allows the use of functions from its native languages, namely C and C++.</a:t>
            </a:r>
            <a:endParaRPr lang="en-US"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Java supports dynamic compilation and automatic memory management, including garbage collection.</a:t>
            </a:r>
            <a:endParaRPr 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nvPr>
        </p:nvGraphicFramePr>
        <p:xfrm>
          <a:off x="838200" y="1250831"/>
          <a:ext cx="7141234" cy="2769220"/>
        </p:xfrm>
        <a:graphic>
          <a:graphicData uri="http://schemas.openxmlformats.org/drawingml/2006/table">
            <a:tbl>
              <a:tblPr firstRow="1" bandRow="1">
                <a:tableStyleId>{5C22544A-7EE6-4342-B048-85BDC9FD1C3A}</a:tableStyleId>
              </a:tblPr>
              <a:tblGrid>
                <a:gridCol w="2707257"/>
                <a:gridCol w="4433977"/>
              </a:tblGrid>
              <a:tr h="1069675">
                <a:tc>
                  <a:txBody>
                    <a:bodyPr/>
                    <a:lstStyle/>
                    <a:p>
                      <a:pPr algn="just"/>
                      <a:r>
                        <a:rPr lang="en-US" sz="2800" b="1" dirty="0" smtClean="0">
                          <a:solidFill>
                            <a:schemeClr val="tx1"/>
                          </a:solidFill>
                          <a:effectLst/>
                          <a:latin typeface="Times New Roman" panose="02020603050405020304" pitchFamily="18" charset="0"/>
                          <a:cs typeface="Times New Roman" panose="02020603050405020304" pitchFamily="18" charset="0"/>
                        </a:rPr>
                        <a:t>Open </a:t>
                      </a:r>
                      <a:r>
                        <a:rPr lang="en-US" sz="2800" b="1" dirty="0" err="1" smtClean="0">
                          <a:solidFill>
                            <a:schemeClr val="tx1"/>
                          </a:solidFill>
                          <a:effectLst/>
                          <a:latin typeface="Times New Roman" panose="02020603050405020304" pitchFamily="18" charset="0"/>
                          <a:cs typeface="Times New Roman" panose="02020603050405020304" pitchFamily="18" charset="0"/>
                        </a:rPr>
                        <a:t>gedit</a:t>
                      </a:r>
                      <a:r>
                        <a:rPr lang="en-US" sz="2800" b="1" dirty="0" smtClean="0">
                          <a:solidFill>
                            <a:schemeClr val="tx1"/>
                          </a:solidFill>
                          <a:effectLst/>
                          <a:latin typeface="Times New Roman" panose="02020603050405020304" pitchFamily="18" charset="0"/>
                          <a:cs typeface="Times New Roman" panose="02020603050405020304" pitchFamily="18" charset="0"/>
                        </a:rPr>
                        <a:t> text editor</a:t>
                      </a:r>
                      <a:endParaRPr lang="en-US" sz="2800" b="1" dirty="0">
                        <a:solidFill>
                          <a:schemeClr val="tx1"/>
                        </a:solidFill>
                        <a:effectLst/>
                        <a:latin typeface="Times New Roman" panose="02020603050405020304" pitchFamily="18" charset="0"/>
                        <a:cs typeface="Times New Roman" panose="02020603050405020304" pitchFamily="18" charset="0"/>
                      </a:endParaRPr>
                    </a:p>
                  </a:txBody>
                  <a:tcPr/>
                </a:tc>
                <a:tc>
                  <a:txBody>
                    <a:bodyPr/>
                    <a:lstStyle/>
                    <a:p>
                      <a:pPr algn="just"/>
                      <a:r>
                        <a:rPr lang="en-US" sz="2800" b="0" dirty="0" err="1" smtClean="0">
                          <a:solidFill>
                            <a:schemeClr val="tx1"/>
                          </a:solidFill>
                          <a:effectLst/>
                          <a:latin typeface="Times New Roman" panose="02020603050405020304" pitchFamily="18" charset="0"/>
                          <a:cs typeface="Times New Roman" panose="02020603050405020304" pitchFamily="18" charset="0"/>
                        </a:rPr>
                        <a:t>gedit</a:t>
                      </a:r>
                      <a:r>
                        <a:rPr lang="en-US" sz="2800" b="0" dirty="0" smtClean="0">
                          <a:solidFill>
                            <a:schemeClr val="tx1"/>
                          </a:solidFill>
                          <a:effectLst/>
                          <a:latin typeface="Times New Roman" panose="02020603050405020304" pitchFamily="18" charset="0"/>
                          <a:cs typeface="Times New Roman" panose="02020603050405020304" pitchFamily="18" charset="0"/>
                        </a:rPr>
                        <a:t> filename.java </a:t>
                      </a:r>
                      <a:endParaRPr lang="en-US" sz="2800" b="0" dirty="0">
                        <a:solidFill>
                          <a:schemeClr val="tx1"/>
                        </a:solidFill>
                        <a:effectLst/>
                        <a:latin typeface="Times New Roman" panose="02020603050405020304" pitchFamily="18" charset="0"/>
                        <a:cs typeface="Times New Roman" panose="02020603050405020304" pitchFamily="18" charset="0"/>
                      </a:endParaRPr>
                    </a:p>
                  </a:txBody>
                  <a:tcPr/>
                </a:tc>
              </a:tr>
              <a:tr h="566515">
                <a:tc>
                  <a:txBody>
                    <a:bodyPr/>
                    <a:lstStyle/>
                    <a:p>
                      <a:pPr algn="just"/>
                      <a:r>
                        <a:rPr lang="en-US" sz="2800" b="1" dirty="0" smtClean="0">
                          <a:effectLst/>
                          <a:latin typeface="Times New Roman" panose="02020603050405020304" pitchFamily="18" charset="0"/>
                          <a:cs typeface="Times New Roman" panose="02020603050405020304" pitchFamily="18" charset="0"/>
                        </a:rPr>
                        <a:t>New file</a:t>
                      </a:r>
                      <a:endParaRPr lang="en-US" sz="2800" b="1" dirty="0">
                        <a:effectLst/>
                        <a:latin typeface="Times New Roman" panose="02020603050405020304" pitchFamily="18" charset="0"/>
                        <a:cs typeface="Times New Roman" panose="02020603050405020304" pitchFamily="18" charset="0"/>
                      </a:endParaRPr>
                    </a:p>
                  </a:txBody>
                  <a:tcPr/>
                </a:tc>
                <a:tc>
                  <a:txBody>
                    <a:bodyPr/>
                    <a:lstStyle/>
                    <a:p>
                      <a:r>
                        <a:rPr lang="en-US" sz="2800" dirty="0" smtClean="0">
                          <a:latin typeface="Times New Roman" panose="02020603050405020304" pitchFamily="18" charset="0"/>
                          <a:cs typeface="Times New Roman" panose="02020603050405020304" pitchFamily="18" charset="0"/>
                        </a:rPr>
                        <a:t>touch filename.java</a:t>
                      </a:r>
                      <a:endParaRPr lang="en-US" sz="2800" dirty="0">
                        <a:latin typeface="Times New Roman" panose="02020603050405020304" pitchFamily="18" charset="0"/>
                        <a:cs typeface="Times New Roman" panose="02020603050405020304" pitchFamily="18" charset="0"/>
                      </a:endParaRPr>
                    </a:p>
                  </a:txBody>
                  <a:tcPr/>
                </a:tc>
              </a:tr>
              <a:tr h="566515">
                <a:tc>
                  <a:txBody>
                    <a:bodyPr/>
                    <a:lstStyle/>
                    <a:p>
                      <a:pPr algn="just"/>
                      <a:r>
                        <a:rPr lang="en-US" sz="2800" b="1" dirty="0" smtClean="0">
                          <a:effectLst/>
                          <a:latin typeface="Times New Roman" panose="02020603050405020304" pitchFamily="18" charset="0"/>
                          <a:cs typeface="Times New Roman" panose="02020603050405020304" pitchFamily="18" charset="0"/>
                        </a:rPr>
                        <a:t>To compile:</a:t>
                      </a:r>
                      <a:endParaRPr lang="en-US" sz="2800" dirty="0">
                        <a:effectLst/>
                        <a:latin typeface="Times New Roman" panose="02020603050405020304" pitchFamily="18" charset="0"/>
                        <a:cs typeface="Times New Roman" panose="02020603050405020304" pitchFamily="18" charset="0"/>
                      </a:endParaRPr>
                    </a:p>
                  </a:txBody>
                  <a:tcPr/>
                </a:tc>
                <a:tc>
                  <a:txBody>
                    <a:bodyPr/>
                    <a:lstStyle/>
                    <a:p>
                      <a:pPr algn="just"/>
                      <a:r>
                        <a:rPr lang="en-US" sz="2800" dirty="0" err="1" smtClean="0">
                          <a:effectLst/>
                          <a:latin typeface="Times New Roman" panose="02020603050405020304" pitchFamily="18" charset="0"/>
                          <a:cs typeface="Times New Roman" panose="02020603050405020304" pitchFamily="18" charset="0"/>
                        </a:rPr>
                        <a:t>javac</a:t>
                      </a:r>
                      <a:r>
                        <a:rPr lang="en-US" sz="2800" dirty="0" smtClean="0">
                          <a:effectLst/>
                          <a:latin typeface="Times New Roman" panose="02020603050405020304" pitchFamily="18" charset="0"/>
                          <a:cs typeface="Times New Roman" panose="02020603050405020304" pitchFamily="18" charset="0"/>
                        </a:rPr>
                        <a:t> filename.java</a:t>
                      </a:r>
                      <a:endParaRPr lang="en-US" sz="2800" dirty="0">
                        <a:effectLst/>
                        <a:latin typeface="Times New Roman" panose="02020603050405020304" pitchFamily="18" charset="0"/>
                        <a:cs typeface="Times New Roman" panose="02020603050405020304" pitchFamily="18" charset="0"/>
                      </a:endParaRPr>
                    </a:p>
                  </a:txBody>
                  <a:tcPr/>
                </a:tc>
              </a:tr>
              <a:tr h="566515">
                <a:tc>
                  <a:txBody>
                    <a:bodyPr/>
                    <a:lstStyle/>
                    <a:p>
                      <a:pPr algn="just"/>
                      <a:r>
                        <a:rPr lang="en-US" sz="2800" b="1" dirty="0" smtClean="0">
                          <a:effectLst/>
                          <a:latin typeface="Times New Roman" panose="02020603050405020304" pitchFamily="18" charset="0"/>
                          <a:cs typeface="Times New Roman" panose="02020603050405020304" pitchFamily="18" charset="0"/>
                        </a:rPr>
                        <a:t>To execute:</a:t>
                      </a:r>
                      <a:endParaRPr lang="en-US" sz="2800" dirty="0">
                        <a:effectLst/>
                        <a:latin typeface="Times New Roman" panose="02020603050405020304" pitchFamily="18" charset="0"/>
                        <a:cs typeface="Times New Roman" panose="02020603050405020304" pitchFamily="18" charset="0"/>
                      </a:endParaRPr>
                    </a:p>
                  </a:txBody>
                  <a:tcPr/>
                </a:tc>
                <a:tc>
                  <a:txBody>
                    <a:bodyPr/>
                    <a:lstStyle/>
                    <a:p>
                      <a:pPr algn="just"/>
                      <a:r>
                        <a:rPr lang="en-US" sz="2800" dirty="0" smtClean="0">
                          <a:effectLst/>
                          <a:latin typeface="Times New Roman" panose="02020603050405020304" pitchFamily="18" charset="0"/>
                          <a:cs typeface="Times New Roman" panose="02020603050405020304" pitchFamily="18" charset="0"/>
                        </a:rPr>
                        <a:t>java file</a:t>
                      </a:r>
                      <a:r>
                        <a:rPr lang="en-US" sz="2800" baseline="0" dirty="0" smtClean="0">
                          <a:effectLst/>
                          <a:latin typeface="Times New Roman" panose="02020603050405020304" pitchFamily="18" charset="0"/>
                          <a:cs typeface="Times New Roman" panose="02020603050405020304" pitchFamily="18" charset="0"/>
                        </a:rPr>
                        <a:t>name</a:t>
                      </a:r>
                      <a:endParaRPr lang="en-US" sz="2800" dirty="0">
                        <a:effectLst/>
                        <a:latin typeface="Times New Roman" panose="02020603050405020304" pitchFamily="18" charset="0"/>
                        <a:cs typeface="Times New Roman" panose="02020603050405020304" pitchFamily="18" charset="0"/>
                      </a:endParaRPr>
                    </a:p>
                  </a:txBody>
                  <a:tcPr/>
                </a:tc>
              </a:tr>
            </a:tbl>
          </a:graphicData>
        </a:graphic>
      </p:graphicFrame>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latin typeface="Times New Roman" panose="02020603050405020304" pitchFamily="18" charset="0"/>
                <a:cs typeface="Times New Roman" panose="02020603050405020304" pitchFamily="18" charset="0"/>
              </a:rPr>
              <a:t>Example 1</a:t>
            </a:r>
            <a:endParaRPr lang="en-US" sz="32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marL="0" indent="0">
              <a:buNone/>
            </a:pPr>
            <a:r>
              <a:rPr lang="en-US" dirty="0">
                <a:latin typeface="Times New Roman" panose="02020603050405020304" pitchFamily="18" charset="0"/>
                <a:cs typeface="Times New Roman" panose="02020603050405020304" pitchFamily="18" charset="0"/>
              </a:rPr>
              <a:t>public </a:t>
            </a:r>
            <a:r>
              <a:rPr lang="en-US" b="1" dirty="0">
                <a:latin typeface="Times New Roman" panose="02020603050405020304" pitchFamily="18" charset="0"/>
                <a:cs typeface="Times New Roman" panose="02020603050405020304" pitchFamily="18" charset="0"/>
              </a:rPr>
              <a:t>class</a:t>
            </a:r>
            <a:r>
              <a:rPr lang="en-US" dirty="0">
                <a:latin typeface="Times New Roman" panose="02020603050405020304" pitchFamily="18" charset="0"/>
                <a:cs typeface="Times New Roman" panose="02020603050405020304" pitchFamily="18" charset="0"/>
              </a:rPr>
              <a:t> Main{  </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public</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static</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void</a:t>
            </a:r>
            <a:r>
              <a:rPr lang="en-US" dirty="0">
                <a:latin typeface="Times New Roman" panose="02020603050405020304" pitchFamily="18" charset="0"/>
                <a:cs typeface="Times New Roman" panose="02020603050405020304" pitchFamily="18" charset="0"/>
              </a:rPr>
              <a:t> main(String </a:t>
            </a:r>
            <a:r>
              <a:rPr lang="en-US" dirty="0" err="1">
                <a:latin typeface="Times New Roman" panose="02020603050405020304" pitchFamily="18" charset="0"/>
                <a:cs typeface="Times New Roman" panose="02020603050405020304" pitchFamily="18" charset="0"/>
              </a:rPr>
              <a:t>args</a:t>
            </a:r>
            <a:r>
              <a:rPr lang="en-US"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System.out.println</a:t>
            </a:r>
            <a:r>
              <a:rPr lang="en-US" dirty="0">
                <a:latin typeface="Times New Roman" panose="02020603050405020304" pitchFamily="18" charset="0"/>
                <a:cs typeface="Times New Roman" panose="02020603050405020304" pitchFamily="18" charset="0"/>
              </a:rPr>
              <a:t>("Hello, World!");  </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    }  </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latin typeface="Times New Roman" panose="02020603050405020304" pitchFamily="18" charset="0"/>
                <a:cs typeface="Times New Roman" panose="02020603050405020304" pitchFamily="18" charset="0"/>
              </a:rPr>
              <a:t>Example 2</a:t>
            </a:r>
            <a:endParaRPr lang="en-US" sz="3200" dirty="0"/>
          </a:p>
        </p:txBody>
      </p:sp>
      <p:sp>
        <p:nvSpPr>
          <p:cNvPr id="3" name="Content Placeholder 2"/>
          <p:cNvSpPr>
            <a:spLocks noGrp="1"/>
          </p:cNvSpPr>
          <p:nvPr>
            <p:ph idx="1"/>
          </p:nvPr>
        </p:nvSpPr>
        <p:spPr/>
        <p:txBody>
          <a:bodyPr/>
          <a:lstStyle/>
          <a:p>
            <a:pPr>
              <a:spcBef>
                <a:spcPct val="0"/>
              </a:spcBef>
              <a:buNone/>
            </a:pPr>
            <a:r>
              <a:rPr lang="en-US" dirty="0" smtClean="0">
                <a:latin typeface="Times New Roman" panose="02020603050405020304" pitchFamily="18" charset="0"/>
                <a:cs typeface="Times New Roman" panose="02020603050405020304" pitchFamily="18" charset="0"/>
              </a:rPr>
              <a:t>public class Welcome {	</a:t>
            </a:r>
            <a:endParaRPr lang="en-US" dirty="0" smtClean="0">
              <a:latin typeface="Times New Roman" panose="02020603050405020304" pitchFamily="18" charset="0"/>
              <a:cs typeface="Times New Roman" panose="02020603050405020304" pitchFamily="18" charset="0"/>
            </a:endParaRPr>
          </a:p>
          <a:p>
            <a:pPr>
              <a:spcBef>
                <a:spcPct val="0"/>
              </a:spcBef>
              <a:buNone/>
            </a:pPr>
            <a:r>
              <a:rPr lang="en-US" dirty="0" smtClean="0">
                <a:latin typeface="Times New Roman" panose="02020603050405020304" pitchFamily="18" charset="0"/>
                <a:cs typeface="Times New Roman" panose="02020603050405020304" pitchFamily="18" charset="0"/>
              </a:rPr>
              <a:t>  public static void main(String[] </a:t>
            </a:r>
            <a:r>
              <a:rPr lang="en-US" dirty="0" err="1" smtClean="0">
                <a:latin typeface="Times New Roman" panose="02020603050405020304" pitchFamily="18" charset="0"/>
                <a:cs typeface="Times New Roman" panose="02020603050405020304" pitchFamily="18" charset="0"/>
              </a:rPr>
              <a:t>args</a:t>
            </a:r>
            <a:r>
              <a:rPr lang="en-US" dirty="0" smtClean="0">
                <a:latin typeface="Times New Roman" panose="02020603050405020304" pitchFamily="18" charset="0"/>
                <a:cs typeface="Times New Roman" panose="02020603050405020304" pitchFamily="18" charset="0"/>
              </a:rPr>
              <a:t>) { </a:t>
            </a:r>
            <a:endParaRPr lang="en-US" dirty="0" smtClean="0">
              <a:latin typeface="Times New Roman" panose="02020603050405020304" pitchFamily="18" charset="0"/>
              <a:cs typeface="Times New Roman" panose="02020603050405020304" pitchFamily="18" charset="0"/>
            </a:endParaRPr>
          </a:p>
          <a:p>
            <a:pPr>
              <a:spcBef>
                <a:spcPct val="0"/>
              </a:spcBef>
              <a:buNone/>
            </a:pP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System.out.println</a:t>
            </a:r>
            <a:r>
              <a:rPr lang="en-US" dirty="0" smtClean="0">
                <a:latin typeface="Times New Roman" panose="02020603050405020304" pitchFamily="18" charset="0"/>
                <a:cs typeface="Times New Roman" panose="02020603050405020304" pitchFamily="18" charset="0"/>
              </a:rPr>
              <a:t>("Welcome to Java!");</a:t>
            </a:r>
            <a:endParaRPr lang="en-US" dirty="0" smtClean="0">
              <a:latin typeface="Times New Roman" panose="02020603050405020304" pitchFamily="18" charset="0"/>
              <a:cs typeface="Times New Roman" panose="02020603050405020304" pitchFamily="18" charset="0"/>
            </a:endParaRPr>
          </a:p>
          <a:p>
            <a:pPr>
              <a:spcBef>
                <a:spcPct val="0"/>
              </a:spcBef>
              <a:buNone/>
            </a:pPr>
            <a:r>
              <a:rPr lang="en-US" dirty="0" smtClean="0">
                <a:latin typeface="Times New Roman" panose="02020603050405020304" pitchFamily="18" charset="0"/>
                <a:cs typeface="Times New Roman" panose="02020603050405020304" pitchFamily="18" charset="0"/>
              </a:rPr>
              <a:t>  }</a:t>
            </a:r>
            <a:endParaRPr lang="en-US" dirty="0" smtClean="0">
              <a:latin typeface="Times New Roman" panose="02020603050405020304" pitchFamily="18" charset="0"/>
              <a:cs typeface="Times New Roman" panose="02020603050405020304" pitchFamily="18" charset="0"/>
            </a:endParaRPr>
          </a:p>
          <a:p>
            <a:pPr>
              <a:spcBef>
                <a:spcPct val="0"/>
              </a:spcBef>
              <a:buNone/>
            </a:pPr>
            <a:r>
              <a:rPr lang="en-US" dirty="0" smtClean="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3528" y="129397"/>
            <a:ext cx="10515600" cy="871269"/>
          </a:xfrm>
        </p:spPr>
        <p:txBody>
          <a:bodyPr>
            <a:normAutofit/>
          </a:bodyPr>
          <a:lstStyle/>
          <a:p>
            <a:r>
              <a:rPr lang="en-US" sz="3200" b="1" dirty="0">
                <a:latin typeface="Times New Roman" panose="02020603050405020304" pitchFamily="18" charset="0"/>
                <a:cs typeface="Times New Roman" panose="02020603050405020304" pitchFamily="18" charset="0"/>
              </a:rPr>
              <a:t>Parameters used in First Java Program</a:t>
            </a:r>
            <a:endParaRPr lang="en-US" sz="32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854016"/>
            <a:ext cx="10515600" cy="5322948"/>
          </a:xfrm>
        </p:spPr>
        <p:txBody>
          <a:bodyPr>
            <a:noAutofit/>
          </a:bodyPr>
          <a:lstStyle/>
          <a:p>
            <a:pPr algn="just">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class</a:t>
            </a:r>
            <a:r>
              <a:rPr lang="en-US" sz="2000" dirty="0">
                <a:latin typeface="Times New Roman" panose="02020603050405020304" pitchFamily="18" charset="0"/>
                <a:cs typeface="Times New Roman" panose="02020603050405020304" pitchFamily="18" charset="0"/>
              </a:rPr>
              <a:t> keyword is used to declare a class in Java.</a:t>
            </a:r>
            <a:endParaRPr lang="en-US" sz="20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public</a:t>
            </a:r>
            <a:r>
              <a:rPr lang="en-US" sz="2000" dirty="0">
                <a:latin typeface="Times New Roman" panose="02020603050405020304" pitchFamily="18" charset="0"/>
                <a:cs typeface="Times New Roman" panose="02020603050405020304" pitchFamily="18" charset="0"/>
              </a:rPr>
              <a:t> keyword is an access modifier that represents visibility. It means it is visible to all.</a:t>
            </a:r>
            <a:endParaRPr lang="en-US" sz="20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static</a:t>
            </a:r>
            <a:r>
              <a:rPr lang="en-US" sz="2000" dirty="0">
                <a:latin typeface="Times New Roman" panose="02020603050405020304" pitchFamily="18" charset="0"/>
                <a:cs typeface="Times New Roman" panose="02020603050405020304" pitchFamily="18" charset="0"/>
              </a:rPr>
              <a:t> is a keyword. If we declare any method as static, it is known as the static method. The core advantage of the static method is that there is no need to create an object to invoke the static method. The main() method is executed by the JVM, so it does not require creating an object to invoke the main() method. So, it saves memory.</a:t>
            </a:r>
            <a:endParaRPr lang="en-US" sz="20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void</a:t>
            </a:r>
            <a:r>
              <a:rPr lang="en-US" sz="2000" dirty="0">
                <a:latin typeface="Times New Roman" panose="02020603050405020304" pitchFamily="18" charset="0"/>
                <a:cs typeface="Times New Roman" panose="02020603050405020304" pitchFamily="18" charset="0"/>
              </a:rPr>
              <a:t> is the return type of the method. It means it does not return any value.</a:t>
            </a:r>
            <a:endParaRPr lang="en-US" sz="20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a:t>
            </a:r>
            <a:r>
              <a:rPr lang="en-US" sz="2000" b="1" dirty="0">
                <a:latin typeface="Times New Roman" panose="02020603050405020304" pitchFamily="18" charset="0"/>
                <a:cs typeface="Times New Roman" panose="02020603050405020304" pitchFamily="18" charset="0"/>
              </a:rPr>
              <a:t>main()</a:t>
            </a:r>
            <a:r>
              <a:rPr lang="en-US" sz="2000" dirty="0">
                <a:latin typeface="Times New Roman" panose="02020603050405020304" pitchFamily="18" charset="0"/>
                <a:cs typeface="Times New Roman" panose="02020603050405020304" pitchFamily="18" charset="0"/>
              </a:rPr>
              <a:t> method represents the starting point of the program.</a:t>
            </a:r>
            <a:endParaRPr lang="en-US" sz="20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String[] </a:t>
            </a:r>
            <a:r>
              <a:rPr lang="en-US" sz="2000" b="1" dirty="0" err="1">
                <a:latin typeface="Times New Roman" panose="02020603050405020304" pitchFamily="18" charset="0"/>
                <a:cs typeface="Times New Roman" panose="02020603050405020304" pitchFamily="18" charset="0"/>
              </a:rPr>
              <a:t>args</a:t>
            </a:r>
            <a:r>
              <a:rPr lang="en-US" sz="2000" dirty="0">
                <a:latin typeface="Times New Roman" panose="02020603050405020304" pitchFamily="18" charset="0"/>
                <a:cs typeface="Times New Roman" panose="02020603050405020304" pitchFamily="18" charset="0"/>
              </a:rPr>
              <a:t> or </a:t>
            </a:r>
            <a:r>
              <a:rPr lang="en-US" sz="2000" b="1" dirty="0">
                <a:latin typeface="Times New Roman" panose="02020603050405020304" pitchFamily="18" charset="0"/>
                <a:cs typeface="Times New Roman" panose="02020603050405020304" pitchFamily="18" charset="0"/>
              </a:rPr>
              <a:t>String </a:t>
            </a:r>
            <a:r>
              <a:rPr lang="en-US" sz="2000" b="1" dirty="0" err="1">
                <a:latin typeface="Times New Roman" panose="02020603050405020304" pitchFamily="18" charset="0"/>
                <a:cs typeface="Times New Roman" panose="02020603050405020304" pitchFamily="18" charset="0"/>
              </a:rPr>
              <a:t>args</a:t>
            </a:r>
            <a:r>
              <a:rPr lang="en-US" sz="2000" b="1" dirty="0">
                <a:latin typeface="Times New Roman" panose="02020603050405020304" pitchFamily="18" charset="0"/>
                <a:cs typeface="Times New Roman" panose="02020603050405020304" pitchFamily="18" charset="0"/>
              </a:rPr>
              <a:t>[]</a:t>
            </a:r>
            <a:r>
              <a:rPr lang="en-US" sz="2000" dirty="0">
                <a:latin typeface="Times New Roman" panose="02020603050405020304" pitchFamily="18" charset="0"/>
                <a:cs typeface="Times New Roman" panose="02020603050405020304" pitchFamily="18" charset="0"/>
              </a:rPr>
              <a:t> is used for command line argument. We will discuss it in coming section.</a:t>
            </a:r>
            <a:endParaRPr lang="en-US" sz="20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2000" b="1" dirty="0" err="1">
                <a:latin typeface="Times New Roman" panose="02020603050405020304" pitchFamily="18" charset="0"/>
                <a:cs typeface="Times New Roman" panose="02020603050405020304" pitchFamily="18" charset="0"/>
              </a:rPr>
              <a:t>System.out.println</a:t>
            </a:r>
            <a:r>
              <a:rPr lang="en-US" sz="2000" b="1" dirty="0">
                <a:latin typeface="Times New Roman" panose="02020603050405020304" pitchFamily="18" charset="0"/>
                <a:cs typeface="Times New Roman" panose="02020603050405020304" pitchFamily="18" charset="0"/>
              </a:rPr>
              <a:t>()</a:t>
            </a:r>
            <a:r>
              <a:rPr lang="en-US" sz="2000" dirty="0">
                <a:latin typeface="Times New Roman" panose="02020603050405020304" pitchFamily="18" charset="0"/>
                <a:cs typeface="Times New Roman" panose="02020603050405020304" pitchFamily="18" charset="0"/>
              </a:rPr>
              <a:t> is used to print statement on the console. Here, System is a class, out is an object of the </a:t>
            </a:r>
            <a:r>
              <a:rPr lang="en-US" sz="2000" dirty="0" err="1">
                <a:latin typeface="Times New Roman" panose="02020603050405020304" pitchFamily="18" charset="0"/>
                <a:cs typeface="Times New Roman" panose="02020603050405020304" pitchFamily="18" charset="0"/>
              </a:rPr>
              <a:t>PrintStream</a:t>
            </a:r>
            <a:r>
              <a:rPr lang="en-US" sz="2000" dirty="0">
                <a:latin typeface="Times New Roman" panose="02020603050405020304" pitchFamily="18" charset="0"/>
                <a:cs typeface="Times New Roman" panose="02020603050405020304" pitchFamily="18" charset="0"/>
              </a:rPr>
              <a:t> class, </a:t>
            </a:r>
            <a:r>
              <a:rPr lang="en-US" sz="2000" dirty="0" err="1">
                <a:latin typeface="Times New Roman" panose="02020603050405020304" pitchFamily="18" charset="0"/>
                <a:cs typeface="Times New Roman" panose="02020603050405020304" pitchFamily="18" charset="0"/>
              </a:rPr>
              <a:t>println</a:t>
            </a:r>
            <a:r>
              <a:rPr lang="en-US" sz="2000" dirty="0">
                <a:latin typeface="Times New Roman" panose="02020603050405020304" pitchFamily="18" charset="0"/>
                <a:cs typeface="Times New Roman" panose="02020603050405020304" pitchFamily="18" charset="0"/>
              </a:rPr>
              <a:t>() is a method of the </a:t>
            </a:r>
            <a:r>
              <a:rPr lang="en-US" sz="2000" dirty="0" err="1">
                <a:latin typeface="Times New Roman" panose="02020603050405020304" pitchFamily="18" charset="0"/>
                <a:cs typeface="Times New Roman" panose="02020603050405020304" pitchFamily="18" charset="0"/>
              </a:rPr>
              <a:t>PrintStream</a:t>
            </a:r>
            <a:r>
              <a:rPr lang="en-US" sz="2000" dirty="0">
                <a:latin typeface="Times New Roman" panose="02020603050405020304" pitchFamily="18" charset="0"/>
                <a:cs typeface="Times New Roman" panose="02020603050405020304" pitchFamily="18" charset="0"/>
              </a:rPr>
              <a:t> class. We will discuss the internal working of </a:t>
            </a:r>
            <a:r>
              <a:rPr lang="en-US" sz="2000" dirty="0" err="1" smtClean="0">
                <a:latin typeface="Times New Roman" panose="02020603050405020304" pitchFamily="18" charset="0"/>
                <a:cs typeface="Times New Roman" panose="02020603050405020304" pitchFamily="18" charset="0"/>
              </a:rPr>
              <a:t>System.out.println</a:t>
            </a:r>
            <a:r>
              <a:rPr lang="en-US" sz="2000" dirty="0" smtClean="0">
                <a:latin typeface="Times New Roman" panose="02020603050405020304" pitchFamily="18" charset="0"/>
                <a:cs typeface="Times New Roman" panose="02020603050405020304" pitchFamily="18" charset="0"/>
              </a:rPr>
              <a:t>()</a:t>
            </a:r>
            <a:r>
              <a:rPr lang="en-US" sz="2000" dirty="0">
                <a:latin typeface="Times New Roman" panose="02020603050405020304" pitchFamily="18" charset="0"/>
                <a:cs typeface="Times New Roman" panose="02020603050405020304" pitchFamily="18" charset="0"/>
              </a:rPr>
              <a:t> statement in the coming section.</a:t>
            </a:r>
            <a:endParaRPr lang="en-US" sz="20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3476" y="356498"/>
            <a:ext cx="10515600" cy="1325563"/>
          </a:xfrm>
        </p:spPr>
        <p:txBody>
          <a:bodyPr>
            <a:normAutofit/>
          </a:bodyPr>
          <a:lstStyle/>
          <a:p>
            <a:r>
              <a:rPr lang="en-US" sz="3200" b="1" dirty="0" smtClean="0">
                <a:latin typeface="Times New Roman" panose="02020603050405020304" pitchFamily="18" charset="0"/>
                <a:cs typeface="Times New Roman" panose="02020603050405020304" pitchFamily="18" charset="0"/>
              </a:rPr>
              <a:t>Example 3</a:t>
            </a:r>
            <a:endParaRPr lang="en-US" sz="3200" dirty="0"/>
          </a:p>
        </p:txBody>
      </p:sp>
      <p:pic>
        <p:nvPicPr>
          <p:cNvPr id="4" name="Content Placeholder 3"/>
          <p:cNvPicPr>
            <a:picLocks noGrp="1" noChangeAspect="1"/>
          </p:cNvPicPr>
          <p:nvPr>
            <p:ph idx="1"/>
          </p:nvPr>
        </p:nvPicPr>
        <p:blipFill>
          <a:blip r:embed="rId1"/>
          <a:stretch>
            <a:fillRect/>
          </a:stretch>
        </p:blipFill>
        <p:spPr>
          <a:xfrm>
            <a:off x="1240230" y="1682061"/>
            <a:ext cx="7399661" cy="4115157"/>
          </a:xfrm>
          <a:prstGeom prst="rect">
            <a:avLst/>
          </a:prstGeom>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latin typeface="Times New Roman" panose="02020603050405020304" pitchFamily="18" charset="0"/>
                <a:cs typeface="Times New Roman" panose="02020603050405020304" pitchFamily="18" charset="0"/>
              </a:rPr>
              <a:t>Example 4</a:t>
            </a:r>
            <a:endParaRPr lang="en-US" sz="3200" dirty="0"/>
          </a:p>
        </p:txBody>
      </p:sp>
      <p:pic>
        <p:nvPicPr>
          <p:cNvPr id="4" name="Content Placeholder 3"/>
          <p:cNvPicPr>
            <a:picLocks noGrp="1" noChangeAspect="1"/>
          </p:cNvPicPr>
          <p:nvPr>
            <p:ph idx="1"/>
          </p:nvPr>
        </p:nvPicPr>
        <p:blipFill>
          <a:blip r:embed="rId1"/>
          <a:stretch>
            <a:fillRect/>
          </a:stretch>
        </p:blipFill>
        <p:spPr>
          <a:xfrm>
            <a:off x="915501" y="1934819"/>
            <a:ext cx="7773074" cy="3718882"/>
          </a:xfrm>
          <a:prstGeom prst="rect">
            <a:avLst/>
          </a:prstGeom>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smtClean="0">
                <a:latin typeface="Times New Roman" panose="02020603050405020304" pitchFamily="18" charset="0"/>
                <a:cs typeface="Times New Roman" panose="02020603050405020304" pitchFamily="18" charset="0"/>
              </a:rPr>
              <a:t>Blocks</a:t>
            </a:r>
            <a:endParaRPr lang="en-US" sz="32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marL="0" indent="0">
              <a:buNone/>
            </a:pPr>
            <a:r>
              <a:rPr lang="en-US" dirty="0" smtClean="0">
                <a:latin typeface="Times New Roman" panose="02020603050405020304" pitchFamily="18" charset="0"/>
                <a:cs typeface="Times New Roman" panose="02020603050405020304" pitchFamily="18" charset="0"/>
              </a:rPr>
              <a:t>A pair of braces in a program forms a block that groups components of a program. </a:t>
            </a:r>
            <a:endParaRPr lang="en-US"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1"/>
          <a:stretch>
            <a:fillRect/>
          </a:stretch>
        </p:blipFill>
        <p:spPr>
          <a:xfrm>
            <a:off x="654505" y="3248404"/>
            <a:ext cx="9716342" cy="1874682"/>
          </a:xfrm>
          <a:prstGeom prst="rect">
            <a:avLst/>
          </a:prstGeom>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b="1" dirty="0" smtClean="0">
                <a:latin typeface="Times New Roman" panose="02020603050405020304" pitchFamily="18" charset="0"/>
                <a:cs typeface="Times New Roman" panose="02020603050405020304" pitchFamily="18" charset="0"/>
              </a:rPr>
              <a:t>Classes</a:t>
            </a:r>
            <a:endParaRPr lang="en-US" sz="2800" b="1"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The </a:t>
            </a:r>
            <a:r>
              <a:rPr lang="en-US" i="1" dirty="0" smtClean="0">
                <a:latin typeface="Times New Roman" panose="02020603050405020304" pitchFamily="18" charset="0"/>
                <a:cs typeface="Times New Roman" panose="02020603050405020304" pitchFamily="18" charset="0"/>
              </a:rPr>
              <a:t>class</a:t>
            </a:r>
            <a:r>
              <a:rPr lang="en-US" dirty="0" smtClean="0">
                <a:latin typeface="Times New Roman" panose="02020603050405020304" pitchFamily="18" charset="0"/>
                <a:cs typeface="Times New Roman" panose="02020603050405020304" pitchFamily="18" charset="0"/>
              </a:rPr>
              <a:t> is the essential Java construct. A class is a template or blueprint for objects. </a:t>
            </a:r>
            <a:endParaRPr lang="en-US"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A java program is defined by using one or more classes.</a:t>
            </a:r>
            <a:r>
              <a:rPr lang="en-US" sz="3200" dirty="0" smtClean="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smtClean="0">
                <a:latin typeface="Times New Roman" panose="02020603050405020304" pitchFamily="18" charset="0"/>
                <a:cs typeface="Times New Roman" panose="02020603050405020304" pitchFamily="18" charset="0"/>
              </a:rPr>
              <a:t>Methods</a:t>
            </a:r>
            <a:endParaRPr lang="en-US" sz="3200" b="1"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lnSpcReduction="10000"/>
          </a:bodyPr>
          <a:lstStyle/>
          <a:p>
            <a:pPr marL="0" indent="0">
              <a:buNone/>
            </a:pPr>
            <a:r>
              <a:rPr lang="en-US" dirty="0" smtClean="0">
                <a:latin typeface="Times New Roman" panose="02020603050405020304" pitchFamily="18" charset="0"/>
                <a:cs typeface="Times New Roman" panose="02020603050405020304" pitchFamily="18" charset="0"/>
              </a:rPr>
              <a:t>What is </a:t>
            </a:r>
            <a:r>
              <a:rPr lang="en-US" dirty="0" err="1" smtClean="0">
                <a:latin typeface="Times New Roman" panose="02020603050405020304" pitchFamily="18" charset="0"/>
                <a:cs typeface="Times New Roman" panose="02020603050405020304" pitchFamily="18" charset="0"/>
              </a:rPr>
              <a:t>System.out.println</a:t>
            </a:r>
            <a:r>
              <a:rPr lang="en-US" dirty="0" smtClean="0">
                <a:latin typeface="Times New Roman" panose="02020603050405020304" pitchFamily="18" charset="0"/>
                <a:cs typeface="Times New Roman" panose="02020603050405020304" pitchFamily="18" charset="0"/>
              </a:rPr>
              <a:t>?</a:t>
            </a:r>
            <a:endParaRPr lang="en-US"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 It is a </a:t>
            </a:r>
            <a:r>
              <a:rPr lang="en-US" i="1" dirty="0" smtClean="0">
                <a:latin typeface="Times New Roman" panose="02020603050405020304" pitchFamily="18" charset="0"/>
                <a:cs typeface="Times New Roman" panose="02020603050405020304" pitchFamily="18" charset="0"/>
              </a:rPr>
              <a:t>method</a:t>
            </a:r>
            <a:r>
              <a:rPr lang="en-US" dirty="0" smtClean="0">
                <a:latin typeface="Times New Roman" panose="02020603050405020304" pitchFamily="18" charset="0"/>
                <a:cs typeface="Times New Roman" panose="02020603050405020304" pitchFamily="18" charset="0"/>
              </a:rPr>
              <a:t>: a collection of statements that performs a sequence of operations to display a message on the console.</a:t>
            </a:r>
            <a:endParaRPr lang="en-US"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 It can be used even without fully understanding the details of how it works. </a:t>
            </a:r>
            <a:endParaRPr lang="en-US"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It is used by invoking a statement with a string argument. The string argument is enclosed within parentheses. In this case, the argument is "Welcome to Java!" </a:t>
            </a:r>
            <a:endParaRPr lang="en-US"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You can call the same </a:t>
            </a:r>
            <a:r>
              <a:rPr lang="en-US" dirty="0" err="1" smtClean="0">
                <a:latin typeface="Times New Roman" panose="02020603050405020304" pitchFamily="18" charset="0"/>
                <a:cs typeface="Times New Roman" panose="02020603050405020304" pitchFamily="18" charset="0"/>
              </a:rPr>
              <a:t>println</a:t>
            </a:r>
            <a:r>
              <a:rPr lang="en-US" dirty="0" smtClean="0">
                <a:latin typeface="Times New Roman" panose="02020603050405020304" pitchFamily="18" charset="0"/>
                <a:cs typeface="Times New Roman" panose="02020603050405020304" pitchFamily="18" charset="0"/>
              </a:rPr>
              <a:t> method with a different argument to print a different message. </a:t>
            </a:r>
            <a:endParaRPr 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latin typeface="Times New Roman" panose="02020603050405020304" pitchFamily="18" charset="0"/>
                <a:cs typeface="Times New Roman" panose="02020603050405020304" pitchFamily="18" charset="0"/>
              </a:rPr>
              <a:t>main Method</a:t>
            </a:r>
            <a:endParaRPr lang="en-US" sz="3200" b="1"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The main method provides the control of program flow. The Java interpreter executes the application by invoking the main method. </a:t>
            </a:r>
            <a:endParaRPr lang="en-US"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The main method looks like this:</a:t>
            </a:r>
            <a:endParaRPr lang="en-US" dirty="0" smtClean="0">
              <a:latin typeface="Times New Roman" panose="02020603050405020304" pitchFamily="18" charset="0"/>
              <a:cs typeface="Times New Roman" panose="02020603050405020304" pitchFamily="18" charset="0"/>
            </a:endParaRPr>
          </a:p>
          <a:p>
            <a:pPr marL="0" indent="0">
              <a:buNone/>
            </a:pPr>
            <a:r>
              <a:rPr lang="en-US" dirty="0" smtClean="0">
                <a:latin typeface="Times New Roman" panose="02020603050405020304" pitchFamily="18" charset="0"/>
                <a:cs typeface="Times New Roman" panose="02020603050405020304" pitchFamily="18" charset="0"/>
              </a:rPr>
              <a:t>	public static void main(String[] </a:t>
            </a:r>
            <a:r>
              <a:rPr lang="en-US" dirty="0" err="1" smtClean="0">
                <a:latin typeface="Times New Roman" panose="02020603050405020304" pitchFamily="18" charset="0"/>
                <a:cs typeface="Times New Roman" panose="02020603050405020304" pitchFamily="18" charset="0"/>
              </a:rPr>
              <a:t>args</a:t>
            </a:r>
            <a:r>
              <a:rPr lang="en-US" dirty="0" smtClean="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latin typeface="Times New Roman" panose="02020603050405020304" pitchFamily="18" charset="0"/>
                <a:cs typeface="Times New Roman" panose="02020603050405020304" pitchFamily="18" charset="0"/>
              </a:rPr>
              <a:t>The exit Method</a:t>
            </a:r>
            <a:endParaRPr lang="en-US" sz="32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algn="just">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Use Exit to terminate the program and stop all threads.</a:t>
            </a:r>
            <a:endParaRPr lang="en-US" dirty="0" smtClean="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When your program starts, a thread is spawned to run the program. To terminate the thread, you have to invoke the exit method.</a:t>
            </a:r>
            <a:r>
              <a:rPr lang="en-US" u="sng" dirty="0" smtClean="0">
                <a:latin typeface="Times New Roman" panose="02020603050405020304" pitchFamily="18" charset="0"/>
                <a:cs typeface="Times New Roman" panose="02020603050405020304" pitchFamily="18" charset="0"/>
              </a:rPr>
              <a:t> </a:t>
            </a:r>
            <a:endParaRPr lang="en-US" u="sng"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6660" y="114959"/>
            <a:ext cx="10515600" cy="626913"/>
          </a:xfrm>
        </p:spPr>
        <p:txBody>
          <a:bodyPr>
            <a:normAutofit/>
          </a:bodyPr>
          <a:lstStyle/>
          <a:p>
            <a:r>
              <a:rPr lang="en-US" sz="3200" b="1" dirty="0">
                <a:latin typeface="Times New Roman" panose="02020603050405020304" pitchFamily="18" charset="0"/>
                <a:cs typeface="Times New Roman" panose="02020603050405020304" pitchFamily="18" charset="0"/>
              </a:rPr>
              <a:t>What happens at runtime?</a:t>
            </a:r>
            <a:endParaRPr lang="en-US" sz="3200" b="1" dirty="0">
              <a:latin typeface="Times New Roman" panose="02020603050405020304" pitchFamily="18" charset="0"/>
              <a:cs typeface="Times New Roman" panose="02020603050405020304" pitchFamily="18" charset="0"/>
            </a:endParaRPr>
          </a:p>
        </p:txBody>
      </p:sp>
      <p:pic>
        <p:nvPicPr>
          <p:cNvPr id="8194" name="Picture 2" descr="Java Runtime Processing"/>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bwMode="auto">
          <a:xfrm>
            <a:off x="3303917" y="802257"/>
            <a:ext cx="3899140" cy="523738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latin typeface="Times New Roman" panose="02020603050405020304" pitchFamily="18" charset="0"/>
                <a:cs typeface="Times New Roman" panose="02020603050405020304" pitchFamily="18" charset="0"/>
              </a:rPr>
              <a:t>JVM (Java Virtual Machine)</a:t>
            </a:r>
            <a:endParaRPr lang="en-US" sz="32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It is called a virtual machine because it doesn't physically exist. It is a specification that provides a runtime environment in which Java </a:t>
            </a:r>
            <a:r>
              <a:rPr lang="en-US" dirty="0" err="1">
                <a:latin typeface="Times New Roman" panose="02020603050405020304" pitchFamily="18" charset="0"/>
                <a:cs typeface="Times New Roman" panose="02020603050405020304" pitchFamily="18" charset="0"/>
              </a:rPr>
              <a:t>bytecode</a:t>
            </a:r>
            <a:r>
              <a:rPr lang="en-US" dirty="0">
                <a:latin typeface="Times New Roman" panose="02020603050405020304" pitchFamily="18" charset="0"/>
                <a:cs typeface="Times New Roman" panose="02020603050405020304" pitchFamily="18" charset="0"/>
              </a:rPr>
              <a:t> can be executed</a:t>
            </a:r>
            <a:r>
              <a:rPr lang="en-US" dirty="0" smtClean="0">
                <a:latin typeface="Times New Roman" panose="02020603050405020304" pitchFamily="18" charset="0"/>
                <a:cs typeface="Times New Roman" panose="02020603050405020304" pitchFamily="18" charset="0"/>
              </a:rPr>
              <a:t>.</a:t>
            </a:r>
            <a:endParaRPr lang="en-US" dirty="0" smtClean="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 JVM performs the following main tasks:</a:t>
            </a: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Loads code</a:t>
            </a: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Verifies code</a:t>
            </a: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Executes code</a:t>
            </a: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Provides runtime environment</a:t>
            </a:r>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latin typeface="Times New Roman" panose="02020603050405020304" pitchFamily="18" charset="0"/>
                <a:cs typeface="Times New Roman" panose="02020603050405020304" pitchFamily="18" charset="0"/>
              </a:rPr>
              <a:t>JRE(Java </a:t>
            </a:r>
            <a:r>
              <a:rPr lang="en-US" sz="3200" b="1" dirty="0">
                <a:latin typeface="Times New Roman" panose="02020603050405020304" pitchFamily="18" charset="0"/>
                <a:cs typeface="Times New Roman" panose="02020603050405020304" pitchFamily="18" charset="0"/>
              </a:rPr>
              <a:t>Runtime </a:t>
            </a:r>
            <a:r>
              <a:rPr lang="en-US" sz="3200" b="1" dirty="0" smtClean="0">
                <a:latin typeface="Times New Roman" panose="02020603050405020304" pitchFamily="18" charset="0"/>
                <a:cs typeface="Times New Roman" panose="02020603050405020304" pitchFamily="18" charset="0"/>
              </a:rPr>
              <a:t>Environment)</a:t>
            </a:r>
            <a:endParaRPr lang="en-US" sz="32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 Java Runtime Environment is a set of software tools that are used for developing Java applications. </a:t>
            </a:r>
            <a:endParaRPr lang="en-US"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 It physically exists. It contains a set of libraries + other files that the JVM uses at runtime.</a:t>
            </a:r>
            <a:endParaRPr 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latin typeface="Times New Roman" panose="02020603050405020304" pitchFamily="18" charset="0"/>
                <a:cs typeface="Times New Roman" panose="02020603050405020304" pitchFamily="18" charset="0"/>
              </a:rPr>
              <a:t>JDK(Java </a:t>
            </a:r>
            <a:r>
              <a:rPr lang="en-US" sz="3200" b="1" dirty="0">
                <a:latin typeface="Times New Roman" panose="02020603050405020304" pitchFamily="18" charset="0"/>
                <a:cs typeface="Times New Roman" panose="02020603050405020304" pitchFamily="18" charset="0"/>
              </a:rPr>
              <a:t>Development </a:t>
            </a:r>
            <a:r>
              <a:rPr lang="en-US" sz="3200" b="1" dirty="0" smtClean="0">
                <a:latin typeface="Times New Roman" panose="02020603050405020304" pitchFamily="18" charset="0"/>
                <a:cs typeface="Times New Roman" panose="02020603050405020304" pitchFamily="18" charset="0"/>
              </a:rPr>
              <a:t>Kit)</a:t>
            </a:r>
            <a:r>
              <a:rPr lang="en-US" sz="3200" b="1" dirty="0">
                <a:latin typeface="Times New Roman" panose="02020603050405020304" pitchFamily="18" charset="0"/>
                <a:cs typeface="Times New Roman" panose="02020603050405020304" pitchFamily="18" charset="0"/>
              </a:rPr>
              <a:t> </a:t>
            </a:r>
            <a:endParaRPr lang="en-US" sz="32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44395" y="5471030"/>
            <a:ext cx="10515600" cy="4351338"/>
          </a:xfrm>
        </p:spPr>
        <p:txBody>
          <a:bodyPr/>
          <a:lstStyle/>
          <a:p>
            <a:r>
              <a:rPr lang="en-US" dirty="0"/>
              <a:t> It contains JRE + development tools</a:t>
            </a:r>
            <a:r>
              <a:rPr lang="en-US" dirty="0" smtClean="0"/>
              <a:t>.</a:t>
            </a:r>
            <a:endParaRPr lang="en-US" dirty="0" smtClean="0"/>
          </a:p>
          <a:p>
            <a:endParaRPr lang="en-US" dirty="0"/>
          </a:p>
        </p:txBody>
      </p:sp>
      <p:pic>
        <p:nvPicPr>
          <p:cNvPr id="9218" name="Picture 2" descr="JDK"/>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77488" y="1690688"/>
            <a:ext cx="5895975" cy="344805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latin typeface="Times New Roman" panose="02020603050405020304" pitchFamily="18" charset="0"/>
                <a:cs typeface="Times New Roman" panose="02020603050405020304" pitchFamily="18" charset="0"/>
              </a:rPr>
              <a:t>JVM Architecture</a:t>
            </a:r>
            <a:endParaRPr lang="en-US" sz="3200" b="1" dirty="0">
              <a:latin typeface="Times New Roman" panose="02020603050405020304" pitchFamily="18" charset="0"/>
              <a:cs typeface="Times New Roman" panose="02020603050405020304" pitchFamily="18" charset="0"/>
            </a:endParaRPr>
          </a:p>
        </p:txBody>
      </p:sp>
      <p:pic>
        <p:nvPicPr>
          <p:cNvPr id="11266" name="Picture 2" descr="JVM Architecture"/>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bwMode="auto">
          <a:xfrm>
            <a:off x="2272072" y="1777116"/>
            <a:ext cx="4714875" cy="3810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a:latin typeface="Times New Roman" panose="02020603050405020304" pitchFamily="18" charset="0"/>
                <a:cs typeface="Times New Roman" panose="02020603050405020304" pitchFamily="18" charset="0"/>
              </a:rPr>
              <a:t>Variable</a:t>
            </a:r>
            <a:endParaRPr lang="en-US" sz="32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A variable is the name of a reserved area allocated in memory. </a:t>
            </a:r>
            <a:endParaRPr lang="en-US"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Types of </a:t>
            </a:r>
            <a:r>
              <a:rPr lang="en-US" dirty="0" smtClean="0">
                <a:latin typeface="Times New Roman" panose="02020603050405020304" pitchFamily="18" charset="0"/>
                <a:cs typeface="Times New Roman" panose="02020603050405020304" pitchFamily="18" charset="0"/>
              </a:rPr>
              <a:t>Variables: There </a:t>
            </a:r>
            <a:r>
              <a:rPr lang="en-US" dirty="0">
                <a:latin typeface="Times New Roman" panose="02020603050405020304" pitchFamily="18" charset="0"/>
                <a:cs typeface="Times New Roman" panose="02020603050405020304" pitchFamily="18" charset="0"/>
              </a:rPr>
              <a:t>are three types of variables in Java:</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local variable</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instance variable</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static variable</a:t>
            </a:r>
            <a:endParaRPr lang="en-US" dirty="0">
              <a:latin typeface="Times New Roman" panose="02020603050405020304" pitchFamily="18" charset="0"/>
              <a:cs typeface="Times New Roman" panose="02020603050405020304" pitchFamily="18" charset="0"/>
            </a:endParaRPr>
          </a:p>
          <a:p>
            <a:pPr marL="0" indent="0">
              <a:buNone/>
            </a:pPr>
            <a:br>
              <a:rPr lang="en-US" dirty="0" smtClean="0"/>
            </a:br>
            <a:endParaRPr lang="en-US" dirty="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latin typeface="Times New Roman" panose="02020603050405020304" pitchFamily="18" charset="0"/>
                <a:cs typeface="Times New Roman" panose="02020603050405020304" pitchFamily="18" charset="0"/>
              </a:rPr>
              <a:t>Data Types in Java</a:t>
            </a:r>
            <a:endParaRPr lang="en-US" sz="3200" b="1" dirty="0">
              <a:latin typeface="Times New Roman" panose="02020603050405020304" pitchFamily="18" charset="0"/>
              <a:cs typeface="Times New Roman" panose="02020603050405020304" pitchFamily="18" charset="0"/>
            </a:endParaRPr>
          </a:p>
        </p:txBody>
      </p:sp>
      <p:pic>
        <p:nvPicPr>
          <p:cNvPr id="12290" name="Picture 2" descr="Java Data Types"/>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bwMode="auto">
          <a:xfrm>
            <a:off x="1604885" y="1690688"/>
            <a:ext cx="6825628" cy="435133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latin typeface="Times New Roman" panose="02020603050405020304" pitchFamily="18" charset="0"/>
                <a:cs typeface="Times New Roman" panose="02020603050405020304" pitchFamily="18" charset="0"/>
              </a:rPr>
              <a:t>Java Operators</a:t>
            </a:r>
            <a:endParaRPr lang="en-US" sz="32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lnSpcReduction="10000"/>
          </a:bodyPr>
          <a:lstStyle/>
          <a:p>
            <a:pPr marL="0" indent="0">
              <a:buNone/>
            </a:pPr>
            <a:r>
              <a:rPr lang="en-US" dirty="0" smtClean="0"/>
              <a:t>Here </a:t>
            </a:r>
            <a:r>
              <a:rPr lang="en-US" dirty="0"/>
              <a:t>are mainly eight types of operators in Java:</a:t>
            </a:r>
            <a:endParaRPr lang="en-US" dirty="0"/>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Unary Operator</a:t>
            </a: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Arithmetic Operator</a:t>
            </a: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Relational Operator</a:t>
            </a: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Ternary Operator</a:t>
            </a: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Assignment Operator</a:t>
            </a: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Bitwise Operator</a:t>
            </a: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Logical Operator</a:t>
            </a: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Shift Operator</a:t>
            </a:r>
            <a:endParaRPr 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Anatomy of a Java Program</a:t>
            </a:r>
            <a:endParaRPr lang="en-US" dirty="0"/>
          </a:p>
        </p:txBody>
      </p:sp>
      <p:sp>
        <p:nvSpPr>
          <p:cNvPr id="3" name="Content Placeholder 2"/>
          <p:cNvSpPr>
            <a:spLocks noGrp="1"/>
          </p:cNvSpPr>
          <p:nvPr>
            <p:ph idx="1"/>
          </p:nvPr>
        </p:nvSpPr>
        <p:spPr/>
        <p:txBody>
          <a:bodyPr>
            <a:normAutofit lnSpcReduction="10000"/>
          </a:bodyPr>
          <a:lstStyle/>
          <a:p>
            <a:r>
              <a:rPr lang="en-US" dirty="0" smtClean="0">
                <a:solidFill>
                  <a:schemeClr val="tx2"/>
                </a:solidFill>
              </a:rPr>
              <a:t>Comments</a:t>
            </a:r>
            <a:endParaRPr lang="en-US" dirty="0" smtClean="0">
              <a:solidFill>
                <a:schemeClr val="tx2"/>
              </a:solidFill>
            </a:endParaRPr>
          </a:p>
          <a:p>
            <a:r>
              <a:rPr lang="en-US" dirty="0" smtClean="0">
                <a:solidFill>
                  <a:schemeClr val="tx2"/>
                </a:solidFill>
              </a:rPr>
              <a:t>Reserved words</a:t>
            </a:r>
            <a:endParaRPr lang="en-US" dirty="0" smtClean="0">
              <a:solidFill>
                <a:schemeClr val="tx2"/>
              </a:solidFill>
            </a:endParaRPr>
          </a:p>
          <a:p>
            <a:r>
              <a:rPr lang="en-US" dirty="0" smtClean="0">
                <a:solidFill>
                  <a:schemeClr val="tx2"/>
                </a:solidFill>
              </a:rPr>
              <a:t>Modifiers</a:t>
            </a:r>
            <a:endParaRPr lang="en-US" dirty="0" smtClean="0">
              <a:solidFill>
                <a:schemeClr val="tx2"/>
              </a:solidFill>
            </a:endParaRPr>
          </a:p>
          <a:p>
            <a:r>
              <a:rPr lang="en-US" dirty="0" smtClean="0">
                <a:solidFill>
                  <a:schemeClr val="tx2"/>
                </a:solidFill>
              </a:rPr>
              <a:t>Statements</a:t>
            </a:r>
            <a:endParaRPr lang="en-US" dirty="0" smtClean="0">
              <a:solidFill>
                <a:schemeClr val="tx2"/>
              </a:solidFill>
            </a:endParaRPr>
          </a:p>
          <a:p>
            <a:r>
              <a:rPr lang="en-US" dirty="0" smtClean="0">
                <a:solidFill>
                  <a:schemeClr val="tx2"/>
                </a:solidFill>
              </a:rPr>
              <a:t>Blocks</a:t>
            </a:r>
            <a:endParaRPr lang="en-US" dirty="0" smtClean="0">
              <a:solidFill>
                <a:schemeClr val="tx2"/>
              </a:solidFill>
            </a:endParaRPr>
          </a:p>
          <a:p>
            <a:r>
              <a:rPr lang="en-US" dirty="0" smtClean="0">
                <a:solidFill>
                  <a:schemeClr val="tx2"/>
                </a:solidFill>
              </a:rPr>
              <a:t>Classes</a:t>
            </a:r>
            <a:endParaRPr lang="en-US" dirty="0" smtClean="0">
              <a:solidFill>
                <a:schemeClr val="tx2"/>
              </a:solidFill>
            </a:endParaRPr>
          </a:p>
          <a:p>
            <a:r>
              <a:rPr lang="en-US" dirty="0" smtClean="0">
                <a:solidFill>
                  <a:schemeClr val="tx2"/>
                </a:solidFill>
              </a:rPr>
              <a:t>Methods</a:t>
            </a:r>
            <a:endParaRPr lang="en-US" dirty="0" smtClean="0">
              <a:solidFill>
                <a:schemeClr val="tx2"/>
              </a:solidFill>
            </a:endParaRPr>
          </a:p>
          <a:p>
            <a:r>
              <a:rPr lang="en-US" dirty="0" smtClean="0">
                <a:solidFill>
                  <a:schemeClr val="tx2"/>
                </a:solidFill>
              </a:rPr>
              <a:t>The main method</a:t>
            </a:r>
            <a:endParaRPr lang="en-US" dirty="0" smtClean="0">
              <a:solidFill>
                <a:schemeClr val="tx2"/>
              </a:solidFill>
            </a:endParaRPr>
          </a:p>
          <a:p>
            <a:r>
              <a:rPr lang="en-US" dirty="0" smtClean="0">
                <a:solidFill>
                  <a:schemeClr val="tx2"/>
                </a:solidFill>
              </a:rPr>
              <a:t>The exit method</a:t>
            </a:r>
            <a:endParaRPr lang="en-US" dirty="0">
              <a:solidFill>
                <a:schemeClr val="tx2"/>
              </a:solidFill>
            </a:endParaRP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Comments</a:t>
            </a:r>
            <a:endParaRPr lang="en-US" dirty="0"/>
          </a:p>
        </p:txBody>
      </p:sp>
      <p:sp>
        <p:nvSpPr>
          <p:cNvPr id="3" name="Content Placeholder 2"/>
          <p:cNvSpPr>
            <a:spLocks noGrp="1"/>
          </p:cNvSpPr>
          <p:nvPr>
            <p:ph idx="1"/>
          </p:nvPr>
        </p:nvSpPr>
        <p:spPr/>
        <p:txBody>
          <a:bodyPr/>
          <a:lstStyle/>
          <a:p>
            <a:r>
              <a:rPr lang="en-US" dirty="0" smtClean="0">
                <a:solidFill>
                  <a:schemeClr val="tx2"/>
                </a:solidFill>
                <a:latin typeface="Courier" charset="0"/>
                <a:cs typeface="Times New Roman" panose="02020603050405020304" pitchFamily="18" charset="0"/>
              </a:rPr>
              <a:t>In Java, comments are preceded by two slashes (</a:t>
            </a:r>
            <a:r>
              <a:rPr lang="en-US" u="sng" dirty="0" smtClean="0">
                <a:solidFill>
                  <a:schemeClr val="tx2"/>
                </a:solidFill>
                <a:latin typeface="Courier" charset="0"/>
                <a:cs typeface="Times New Roman" panose="02020603050405020304" pitchFamily="18" charset="0"/>
              </a:rPr>
              <a:t>//</a:t>
            </a:r>
            <a:r>
              <a:rPr lang="en-US" dirty="0" smtClean="0">
                <a:solidFill>
                  <a:schemeClr val="tx2"/>
                </a:solidFill>
                <a:latin typeface="Courier" charset="0"/>
                <a:cs typeface="Times New Roman" panose="02020603050405020304" pitchFamily="18" charset="0"/>
              </a:rPr>
              <a:t>) in a line, or enclosed between </a:t>
            </a:r>
            <a:r>
              <a:rPr lang="en-US" u="sng" dirty="0" smtClean="0">
                <a:solidFill>
                  <a:schemeClr val="tx2"/>
                </a:solidFill>
                <a:latin typeface="Courier" charset="0"/>
                <a:cs typeface="Times New Roman" panose="02020603050405020304" pitchFamily="18" charset="0"/>
              </a:rPr>
              <a:t>/*</a:t>
            </a:r>
            <a:r>
              <a:rPr lang="en-US" dirty="0" smtClean="0">
                <a:solidFill>
                  <a:schemeClr val="tx2"/>
                </a:solidFill>
                <a:latin typeface="Courier" charset="0"/>
                <a:cs typeface="Times New Roman" panose="02020603050405020304" pitchFamily="18" charset="0"/>
              </a:rPr>
              <a:t> and </a:t>
            </a:r>
            <a:r>
              <a:rPr lang="en-US" u="sng" dirty="0" smtClean="0">
                <a:solidFill>
                  <a:schemeClr val="tx2"/>
                </a:solidFill>
                <a:latin typeface="Courier" charset="0"/>
                <a:cs typeface="Times New Roman" panose="02020603050405020304" pitchFamily="18" charset="0"/>
              </a:rPr>
              <a:t>*/</a:t>
            </a:r>
            <a:r>
              <a:rPr lang="en-US" dirty="0" smtClean="0">
                <a:solidFill>
                  <a:schemeClr val="tx2"/>
                </a:solidFill>
                <a:latin typeface="Courier" charset="0"/>
                <a:cs typeface="Times New Roman" panose="02020603050405020304" pitchFamily="18" charset="0"/>
              </a:rPr>
              <a:t> in one or multiple lines. When the compiler sees </a:t>
            </a:r>
            <a:r>
              <a:rPr lang="en-US" u="sng" dirty="0" smtClean="0">
                <a:solidFill>
                  <a:schemeClr val="tx2"/>
                </a:solidFill>
                <a:latin typeface="Courier" charset="0"/>
                <a:cs typeface="Times New Roman" panose="02020603050405020304" pitchFamily="18" charset="0"/>
              </a:rPr>
              <a:t>//</a:t>
            </a:r>
            <a:r>
              <a:rPr lang="en-US" dirty="0" smtClean="0">
                <a:solidFill>
                  <a:schemeClr val="tx2"/>
                </a:solidFill>
                <a:latin typeface="Courier" charset="0"/>
                <a:cs typeface="Times New Roman" panose="02020603050405020304" pitchFamily="18" charset="0"/>
              </a:rPr>
              <a:t>, it ignores all text after </a:t>
            </a:r>
            <a:r>
              <a:rPr lang="en-US" u="sng" dirty="0" smtClean="0">
                <a:solidFill>
                  <a:schemeClr val="tx2"/>
                </a:solidFill>
                <a:latin typeface="Courier" charset="0"/>
                <a:cs typeface="Times New Roman" panose="02020603050405020304" pitchFamily="18" charset="0"/>
              </a:rPr>
              <a:t>//</a:t>
            </a:r>
            <a:r>
              <a:rPr lang="en-US" dirty="0" smtClean="0">
                <a:solidFill>
                  <a:schemeClr val="tx2"/>
                </a:solidFill>
                <a:latin typeface="Courier" charset="0"/>
                <a:cs typeface="Times New Roman" panose="02020603050405020304" pitchFamily="18" charset="0"/>
              </a:rPr>
              <a:t> in the same line. When it sees </a:t>
            </a:r>
            <a:r>
              <a:rPr lang="en-US" u="sng" dirty="0" smtClean="0">
                <a:solidFill>
                  <a:schemeClr val="tx2"/>
                </a:solidFill>
                <a:latin typeface="Courier" charset="0"/>
                <a:cs typeface="Times New Roman" panose="02020603050405020304" pitchFamily="18" charset="0"/>
              </a:rPr>
              <a:t>/*</a:t>
            </a:r>
            <a:r>
              <a:rPr lang="en-US" dirty="0" smtClean="0">
                <a:solidFill>
                  <a:schemeClr val="tx2"/>
                </a:solidFill>
                <a:latin typeface="Courier" charset="0"/>
                <a:cs typeface="Times New Roman" panose="02020603050405020304" pitchFamily="18" charset="0"/>
              </a:rPr>
              <a:t>, it scans for the next </a:t>
            </a:r>
            <a:r>
              <a:rPr lang="en-US" u="sng" dirty="0" smtClean="0">
                <a:solidFill>
                  <a:schemeClr val="tx2"/>
                </a:solidFill>
                <a:latin typeface="Courier" charset="0"/>
                <a:cs typeface="Times New Roman" panose="02020603050405020304" pitchFamily="18" charset="0"/>
              </a:rPr>
              <a:t>*/</a:t>
            </a:r>
            <a:r>
              <a:rPr lang="en-US" dirty="0" smtClean="0">
                <a:solidFill>
                  <a:schemeClr val="tx2"/>
                </a:solidFill>
                <a:latin typeface="Courier" charset="0"/>
                <a:cs typeface="Times New Roman" panose="02020603050405020304" pitchFamily="18" charset="0"/>
              </a:rPr>
              <a:t> and</a:t>
            </a:r>
            <a:endParaRPr lang="en-US" dirty="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Reserved Words</a:t>
            </a:r>
            <a:endParaRPr lang="en-US" dirty="0">
              <a:solidFill>
                <a:schemeClr val="tx1"/>
              </a:solidFill>
            </a:endParaRPr>
          </a:p>
        </p:txBody>
      </p:sp>
      <p:sp>
        <p:nvSpPr>
          <p:cNvPr id="3" name="Content Placeholder 2"/>
          <p:cNvSpPr>
            <a:spLocks noGrp="1"/>
          </p:cNvSpPr>
          <p:nvPr>
            <p:ph idx="1"/>
          </p:nvPr>
        </p:nvSpPr>
        <p:spPr/>
        <p:txBody>
          <a:bodyPr/>
          <a:lstStyle/>
          <a:p>
            <a:r>
              <a:rPr lang="en-US" i="1" dirty="0" smtClean="0">
                <a:solidFill>
                  <a:schemeClr val="tx2"/>
                </a:solidFill>
                <a:latin typeface="Courier" charset="0"/>
                <a:cs typeface="Times New Roman" panose="02020603050405020304" pitchFamily="18" charset="0"/>
              </a:rPr>
              <a:t>Reserved words</a:t>
            </a:r>
            <a:r>
              <a:rPr lang="en-US" dirty="0" smtClean="0">
                <a:solidFill>
                  <a:schemeClr val="tx2"/>
                </a:solidFill>
                <a:latin typeface="Courier" charset="0"/>
                <a:cs typeface="Times New Roman" panose="02020603050405020304" pitchFamily="18" charset="0"/>
              </a:rPr>
              <a:t> or </a:t>
            </a:r>
            <a:r>
              <a:rPr lang="en-US" i="1" dirty="0" smtClean="0">
                <a:solidFill>
                  <a:schemeClr val="tx2"/>
                </a:solidFill>
                <a:latin typeface="Courier" charset="0"/>
                <a:cs typeface="Times New Roman" panose="02020603050405020304" pitchFamily="18" charset="0"/>
              </a:rPr>
              <a:t>keywords</a:t>
            </a:r>
            <a:r>
              <a:rPr lang="en-US" dirty="0" smtClean="0">
                <a:solidFill>
                  <a:schemeClr val="tx2"/>
                </a:solidFill>
                <a:latin typeface="Courier" charset="0"/>
                <a:cs typeface="Times New Roman" panose="02020603050405020304" pitchFamily="18" charset="0"/>
              </a:rPr>
              <a:t> are words that have a specific meaning to the compiler and cannot be used for other purposes in the program. For example, when the compiler sees the word </a:t>
            </a:r>
            <a:r>
              <a:rPr lang="en-US" u="sng" dirty="0" smtClean="0">
                <a:solidFill>
                  <a:schemeClr val="tx2"/>
                </a:solidFill>
                <a:latin typeface="Courier" charset="0"/>
                <a:cs typeface="Times New Roman" panose="02020603050405020304" pitchFamily="18" charset="0"/>
              </a:rPr>
              <a:t>class</a:t>
            </a:r>
            <a:r>
              <a:rPr lang="en-US" dirty="0" smtClean="0">
                <a:solidFill>
                  <a:schemeClr val="tx2"/>
                </a:solidFill>
                <a:latin typeface="Courier" charset="0"/>
                <a:cs typeface="Times New Roman" panose="02020603050405020304" pitchFamily="18" charset="0"/>
              </a:rPr>
              <a:t>, it understands that the word after </a:t>
            </a:r>
            <a:r>
              <a:rPr lang="en-US" u="sng" dirty="0" smtClean="0">
                <a:solidFill>
                  <a:schemeClr val="tx2"/>
                </a:solidFill>
                <a:latin typeface="Courier" charset="0"/>
                <a:cs typeface="Times New Roman" panose="02020603050405020304" pitchFamily="18" charset="0"/>
              </a:rPr>
              <a:t>class</a:t>
            </a:r>
            <a:r>
              <a:rPr lang="en-US" dirty="0" smtClean="0">
                <a:solidFill>
                  <a:schemeClr val="tx2"/>
                </a:solidFill>
                <a:latin typeface="Courier" charset="0"/>
                <a:cs typeface="Times New Roman" panose="02020603050405020304" pitchFamily="18" charset="0"/>
              </a:rPr>
              <a:t> is the name for the class. Other reserved words in Example 1.1 are </a:t>
            </a:r>
            <a:r>
              <a:rPr lang="en-US" u="sng" dirty="0" smtClean="0">
                <a:solidFill>
                  <a:schemeClr val="tx2"/>
                </a:solidFill>
                <a:latin typeface="Courier" charset="0"/>
                <a:cs typeface="Times New Roman" panose="02020603050405020304" pitchFamily="18" charset="0"/>
              </a:rPr>
              <a:t>public</a:t>
            </a:r>
            <a:r>
              <a:rPr lang="en-US" dirty="0" smtClean="0">
                <a:solidFill>
                  <a:schemeClr val="tx2"/>
                </a:solidFill>
                <a:latin typeface="Courier" charset="0"/>
                <a:cs typeface="Times New Roman" panose="02020603050405020304" pitchFamily="18" charset="0"/>
              </a:rPr>
              <a:t>, </a:t>
            </a:r>
            <a:r>
              <a:rPr lang="en-US" u="sng" dirty="0" smtClean="0">
                <a:solidFill>
                  <a:schemeClr val="tx2"/>
                </a:solidFill>
                <a:latin typeface="Courier" charset="0"/>
                <a:cs typeface="Times New Roman" panose="02020603050405020304" pitchFamily="18" charset="0"/>
              </a:rPr>
              <a:t>static</a:t>
            </a:r>
            <a:r>
              <a:rPr lang="en-US" dirty="0" smtClean="0">
                <a:solidFill>
                  <a:schemeClr val="tx2"/>
                </a:solidFill>
                <a:latin typeface="Courier" charset="0"/>
                <a:cs typeface="Times New Roman" panose="02020603050405020304" pitchFamily="18" charset="0"/>
              </a:rPr>
              <a:t>, and </a:t>
            </a:r>
            <a:r>
              <a:rPr lang="en-US" u="sng" dirty="0" smtClean="0">
                <a:solidFill>
                  <a:schemeClr val="tx2"/>
                </a:solidFill>
                <a:latin typeface="Courier" charset="0"/>
                <a:cs typeface="Times New Roman" panose="02020603050405020304" pitchFamily="18" charset="0"/>
              </a:rPr>
              <a:t>void</a:t>
            </a:r>
            <a:r>
              <a:rPr lang="en-US" dirty="0" smtClean="0">
                <a:solidFill>
                  <a:schemeClr val="tx2"/>
                </a:solidFill>
                <a:latin typeface="Courier" charset="0"/>
                <a:cs typeface="Times New Roman" panose="02020603050405020304" pitchFamily="18" charset="0"/>
              </a:rPr>
              <a:t>. </a:t>
            </a:r>
            <a:endParaRPr lang="en-US" dirty="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Modifiers</a:t>
            </a:r>
            <a:endParaRPr lang="en-US" dirty="0">
              <a:solidFill>
                <a:schemeClr val="tx1"/>
              </a:solidFill>
            </a:endParaRPr>
          </a:p>
        </p:txBody>
      </p:sp>
      <p:sp>
        <p:nvSpPr>
          <p:cNvPr id="3" name="Content Placeholder 2"/>
          <p:cNvSpPr>
            <a:spLocks noGrp="1"/>
          </p:cNvSpPr>
          <p:nvPr>
            <p:ph idx="1"/>
          </p:nvPr>
        </p:nvSpPr>
        <p:spPr/>
        <p:txBody>
          <a:bodyPr/>
          <a:lstStyle/>
          <a:p>
            <a:pPr marL="0" indent="0">
              <a:buNone/>
            </a:pPr>
            <a:r>
              <a:rPr lang="en-US" dirty="0" smtClean="0">
                <a:solidFill>
                  <a:schemeClr val="tx2"/>
                </a:solidFill>
                <a:latin typeface="Palatino" charset="0"/>
                <a:cs typeface="Times New Roman" panose="02020603050405020304" pitchFamily="18" charset="0"/>
              </a:rPr>
              <a:t>Java uses certain reserved words called </a:t>
            </a:r>
            <a:r>
              <a:rPr lang="en-US" i="1" dirty="0" smtClean="0">
                <a:solidFill>
                  <a:schemeClr val="tx2"/>
                </a:solidFill>
                <a:latin typeface="Palatino" charset="0"/>
                <a:cs typeface="Times New Roman" panose="02020603050405020304" pitchFamily="18" charset="0"/>
              </a:rPr>
              <a:t>modifiers</a:t>
            </a:r>
            <a:r>
              <a:rPr lang="en-US" dirty="0" smtClean="0">
                <a:solidFill>
                  <a:schemeClr val="tx2"/>
                </a:solidFill>
                <a:latin typeface="Palatino" charset="0"/>
                <a:cs typeface="Times New Roman" panose="02020603050405020304" pitchFamily="18" charset="0"/>
              </a:rPr>
              <a:t> that specify the properties of the data, methods, and classes and how they can be used. Examples of modifiers are </a:t>
            </a:r>
            <a:r>
              <a:rPr lang="en-US" u="sng" dirty="0" smtClean="0">
                <a:solidFill>
                  <a:schemeClr val="tx2"/>
                </a:solidFill>
                <a:latin typeface="Palatino" charset="0"/>
                <a:cs typeface="Times New Roman" panose="02020603050405020304" pitchFamily="18" charset="0"/>
              </a:rPr>
              <a:t>public</a:t>
            </a:r>
            <a:r>
              <a:rPr lang="en-US" dirty="0" smtClean="0">
                <a:solidFill>
                  <a:schemeClr val="tx2"/>
                </a:solidFill>
                <a:latin typeface="Palatino" charset="0"/>
                <a:cs typeface="Times New Roman" panose="02020603050405020304" pitchFamily="18" charset="0"/>
              </a:rPr>
              <a:t> and </a:t>
            </a:r>
            <a:r>
              <a:rPr lang="en-US" u="sng" dirty="0" smtClean="0">
                <a:solidFill>
                  <a:schemeClr val="tx2"/>
                </a:solidFill>
                <a:latin typeface="Palatino" charset="0"/>
                <a:cs typeface="Times New Roman" panose="02020603050405020304" pitchFamily="18" charset="0"/>
              </a:rPr>
              <a:t>static</a:t>
            </a:r>
            <a:r>
              <a:rPr lang="en-US" dirty="0" smtClean="0">
                <a:solidFill>
                  <a:schemeClr val="tx2"/>
                </a:solidFill>
                <a:latin typeface="Palatino" charset="0"/>
                <a:cs typeface="Times New Roman" panose="02020603050405020304" pitchFamily="18" charset="0"/>
              </a:rPr>
              <a:t>. Other modifiers are </a:t>
            </a:r>
            <a:r>
              <a:rPr lang="en-US" u="sng" dirty="0" smtClean="0">
                <a:solidFill>
                  <a:schemeClr val="tx2"/>
                </a:solidFill>
                <a:latin typeface="Palatino" charset="0"/>
                <a:cs typeface="Times New Roman" panose="02020603050405020304" pitchFamily="18" charset="0"/>
              </a:rPr>
              <a:t>private</a:t>
            </a:r>
            <a:r>
              <a:rPr lang="en-US" dirty="0" smtClean="0">
                <a:solidFill>
                  <a:schemeClr val="tx2"/>
                </a:solidFill>
                <a:latin typeface="Palatino" charset="0"/>
                <a:cs typeface="Times New Roman" panose="02020603050405020304" pitchFamily="18" charset="0"/>
              </a:rPr>
              <a:t>, </a:t>
            </a:r>
            <a:r>
              <a:rPr lang="en-US" u="sng" dirty="0" smtClean="0">
                <a:solidFill>
                  <a:schemeClr val="tx2"/>
                </a:solidFill>
                <a:latin typeface="Palatino" charset="0"/>
                <a:cs typeface="Times New Roman" panose="02020603050405020304" pitchFamily="18" charset="0"/>
              </a:rPr>
              <a:t>final</a:t>
            </a:r>
            <a:r>
              <a:rPr lang="en-US" dirty="0" smtClean="0">
                <a:solidFill>
                  <a:schemeClr val="tx2"/>
                </a:solidFill>
                <a:latin typeface="Palatino" charset="0"/>
                <a:cs typeface="Times New Roman" panose="02020603050405020304" pitchFamily="18" charset="0"/>
              </a:rPr>
              <a:t>, </a:t>
            </a:r>
            <a:r>
              <a:rPr lang="en-US" u="sng" dirty="0" smtClean="0">
                <a:solidFill>
                  <a:schemeClr val="tx2"/>
                </a:solidFill>
                <a:latin typeface="Palatino" charset="0"/>
                <a:cs typeface="Times New Roman" panose="02020603050405020304" pitchFamily="18" charset="0"/>
              </a:rPr>
              <a:t>abstract</a:t>
            </a:r>
            <a:r>
              <a:rPr lang="en-US" dirty="0" smtClean="0">
                <a:solidFill>
                  <a:schemeClr val="tx2"/>
                </a:solidFill>
                <a:latin typeface="Palatino" charset="0"/>
                <a:cs typeface="Times New Roman" panose="02020603050405020304" pitchFamily="18" charset="0"/>
              </a:rPr>
              <a:t>, and </a:t>
            </a:r>
            <a:r>
              <a:rPr lang="en-US" u="sng" dirty="0" smtClean="0">
                <a:solidFill>
                  <a:schemeClr val="tx2"/>
                </a:solidFill>
                <a:latin typeface="Palatino" charset="0"/>
                <a:cs typeface="Times New Roman" panose="02020603050405020304" pitchFamily="18" charset="0"/>
              </a:rPr>
              <a:t>protected</a:t>
            </a:r>
            <a:r>
              <a:rPr lang="en-US" dirty="0" smtClean="0">
                <a:solidFill>
                  <a:schemeClr val="tx2"/>
                </a:solidFill>
                <a:latin typeface="Palatino" charset="0"/>
                <a:cs typeface="Times New Roman" panose="02020603050405020304" pitchFamily="18" charset="0"/>
              </a:rPr>
              <a:t>. A </a:t>
            </a:r>
            <a:r>
              <a:rPr lang="en-US" u="sng" dirty="0" smtClean="0">
                <a:solidFill>
                  <a:schemeClr val="tx2"/>
                </a:solidFill>
                <a:latin typeface="Palatino" charset="0"/>
                <a:cs typeface="Times New Roman" panose="02020603050405020304" pitchFamily="18" charset="0"/>
              </a:rPr>
              <a:t>public</a:t>
            </a:r>
            <a:r>
              <a:rPr lang="en-US" dirty="0" smtClean="0">
                <a:solidFill>
                  <a:schemeClr val="tx2"/>
                </a:solidFill>
                <a:latin typeface="Palatino" charset="0"/>
                <a:cs typeface="Times New Roman" panose="02020603050405020304" pitchFamily="18" charset="0"/>
              </a:rPr>
              <a:t> datum, method, or class can be accessed by other programs. A </a:t>
            </a:r>
            <a:r>
              <a:rPr lang="en-US" u="sng" dirty="0" smtClean="0">
                <a:solidFill>
                  <a:schemeClr val="tx2"/>
                </a:solidFill>
                <a:latin typeface="Palatino" charset="0"/>
                <a:cs typeface="Times New Roman" panose="02020603050405020304" pitchFamily="18" charset="0"/>
              </a:rPr>
              <a:t>private</a:t>
            </a:r>
            <a:r>
              <a:rPr lang="en-US" dirty="0" smtClean="0">
                <a:solidFill>
                  <a:schemeClr val="tx2"/>
                </a:solidFill>
                <a:latin typeface="Palatino" charset="0"/>
                <a:cs typeface="Times New Roman" panose="02020603050405020304" pitchFamily="18" charset="0"/>
              </a:rPr>
              <a:t> datum or method cannot be accessed by other programs. </a:t>
            </a:r>
            <a:endParaRPr lang="en-US" dirty="0">
              <a:solidFill>
                <a:schemeClr val="tx2"/>
              </a:solidFill>
              <a:latin typeface="Courier" charset="0"/>
              <a:ea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Primitive Data Types and Operations</a:t>
            </a:r>
            <a:endParaRPr lang="en-US" dirty="0"/>
          </a:p>
        </p:txBody>
      </p:sp>
      <p:sp>
        <p:nvSpPr>
          <p:cNvPr id="3" name="Content Placeholder 2"/>
          <p:cNvSpPr>
            <a:spLocks noGrp="1"/>
          </p:cNvSpPr>
          <p:nvPr>
            <p:ph idx="1"/>
          </p:nvPr>
        </p:nvSpPr>
        <p:spPr/>
        <p:txBody>
          <a:bodyPr>
            <a:normAutofit fontScale="92500" lnSpcReduction="10000"/>
          </a:bodyPr>
          <a:lstStyle/>
          <a:p>
            <a:r>
              <a:rPr lang="en-US" sz="2600" dirty="0" smtClean="0"/>
              <a:t>Introduce Programming with an Example</a:t>
            </a:r>
            <a:endParaRPr lang="en-US" sz="2600" dirty="0" smtClean="0"/>
          </a:p>
          <a:p>
            <a:r>
              <a:rPr lang="en-US" sz="2600" dirty="0" smtClean="0"/>
              <a:t>Identifiers, Variables, and Constants</a:t>
            </a:r>
            <a:endParaRPr lang="en-US" sz="2600" dirty="0" smtClean="0"/>
          </a:p>
          <a:p>
            <a:r>
              <a:rPr lang="en-US" sz="2600" dirty="0" smtClean="0"/>
              <a:t>Primitive Data Types </a:t>
            </a:r>
            <a:endParaRPr lang="en-US" sz="2600" dirty="0" smtClean="0"/>
          </a:p>
          <a:p>
            <a:pPr lvl="1"/>
            <a:r>
              <a:rPr lang="en-US" sz="2200" dirty="0" smtClean="0"/>
              <a:t>byte, short, </a:t>
            </a:r>
            <a:r>
              <a:rPr lang="en-US" sz="2200" dirty="0" err="1" smtClean="0"/>
              <a:t>int</a:t>
            </a:r>
            <a:r>
              <a:rPr lang="en-US" sz="2200" dirty="0" smtClean="0"/>
              <a:t>, long, float, double, char, </a:t>
            </a:r>
            <a:r>
              <a:rPr lang="en-US" sz="2200" dirty="0" err="1" smtClean="0"/>
              <a:t>boolean</a:t>
            </a:r>
            <a:endParaRPr lang="en-US" sz="2200" dirty="0" smtClean="0"/>
          </a:p>
          <a:p>
            <a:r>
              <a:rPr lang="en-US" sz="2600" dirty="0" smtClean="0"/>
              <a:t>Expressions</a:t>
            </a:r>
            <a:endParaRPr lang="en-US" sz="2600" dirty="0" smtClean="0"/>
          </a:p>
          <a:p>
            <a:r>
              <a:rPr lang="en-US" sz="2600" dirty="0" smtClean="0"/>
              <a:t>Operators, Precedence, Associativity, Operand Evaluation Order: ++, --, *, /, %, +=, -=, *=, /=, %=, ^, &amp;, |, +, -, </a:t>
            </a:r>
            <a:endParaRPr lang="en-US" sz="2600" dirty="0" smtClean="0"/>
          </a:p>
          <a:p>
            <a:r>
              <a:rPr lang="en-US" sz="2600" dirty="0" smtClean="0">
                <a:latin typeface="Courier" charset="0"/>
                <a:cs typeface="Times New Roman" panose="02020603050405020304" pitchFamily="18" charset="0"/>
              </a:rPr>
              <a:t>Getting Input from Input Dialog Boxes</a:t>
            </a:r>
            <a:r>
              <a:rPr lang="en-US" sz="2600" dirty="0" smtClean="0"/>
              <a:t> </a:t>
            </a:r>
            <a:endParaRPr lang="en-US" sz="2600" dirty="0" smtClean="0"/>
          </a:p>
          <a:p>
            <a:r>
              <a:rPr lang="en-US" sz="2600" dirty="0" smtClean="0"/>
              <a:t>Case Studies </a:t>
            </a:r>
            <a:r>
              <a:rPr lang="en-US" sz="2200" dirty="0" smtClean="0"/>
              <a:t>(Computing Mortgage, and Computing Changes)</a:t>
            </a:r>
            <a:endParaRPr lang="en-US" sz="2200" dirty="0" smtClean="0"/>
          </a:p>
          <a:p>
            <a:r>
              <a:rPr lang="en-US" sz="2600" dirty="0" smtClean="0"/>
              <a:t>Style and Documentation Guidelines</a:t>
            </a:r>
            <a:endParaRPr lang="en-US" sz="2600" dirty="0" smtClean="0"/>
          </a:p>
          <a:p>
            <a:r>
              <a:rPr lang="en-US" sz="2600" dirty="0" smtClean="0"/>
              <a:t>Syntax Errors, Runtime Errors, and Logic Errors</a:t>
            </a:r>
            <a:endParaRPr lang="en-US" sz="2200" dirty="0"/>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Identifiers</a:t>
            </a:r>
            <a:endParaRPr lang="en-US" dirty="0"/>
          </a:p>
        </p:txBody>
      </p:sp>
      <p:sp>
        <p:nvSpPr>
          <p:cNvPr id="3" name="Content Placeholder 2"/>
          <p:cNvSpPr>
            <a:spLocks noGrp="1"/>
          </p:cNvSpPr>
          <p:nvPr>
            <p:ph idx="1"/>
          </p:nvPr>
        </p:nvSpPr>
        <p:spPr/>
        <p:txBody>
          <a:bodyPr>
            <a:normAutofit fontScale="92500" lnSpcReduction="10000"/>
          </a:bodyPr>
          <a:lstStyle/>
          <a:p>
            <a:r>
              <a:rPr lang="en-US" dirty="0">
                <a:latin typeface="Courier" charset="0"/>
                <a:cs typeface="Times New Roman" panose="02020603050405020304" pitchFamily="18" charset="0"/>
              </a:rPr>
              <a:t>An identifier is a sequence of characters that consist of letters, digits, underscores (_), and dollar signs ($).</a:t>
            </a:r>
            <a:r>
              <a:rPr lang="en-US" dirty="0"/>
              <a:t> </a:t>
            </a:r>
            <a:endParaRPr lang="en-US" dirty="0"/>
          </a:p>
          <a:p>
            <a:r>
              <a:rPr lang="en-US" dirty="0">
                <a:latin typeface="Courier" charset="0"/>
                <a:cs typeface="Times New Roman" panose="02020603050405020304" pitchFamily="18" charset="0"/>
              </a:rPr>
              <a:t>An identifier must start with a letter, an underscore (_), or a dollar sign ($). It cannot start with a digit.</a:t>
            </a:r>
            <a:r>
              <a:rPr lang="en-US" dirty="0"/>
              <a:t> </a:t>
            </a:r>
            <a:endParaRPr lang="en-US" dirty="0"/>
          </a:p>
          <a:p>
            <a:r>
              <a:rPr lang="en-US" dirty="0"/>
              <a:t>An identifier cannot be a reserved word. (See Appendix A, “Java Keywords,” for a list of reserved words).</a:t>
            </a:r>
            <a:endParaRPr lang="en-US" dirty="0"/>
          </a:p>
          <a:p>
            <a:r>
              <a:rPr lang="en-US" dirty="0"/>
              <a:t>An identifier cannot be</a:t>
            </a:r>
            <a:r>
              <a:rPr lang="en-US" dirty="0" smtClean="0"/>
              <a:t> </a:t>
            </a:r>
            <a:r>
              <a:rPr lang="en-US" sz="2600" dirty="0" smtClean="0">
                <a:latin typeface="Courier New" panose="02070309020205020404" charset="0"/>
              </a:rPr>
              <a:t>true</a:t>
            </a:r>
            <a:r>
              <a:rPr lang="en-US" dirty="0"/>
              <a:t>, </a:t>
            </a:r>
            <a:r>
              <a:rPr lang="en-US" sz="2600" dirty="0" smtClean="0">
                <a:latin typeface="Courier New" panose="02070309020205020404" charset="0"/>
              </a:rPr>
              <a:t>false</a:t>
            </a:r>
            <a:r>
              <a:rPr lang="en-US" dirty="0"/>
              <a:t>, or</a:t>
            </a:r>
            <a:br>
              <a:rPr lang="en-US" dirty="0"/>
            </a:br>
            <a:r>
              <a:rPr lang="en-US" sz="2600" dirty="0" smtClean="0">
                <a:latin typeface="Courier New" panose="02070309020205020404" charset="0"/>
              </a:rPr>
              <a:t>null</a:t>
            </a:r>
            <a:r>
              <a:rPr lang="en-US" dirty="0"/>
              <a:t>.</a:t>
            </a:r>
            <a:endParaRPr lang="en-US" dirty="0"/>
          </a:p>
          <a:p>
            <a:r>
              <a:rPr lang="en-US" dirty="0"/>
              <a:t>An identifier can be of any length.</a:t>
            </a:r>
            <a:endParaRPr lang="en-US" dirty="0"/>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Declaring Variables</a:t>
            </a:r>
            <a:endParaRPr lang="en-US" dirty="0"/>
          </a:p>
        </p:txBody>
      </p:sp>
      <p:sp>
        <p:nvSpPr>
          <p:cNvPr id="3" name="Content Placeholder 2"/>
          <p:cNvSpPr>
            <a:spLocks noGrp="1"/>
          </p:cNvSpPr>
          <p:nvPr>
            <p:ph idx="1"/>
          </p:nvPr>
        </p:nvSpPr>
        <p:spPr/>
        <p:txBody>
          <a:bodyPr/>
          <a:lstStyle/>
          <a:p>
            <a:pPr>
              <a:buNone/>
            </a:pPr>
            <a:r>
              <a:rPr lang="en-US" dirty="0" err="1" smtClean="0">
                <a:latin typeface="Courier New" panose="02070309020205020404" charset="0"/>
              </a:rPr>
              <a:t>int</a:t>
            </a:r>
            <a:r>
              <a:rPr lang="en-US" dirty="0" smtClean="0">
                <a:latin typeface="Courier New" panose="02070309020205020404" charset="0"/>
              </a:rPr>
              <a:t> x;         // Declare x to be an</a:t>
            </a:r>
            <a:endParaRPr lang="en-US" dirty="0" smtClean="0">
              <a:latin typeface="Courier New" panose="02070309020205020404" charset="0"/>
            </a:endParaRPr>
          </a:p>
          <a:p>
            <a:pPr>
              <a:buNone/>
            </a:pPr>
            <a:r>
              <a:rPr lang="en-US" dirty="0" smtClean="0">
                <a:latin typeface="Courier New" panose="02070309020205020404" charset="0"/>
              </a:rPr>
              <a:t>               // integer variable;</a:t>
            </a:r>
            <a:endParaRPr lang="en-US" dirty="0" smtClean="0">
              <a:latin typeface="Courier New" panose="02070309020205020404" charset="0"/>
            </a:endParaRPr>
          </a:p>
          <a:p>
            <a:pPr>
              <a:spcBef>
                <a:spcPct val="50000"/>
              </a:spcBef>
              <a:buNone/>
            </a:pPr>
            <a:r>
              <a:rPr lang="en-US" dirty="0" smtClean="0">
                <a:latin typeface="Courier New" panose="02070309020205020404" charset="0"/>
              </a:rPr>
              <a:t>double radius; // Declare radius to</a:t>
            </a:r>
            <a:endParaRPr lang="en-US" dirty="0" smtClean="0">
              <a:latin typeface="Courier New" panose="02070309020205020404" charset="0"/>
            </a:endParaRPr>
          </a:p>
          <a:p>
            <a:pPr>
              <a:buNone/>
            </a:pPr>
            <a:r>
              <a:rPr lang="en-US" dirty="0" smtClean="0">
                <a:latin typeface="Courier New" panose="02070309020205020404" charset="0"/>
              </a:rPr>
              <a:t>               // be a double variable;</a:t>
            </a:r>
            <a:endParaRPr lang="en-US" dirty="0" smtClean="0">
              <a:latin typeface="Courier New" panose="02070309020205020404" charset="0"/>
            </a:endParaRPr>
          </a:p>
          <a:p>
            <a:pPr>
              <a:spcBef>
                <a:spcPct val="50000"/>
              </a:spcBef>
              <a:buNone/>
            </a:pPr>
            <a:r>
              <a:rPr lang="en-US" dirty="0" smtClean="0">
                <a:latin typeface="Courier New" panose="02070309020205020404" charset="0"/>
              </a:rPr>
              <a:t>char a;        // Declare a to be a</a:t>
            </a:r>
            <a:endParaRPr lang="en-US" dirty="0" smtClean="0">
              <a:latin typeface="Courier New" panose="02070309020205020404" charset="0"/>
            </a:endParaRPr>
          </a:p>
          <a:p>
            <a:pPr>
              <a:buNone/>
            </a:pPr>
            <a:r>
              <a:rPr lang="en-US" dirty="0" smtClean="0">
                <a:latin typeface="Courier New" panose="02070309020205020404" charset="0"/>
              </a:rPr>
              <a:t>               // character variable;</a:t>
            </a:r>
            <a:endParaRPr lang="en-US" dirty="0"/>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Numerical Data Types (p.33)</a:t>
            </a:r>
            <a:endParaRPr lang="en-US" dirty="0"/>
          </a:p>
        </p:txBody>
      </p:sp>
      <p:sp>
        <p:nvSpPr>
          <p:cNvPr id="3" name="Content Placeholder 2"/>
          <p:cNvSpPr>
            <a:spLocks noGrp="1"/>
          </p:cNvSpPr>
          <p:nvPr>
            <p:ph idx="1"/>
          </p:nvPr>
        </p:nvSpPr>
        <p:spPr/>
        <p:txBody>
          <a:bodyPr/>
          <a:lstStyle/>
          <a:p>
            <a:pPr>
              <a:buNone/>
            </a:pPr>
            <a:r>
              <a:rPr lang="en-US" sz="3000" dirty="0" smtClean="0">
                <a:latin typeface="Courier New" panose="02070309020205020404" charset="0"/>
              </a:rPr>
              <a:t>byte</a:t>
            </a:r>
            <a:r>
              <a:rPr lang="en-US" dirty="0">
                <a:latin typeface="Courier New" panose="02070309020205020404" charset="0"/>
              </a:rPr>
              <a:t>            </a:t>
            </a:r>
            <a:r>
              <a:rPr lang="en-US" dirty="0" smtClean="0"/>
              <a:t>8 bits</a:t>
            </a:r>
            <a:endParaRPr lang="en-US" dirty="0" smtClean="0"/>
          </a:p>
          <a:p>
            <a:pPr>
              <a:spcBef>
                <a:spcPct val="50000"/>
              </a:spcBef>
              <a:buNone/>
            </a:pPr>
            <a:r>
              <a:rPr lang="en-US" sz="3000" dirty="0" smtClean="0">
                <a:latin typeface="Courier New" panose="02070309020205020404" charset="0"/>
              </a:rPr>
              <a:t>short</a:t>
            </a:r>
            <a:r>
              <a:rPr lang="en-US" dirty="0">
                <a:latin typeface="Courier New" panose="02070309020205020404" charset="0"/>
              </a:rPr>
              <a:t>          </a:t>
            </a:r>
            <a:r>
              <a:rPr lang="en-US" dirty="0" smtClean="0"/>
              <a:t>16 bits</a:t>
            </a:r>
            <a:endParaRPr lang="en-US" dirty="0" smtClean="0"/>
          </a:p>
          <a:p>
            <a:pPr>
              <a:spcBef>
                <a:spcPct val="50000"/>
              </a:spcBef>
              <a:buNone/>
            </a:pPr>
            <a:r>
              <a:rPr lang="en-US" sz="3000" dirty="0" err="1" smtClean="0">
                <a:latin typeface="Courier New" panose="02070309020205020404" charset="0"/>
              </a:rPr>
              <a:t>int</a:t>
            </a:r>
            <a:r>
              <a:rPr lang="en-US" dirty="0">
                <a:latin typeface="Courier New" panose="02070309020205020404" charset="0"/>
              </a:rPr>
              <a:t>            </a:t>
            </a:r>
            <a:r>
              <a:rPr lang="en-US" dirty="0" smtClean="0"/>
              <a:t>32 bits</a:t>
            </a:r>
            <a:endParaRPr lang="en-US" dirty="0" smtClean="0"/>
          </a:p>
          <a:p>
            <a:pPr>
              <a:spcBef>
                <a:spcPct val="50000"/>
              </a:spcBef>
              <a:buNone/>
            </a:pPr>
            <a:r>
              <a:rPr lang="en-US" sz="3000" dirty="0" smtClean="0">
                <a:latin typeface="Courier New" panose="02070309020205020404" charset="0"/>
              </a:rPr>
              <a:t>long</a:t>
            </a:r>
            <a:r>
              <a:rPr lang="en-US" dirty="0">
                <a:latin typeface="Courier New" panose="02070309020205020404" charset="0"/>
              </a:rPr>
              <a:t>           </a:t>
            </a:r>
            <a:r>
              <a:rPr lang="en-US" dirty="0" smtClean="0"/>
              <a:t>64 bits</a:t>
            </a:r>
            <a:endParaRPr lang="en-US" dirty="0" smtClean="0"/>
          </a:p>
          <a:p>
            <a:pPr>
              <a:spcBef>
                <a:spcPct val="50000"/>
              </a:spcBef>
              <a:buNone/>
            </a:pPr>
            <a:r>
              <a:rPr lang="en-US" sz="3000" dirty="0" smtClean="0">
                <a:latin typeface="Courier New" panose="02070309020205020404" charset="0"/>
              </a:rPr>
              <a:t>float</a:t>
            </a:r>
            <a:r>
              <a:rPr lang="en-US" dirty="0">
                <a:latin typeface="Courier New" panose="02070309020205020404" charset="0"/>
              </a:rPr>
              <a:t>          </a:t>
            </a:r>
            <a:r>
              <a:rPr lang="en-US" dirty="0" smtClean="0"/>
              <a:t>32 bits</a:t>
            </a:r>
            <a:endParaRPr lang="en-US" dirty="0" smtClean="0"/>
          </a:p>
          <a:p>
            <a:pPr>
              <a:spcBef>
                <a:spcPct val="50000"/>
              </a:spcBef>
              <a:buNone/>
            </a:pPr>
            <a:r>
              <a:rPr lang="en-US" sz="3000" dirty="0" smtClean="0">
                <a:latin typeface="Courier New" panose="02070309020205020404" charset="0"/>
              </a:rPr>
              <a:t>double</a:t>
            </a:r>
            <a:r>
              <a:rPr lang="en-US" dirty="0">
                <a:latin typeface="Courier New" panose="02070309020205020404" charset="0"/>
              </a:rPr>
              <a:t>         </a:t>
            </a:r>
            <a:r>
              <a:rPr lang="en-US" dirty="0" smtClean="0"/>
              <a:t>64 bits</a:t>
            </a:r>
            <a:endParaRPr lang="en-US" dirty="0"/>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graphicFrame>
        <p:nvGraphicFramePr>
          <p:cNvPr id="4" name="Content Placeholder 3"/>
          <p:cNvGraphicFramePr>
            <a:graphicFrameLocks noGrp="1"/>
          </p:cNvGraphicFramePr>
          <p:nvPr>
            <p:ph idx="1"/>
          </p:nvPr>
        </p:nvGraphicFramePr>
        <p:xfrm>
          <a:off x="5065137" y="1815725"/>
          <a:ext cx="2061725" cy="4371138"/>
        </p:xfrm>
        <a:graphic>
          <a:graphicData uri="http://schemas.openxmlformats.org/drawingml/2006/table">
            <a:tbl>
              <a:tblPr/>
              <a:tblGrid>
                <a:gridCol w="373343"/>
                <a:gridCol w="373343"/>
                <a:gridCol w="373343"/>
                <a:gridCol w="568353"/>
                <a:gridCol w="373343"/>
              </a:tblGrid>
              <a:tr h="271222">
                <a:tc>
                  <a:txBody>
                    <a:bodyPr/>
                    <a:lstStyle/>
                    <a:p>
                      <a:pPr algn="l" fontAlgn="t"/>
                      <a:r>
                        <a:rPr lang="en-US" sz="700">
                          <a:solidFill>
                            <a:srgbClr val="FFFFFF"/>
                          </a:solidFill>
                          <a:effectLst/>
                        </a:rPr>
                        <a:t>Type</a:t>
                      </a:r>
                      <a:endParaRPr lang="en-US" sz="700">
                        <a:solidFill>
                          <a:srgbClr val="FFFFFF"/>
                        </a:solidFill>
                        <a:effectLst/>
                      </a:endParaRPr>
                    </a:p>
                  </a:txBody>
                  <a:tcPr marL="29481" marR="29481" marT="29481" marB="29481">
                    <a:lnL w="12700" cap="flat" cmpd="sng" algn="ctr">
                      <a:solidFill>
                        <a:srgbClr val="B0B979"/>
                      </a:solidFill>
                      <a:prstDash val="solid"/>
                      <a:round/>
                      <a:headEnd type="none" w="med" len="med"/>
                      <a:tailEnd type="none" w="med" len="med"/>
                    </a:lnL>
                    <a:lnR w="12700" cap="flat" cmpd="sng" algn="ctr">
                      <a:solidFill>
                        <a:srgbClr val="30347A"/>
                      </a:solidFill>
                      <a:prstDash val="solid"/>
                      <a:round/>
                      <a:headEnd type="none" w="med" len="med"/>
                      <a:tailEnd type="none" w="med" len="med"/>
                    </a:lnR>
                    <a:lnT w="12700" cap="flat" cmpd="sng" algn="ctr">
                      <a:solidFill>
                        <a:srgbClr val="B0B979"/>
                      </a:solidFill>
                      <a:prstDash val="solid"/>
                      <a:round/>
                      <a:headEnd type="none" w="med" len="med"/>
                      <a:tailEnd type="none" w="med" len="med"/>
                    </a:lnT>
                    <a:lnB w="6096" cap="flat" cmpd="sng" algn="ctr">
                      <a:solidFill>
                        <a:srgbClr val="EEF7F0"/>
                      </a:solidFill>
                      <a:prstDash val="solid"/>
                      <a:round/>
                      <a:headEnd type="none" w="med" len="med"/>
                      <a:tailEnd type="none" w="med" len="med"/>
                    </a:lnB>
                    <a:solidFill>
                      <a:srgbClr val="EEF7F0"/>
                    </a:solidFill>
                  </a:tcPr>
                </a:tc>
                <a:tc>
                  <a:txBody>
                    <a:bodyPr/>
                    <a:lstStyle/>
                    <a:p>
                      <a:pPr algn="l" fontAlgn="t"/>
                      <a:r>
                        <a:rPr lang="en-US" sz="700">
                          <a:solidFill>
                            <a:srgbClr val="FFFFFF"/>
                          </a:solidFill>
                          <a:effectLst/>
                        </a:rPr>
                        <a:t>Default Values</a:t>
                      </a:r>
                      <a:endParaRPr lang="en-US" sz="700">
                        <a:solidFill>
                          <a:srgbClr val="FFFFFF"/>
                        </a:solidFill>
                        <a:effectLst/>
                      </a:endParaRPr>
                    </a:p>
                  </a:txBody>
                  <a:tcPr marL="29481" marR="29481" marT="29481" marB="29481">
                    <a:lnL w="12700" cap="flat" cmpd="sng" algn="ctr">
                      <a:solidFill>
                        <a:srgbClr val="30347A"/>
                      </a:solidFill>
                      <a:prstDash val="solid"/>
                      <a:round/>
                      <a:headEnd type="none" w="med" len="med"/>
                      <a:tailEnd type="none" w="med" len="med"/>
                    </a:lnL>
                    <a:lnR w="12700" cap="flat" cmpd="sng" algn="ctr">
                      <a:solidFill>
                        <a:srgbClr val="F0547A"/>
                      </a:solidFill>
                      <a:prstDash val="solid"/>
                      <a:round/>
                      <a:headEnd type="none" w="med" len="med"/>
                      <a:tailEnd type="none" w="med" len="med"/>
                    </a:lnR>
                    <a:lnT w="12700" cap="flat" cmpd="sng" algn="ctr">
                      <a:solidFill>
                        <a:srgbClr val="30347A"/>
                      </a:solidFill>
                      <a:prstDash val="solid"/>
                      <a:round/>
                      <a:headEnd type="none" w="med" len="med"/>
                      <a:tailEnd type="none" w="med" len="med"/>
                    </a:lnT>
                    <a:lnB w="6096" cap="flat" cmpd="sng" algn="ctr">
                      <a:solidFill>
                        <a:srgbClr val="EEF7F0"/>
                      </a:solidFill>
                      <a:prstDash val="solid"/>
                      <a:round/>
                      <a:headEnd type="none" w="med" len="med"/>
                      <a:tailEnd type="none" w="med" len="med"/>
                    </a:lnB>
                    <a:solidFill>
                      <a:srgbClr val="EEF7F0"/>
                    </a:solidFill>
                  </a:tcPr>
                </a:tc>
                <a:tc>
                  <a:txBody>
                    <a:bodyPr/>
                    <a:lstStyle/>
                    <a:p>
                      <a:pPr algn="l" fontAlgn="t"/>
                      <a:r>
                        <a:rPr lang="en-US" sz="700">
                          <a:solidFill>
                            <a:srgbClr val="FFFFFF"/>
                          </a:solidFill>
                          <a:effectLst/>
                        </a:rPr>
                        <a:t>Size</a:t>
                      </a:r>
                      <a:endParaRPr lang="en-US" sz="700">
                        <a:solidFill>
                          <a:srgbClr val="FFFFFF"/>
                        </a:solidFill>
                        <a:effectLst/>
                      </a:endParaRPr>
                    </a:p>
                  </a:txBody>
                  <a:tcPr marL="29481" marR="29481" marT="29481" marB="29481">
                    <a:lnL w="12700" cap="flat" cmpd="sng" algn="ctr">
                      <a:solidFill>
                        <a:srgbClr val="F0547A"/>
                      </a:solidFill>
                      <a:prstDash val="solid"/>
                      <a:round/>
                      <a:headEnd type="none" w="med" len="med"/>
                      <a:tailEnd type="none" w="med" len="med"/>
                    </a:lnL>
                    <a:lnR w="12700" cap="flat" cmpd="sng" algn="ctr">
                      <a:solidFill>
                        <a:srgbClr val="D0A17A"/>
                      </a:solidFill>
                      <a:prstDash val="solid"/>
                      <a:round/>
                      <a:headEnd type="none" w="med" len="med"/>
                      <a:tailEnd type="none" w="med" len="med"/>
                    </a:lnR>
                    <a:lnT w="12700" cap="flat" cmpd="sng" algn="ctr">
                      <a:solidFill>
                        <a:srgbClr val="F0547A"/>
                      </a:solidFill>
                      <a:prstDash val="solid"/>
                      <a:round/>
                      <a:headEnd type="none" w="med" len="med"/>
                      <a:tailEnd type="none" w="med" len="med"/>
                    </a:lnT>
                    <a:lnB w="6096" cap="flat" cmpd="sng" algn="ctr">
                      <a:solidFill>
                        <a:srgbClr val="EEF7F0"/>
                      </a:solidFill>
                      <a:prstDash val="solid"/>
                      <a:round/>
                      <a:headEnd type="none" w="med" len="med"/>
                      <a:tailEnd type="none" w="med" len="med"/>
                    </a:lnB>
                    <a:solidFill>
                      <a:srgbClr val="EEF7F0"/>
                    </a:solidFill>
                  </a:tcPr>
                </a:tc>
                <a:tc>
                  <a:txBody>
                    <a:bodyPr/>
                    <a:lstStyle/>
                    <a:p>
                      <a:pPr algn="l" fontAlgn="t"/>
                      <a:r>
                        <a:rPr lang="en-US" sz="700">
                          <a:solidFill>
                            <a:srgbClr val="FFFFFF"/>
                          </a:solidFill>
                          <a:effectLst/>
                        </a:rPr>
                        <a:t>Range of Values</a:t>
                      </a:r>
                      <a:endParaRPr lang="en-US" sz="700">
                        <a:solidFill>
                          <a:srgbClr val="FFFFFF"/>
                        </a:solidFill>
                        <a:effectLst/>
                      </a:endParaRPr>
                    </a:p>
                  </a:txBody>
                  <a:tcPr marL="29481" marR="29481" marT="29481" marB="29481">
                    <a:lnL w="12700" cap="flat" cmpd="sng" algn="ctr">
                      <a:solidFill>
                        <a:srgbClr val="D0A17A"/>
                      </a:solidFill>
                      <a:prstDash val="solid"/>
                      <a:round/>
                      <a:headEnd type="none" w="med" len="med"/>
                      <a:tailEnd type="none" w="med" len="med"/>
                    </a:lnL>
                    <a:lnR w="12700" cap="flat" cmpd="sng" algn="ctr">
                      <a:solidFill>
                        <a:srgbClr val="20DC86"/>
                      </a:solidFill>
                      <a:prstDash val="solid"/>
                      <a:round/>
                      <a:headEnd type="none" w="med" len="med"/>
                      <a:tailEnd type="none" w="med" len="med"/>
                    </a:lnR>
                    <a:lnT w="12700" cap="flat" cmpd="sng" algn="ctr">
                      <a:solidFill>
                        <a:srgbClr val="D0A17A"/>
                      </a:solidFill>
                      <a:prstDash val="solid"/>
                      <a:round/>
                      <a:headEnd type="none" w="med" len="med"/>
                      <a:tailEnd type="none" w="med" len="med"/>
                    </a:lnT>
                    <a:lnB w="6096" cap="flat" cmpd="sng" algn="ctr">
                      <a:solidFill>
                        <a:srgbClr val="EEF7F0"/>
                      </a:solidFill>
                      <a:prstDash val="solid"/>
                      <a:round/>
                      <a:headEnd type="none" w="med" len="med"/>
                      <a:tailEnd type="none" w="med" len="med"/>
                    </a:lnB>
                    <a:solidFill>
                      <a:srgbClr val="EEF7F0"/>
                    </a:solidFill>
                  </a:tcPr>
                </a:tc>
                <a:tc>
                  <a:txBody>
                    <a:bodyPr/>
                    <a:lstStyle/>
                    <a:p>
                      <a:pPr algn="l" fontAlgn="t"/>
                      <a:r>
                        <a:rPr lang="en-US" sz="700">
                          <a:solidFill>
                            <a:srgbClr val="FFFFFF"/>
                          </a:solidFill>
                          <a:effectLst/>
                        </a:rPr>
                        <a:t>Example</a:t>
                      </a:r>
                      <a:endParaRPr lang="en-US" sz="700">
                        <a:solidFill>
                          <a:srgbClr val="FFFFFF"/>
                        </a:solidFill>
                        <a:effectLst/>
                      </a:endParaRPr>
                    </a:p>
                  </a:txBody>
                  <a:tcPr marL="29481" marR="29481" marT="29481" marB="29481">
                    <a:lnL w="12700" cap="flat" cmpd="sng" algn="ctr">
                      <a:solidFill>
                        <a:srgbClr val="20DC86"/>
                      </a:solidFill>
                      <a:prstDash val="solid"/>
                      <a:round/>
                      <a:headEnd type="none" w="med" len="med"/>
                      <a:tailEnd type="none" w="med" len="med"/>
                    </a:lnL>
                    <a:lnR w="6096" cap="flat" cmpd="sng" algn="ctr">
                      <a:solidFill>
                        <a:srgbClr val="20DC86"/>
                      </a:solidFill>
                      <a:prstDash val="solid"/>
                      <a:round/>
                      <a:headEnd type="none" w="med" len="med"/>
                      <a:tailEnd type="none" w="med" len="med"/>
                    </a:lnR>
                    <a:lnT w="12700" cap="flat" cmpd="sng" algn="ctr">
                      <a:solidFill>
                        <a:srgbClr val="20DC86"/>
                      </a:solidFill>
                      <a:prstDash val="solid"/>
                      <a:round/>
                      <a:headEnd type="none" w="med" len="med"/>
                      <a:tailEnd type="none" w="med" len="med"/>
                    </a:lnT>
                    <a:lnB w="6096" cap="flat" cmpd="sng" algn="ctr">
                      <a:solidFill>
                        <a:srgbClr val="EEF7F0"/>
                      </a:solidFill>
                      <a:prstDash val="solid"/>
                      <a:round/>
                      <a:headEnd type="none" w="med" len="med"/>
                      <a:tailEnd type="none" w="med" len="med"/>
                    </a:lnB>
                    <a:solidFill>
                      <a:srgbClr val="EEF7F0"/>
                    </a:solidFill>
                  </a:tcPr>
                </a:tc>
              </a:tr>
              <a:tr h="377352">
                <a:tc>
                  <a:txBody>
                    <a:bodyPr/>
                    <a:lstStyle/>
                    <a:p>
                      <a:pPr algn="l" fontAlgn="t"/>
                      <a:r>
                        <a:rPr lang="en-US" sz="700" b="1">
                          <a:effectLst/>
                          <a:latin typeface="Inter-Regular"/>
                        </a:rPr>
                        <a:t>boolean</a:t>
                      </a:r>
                      <a:endParaRPr lang="en-US" sz="700">
                        <a:effectLst/>
                        <a:latin typeface="Inter-Regular"/>
                      </a:endParaRPr>
                    </a:p>
                  </a:txBody>
                  <a:tcPr marL="29481" marR="29481" marT="29481" marB="29481">
                    <a:lnL w="6096" cap="flat" cmpd="sng" algn="ctr">
                      <a:solidFill>
                        <a:srgbClr val="DCE8DC"/>
                      </a:solidFill>
                      <a:prstDash val="solid"/>
                      <a:round/>
                      <a:headEnd type="none" w="med" len="med"/>
                      <a:tailEnd type="none" w="med" len="med"/>
                    </a:lnL>
                    <a:lnR w="6096" cap="flat" cmpd="sng" algn="ctr">
                      <a:solidFill>
                        <a:srgbClr val="DCE8DC"/>
                      </a:solidFill>
                      <a:prstDash val="solid"/>
                      <a:round/>
                      <a:headEnd type="none" w="med" len="med"/>
                      <a:tailEnd type="none" w="med" len="med"/>
                    </a:lnR>
                    <a:lnT w="6096" cap="flat" cmpd="sng" algn="ctr">
                      <a:solidFill>
                        <a:srgbClr val="EEF7F0"/>
                      </a:solidFill>
                      <a:prstDash val="solid"/>
                      <a:round/>
                      <a:headEnd type="none" w="med" len="med"/>
                      <a:tailEnd type="none" w="med" len="med"/>
                    </a:lnT>
                    <a:lnB w="6096" cap="flat" cmpd="sng" algn="ctr">
                      <a:solidFill>
                        <a:srgbClr val="EEF7F0"/>
                      </a:solidFill>
                      <a:prstDash val="solid"/>
                      <a:round/>
                      <a:headEnd type="none" w="med" len="med"/>
                      <a:tailEnd type="none" w="med" len="med"/>
                    </a:lnB>
                    <a:solidFill>
                      <a:srgbClr val="FFFFFF"/>
                    </a:solidFill>
                  </a:tcPr>
                </a:tc>
                <a:tc>
                  <a:txBody>
                    <a:bodyPr/>
                    <a:lstStyle/>
                    <a:p>
                      <a:pPr algn="l" fontAlgn="t"/>
                      <a:r>
                        <a:rPr lang="en-US" sz="700">
                          <a:effectLst/>
                          <a:latin typeface="Inter-Regular"/>
                        </a:rPr>
                        <a:t>false</a:t>
                      </a:r>
                      <a:endParaRPr lang="en-US" sz="700">
                        <a:effectLst/>
                        <a:latin typeface="Inter-Regular"/>
                      </a:endParaRPr>
                    </a:p>
                  </a:txBody>
                  <a:tcPr marL="29481" marR="29481" marT="29481" marB="29481">
                    <a:lnL w="6096" cap="flat" cmpd="sng" algn="ctr">
                      <a:solidFill>
                        <a:srgbClr val="DCE8DC"/>
                      </a:solidFill>
                      <a:prstDash val="solid"/>
                      <a:round/>
                      <a:headEnd type="none" w="med" len="med"/>
                      <a:tailEnd type="none" w="med" len="med"/>
                    </a:lnL>
                    <a:lnR w="6096" cap="flat" cmpd="sng" algn="ctr">
                      <a:solidFill>
                        <a:srgbClr val="DCE8DC"/>
                      </a:solidFill>
                      <a:prstDash val="solid"/>
                      <a:round/>
                      <a:headEnd type="none" w="med" len="med"/>
                      <a:tailEnd type="none" w="med" len="med"/>
                    </a:lnR>
                    <a:lnT w="6096" cap="flat" cmpd="sng" algn="ctr">
                      <a:solidFill>
                        <a:srgbClr val="EEF7F0"/>
                      </a:solidFill>
                      <a:prstDash val="solid"/>
                      <a:round/>
                      <a:headEnd type="none" w="med" len="med"/>
                      <a:tailEnd type="none" w="med" len="med"/>
                    </a:lnT>
                    <a:lnB w="6096" cap="flat" cmpd="sng" algn="ctr">
                      <a:solidFill>
                        <a:srgbClr val="EEF7F0"/>
                      </a:solidFill>
                      <a:prstDash val="solid"/>
                      <a:round/>
                      <a:headEnd type="none" w="med" len="med"/>
                      <a:tailEnd type="none" w="med" len="med"/>
                    </a:lnB>
                    <a:solidFill>
                      <a:srgbClr val="FFFFFF"/>
                    </a:solidFill>
                  </a:tcPr>
                </a:tc>
                <a:tc>
                  <a:txBody>
                    <a:bodyPr/>
                    <a:lstStyle/>
                    <a:p>
                      <a:pPr algn="l" fontAlgn="t"/>
                      <a:r>
                        <a:rPr lang="en-US" sz="700">
                          <a:effectLst/>
                          <a:latin typeface="Inter-Regular"/>
                        </a:rPr>
                        <a:t>8 bits</a:t>
                      </a:r>
                      <a:endParaRPr lang="en-US" sz="700">
                        <a:effectLst/>
                        <a:latin typeface="Inter-Regular"/>
                      </a:endParaRPr>
                    </a:p>
                  </a:txBody>
                  <a:tcPr marL="29481" marR="29481" marT="29481" marB="29481">
                    <a:lnL w="6096" cap="flat" cmpd="sng" algn="ctr">
                      <a:solidFill>
                        <a:srgbClr val="DCE8DC"/>
                      </a:solidFill>
                      <a:prstDash val="solid"/>
                      <a:round/>
                      <a:headEnd type="none" w="med" len="med"/>
                      <a:tailEnd type="none" w="med" len="med"/>
                    </a:lnL>
                    <a:lnR w="6096" cap="flat" cmpd="sng" algn="ctr">
                      <a:solidFill>
                        <a:srgbClr val="DCE8DC"/>
                      </a:solidFill>
                      <a:prstDash val="solid"/>
                      <a:round/>
                      <a:headEnd type="none" w="med" len="med"/>
                      <a:tailEnd type="none" w="med" len="med"/>
                    </a:lnR>
                    <a:lnT w="6096" cap="flat" cmpd="sng" algn="ctr">
                      <a:solidFill>
                        <a:srgbClr val="EEF7F0"/>
                      </a:solidFill>
                      <a:prstDash val="solid"/>
                      <a:round/>
                      <a:headEnd type="none" w="med" len="med"/>
                      <a:tailEnd type="none" w="med" len="med"/>
                    </a:lnT>
                    <a:lnB w="6096" cap="flat" cmpd="sng" algn="ctr">
                      <a:solidFill>
                        <a:srgbClr val="EEF7F0"/>
                      </a:solidFill>
                      <a:prstDash val="solid"/>
                      <a:round/>
                      <a:headEnd type="none" w="med" len="med"/>
                      <a:tailEnd type="none" w="med" len="med"/>
                    </a:lnB>
                    <a:solidFill>
                      <a:srgbClr val="FFFFFF"/>
                    </a:solidFill>
                  </a:tcPr>
                </a:tc>
                <a:tc>
                  <a:txBody>
                    <a:bodyPr/>
                    <a:lstStyle/>
                    <a:p>
                      <a:pPr algn="l" fontAlgn="t"/>
                      <a:r>
                        <a:rPr lang="en-US" sz="700">
                          <a:effectLst/>
                          <a:latin typeface="Inter-Regular"/>
                        </a:rPr>
                        <a:t>true, false</a:t>
                      </a:r>
                      <a:endParaRPr lang="en-US" sz="700">
                        <a:effectLst/>
                        <a:latin typeface="Inter-Regular"/>
                      </a:endParaRPr>
                    </a:p>
                  </a:txBody>
                  <a:tcPr marL="29481" marR="29481" marT="29481" marB="29481">
                    <a:lnL w="6096" cap="flat" cmpd="sng" algn="ctr">
                      <a:solidFill>
                        <a:srgbClr val="DCE8DC"/>
                      </a:solidFill>
                      <a:prstDash val="solid"/>
                      <a:round/>
                      <a:headEnd type="none" w="med" len="med"/>
                      <a:tailEnd type="none" w="med" len="med"/>
                    </a:lnL>
                    <a:lnR w="6096" cap="flat" cmpd="sng" algn="ctr">
                      <a:solidFill>
                        <a:srgbClr val="DCE8DC"/>
                      </a:solidFill>
                      <a:prstDash val="solid"/>
                      <a:round/>
                      <a:headEnd type="none" w="med" len="med"/>
                      <a:tailEnd type="none" w="med" len="med"/>
                    </a:lnR>
                    <a:lnT w="6096" cap="flat" cmpd="sng" algn="ctr">
                      <a:solidFill>
                        <a:srgbClr val="EEF7F0"/>
                      </a:solidFill>
                      <a:prstDash val="solid"/>
                      <a:round/>
                      <a:headEnd type="none" w="med" len="med"/>
                      <a:tailEnd type="none" w="med" len="med"/>
                    </a:lnT>
                    <a:lnB w="6096" cap="flat" cmpd="sng" algn="ctr">
                      <a:solidFill>
                        <a:srgbClr val="EEF7F0"/>
                      </a:solidFill>
                      <a:prstDash val="solid"/>
                      <a:round/>
                      <a:headEnd type="none" w="med" len="med"/>
                      <a:tailEnd type="none" w="med" len="med"/>
                    </a:lnB>
                    <a:solidFill>
                      <a:srgbClr val="FFFFFF"/>
                    </a:solidFill>
                  </a:tcPr>
                </a:tc>
                <a:tc>
                  <a:txBody>
                    <a:bodyPr/>
                    <a:lstStyle/>
                    <a:p>
                      <a:pPr algn="l" fontAlgn="t"/>
                      <a:r>
                        <a:rPr lang="en-US" sz="700">
                          <a:effectLst/>
                          <a:latin typeface="Inter-Regular"/>
                        </a:rPr>
                        <a:t>true, false, 0, 1</a:t>
                      </a:r>
                      <a:endParaRPr lang="en-US" sz="700">
                        <a:effectLst/>
                        <a:latin typeface="Inter-Regular"/>
                      </a:endParaRPr>
                    </a:p>
                  </a:txBody>
                  <a:tcPr marL="29481" marR="29481" marT="29481" marB="29481">
                    <a:lnL w="6096" cap="flat" cmpd="sng" algn="ctr">
                      <a:solidFill>
                        <a:srgbClr val="DCE8DC"/>
                      </a:solidFill>
                      <a:prstDash val="solid"/>
                      <a:round/>
                      <a:headEnd type="none" w="med" len="med"/>
                      <a:tailEnd type="none" w="med" len="med"/>
                    </a:lnL>
                    <a:lnR w="6096" cap="flat" cmpd="sng" algn="ctr">
                      <a:solidFill>
                        <a:srgbClr val="EEF7F0"/>
                      </a:solidFill>
                      <a:prstDash val="solid"/>
                      <a:round/>
                      <a:headEnd type="none" w="med" len="med"/>
                      <a:tailEnd type="none" w="med" len="med"/>
                    </a:lnR>
                    <a:lnT w="6096" cap="flat" cmpd="sng" algn="ctr">
                      <a:solidFill>
                        <a:srgbClr val="EEF7F0"/>
                      </a:solidFill>
                      <a:prstDash val="solid"/>
                      <a:round/>
                      <a:headEnd type="none" w="med" len="med"/>
                      <a:tailEnd type="none" w="med" len="med"/>
                    </a:lnT>
                    <a:lnB w="6096" cap="flat" cmpd="sng" algn="ctr">
                      <a:solidFill>
                        <a:srgbClr val="EEF7F0"/>
                      </a:solidFill>
                      <a:prstDash val="solid"/>
                      <a:round/>
                      <a:headEnd type="none" w="med" len="med"/>
                      <a:tailEnd type="none" w="med" len="med"/>
                    </a:lnB>
                    <a:solidFill>
                      <a:srgbClr val="FFFFFF"/>
                    </a:solidFill>
                  </a:tcPr>
                </a:tc>
              </a:tr>
              <a:tr h="165091">
                <a:tc>
                  <a:txBody>
                    <a:bodyPr/>
                    <a:lstStyle/>
                    <a:p>
                      <a:pPr algn="l" fontAlgn="t"/>
                      <a:r>
                        <a:rPr lang="en-US" sz="700" b="1">
                          <a:effectLst/>
                          <a:latin typeface="Inter-Regular"/>
                        </a:rPr>
                        <a:t>byte</a:t>
                      </a:r>
                      <a:endParaRPr lang="en-US" sz="700">
                        <a:effectLst/>
                        <a:latin typeface="Inter-Regular"/>
                      </a:endParaRPr>
                    </a:p>
                  </a:txBody>
                  <a:tcPr marL="29481" marR="29481" marT="29481" marB="29481">
                    <a:lnL w="6096" cap="flat" cmpd="sng" algn="ctr">
                      <a:solidFill>
                        <a:srgbClr val="DCE8DC"/>
                      </a:solidFill>
                      <a:prstDash val="solid"/>
                      <a:round/>
                      <a:headEnd type="none" w="med" len="med"/>
                      <a:tailEnd type="none" w="med" len="med"/>
                    </a:lnL>
                    <a:lnR w="6096" cap="flat" cmpd="sng" algn="ctr">
                      <a:solidFill>
                        <a:srgbClr val="DCE8DC"/>
                      </a:solidFill>
                      <a:prstDash val="solid"/>
                      <a:round/>
                      <a:headEnd type="none" w="med" len="med"/>
                      <a:tailEnd type="none" w="med" len="med"/>
                    </a:lnR>
                    <a:lnT w="6096" cap="flat" cmpd="sng" algn="ctr">
                      <a:solidFill>
                        <a:srgbClr val="EEF7F0"/>
                      </a:solidFill>
                      <a:prstDash val="solid"/>
                      <a:round/>
                      <a:headEnd type="none" w="med" len="med"/>
                      <a:tailEnd type="none" w="med" len="med"/>
                    </a:lnT>
                    <a:lnB w="6096" cap="flat" cmpd="sng" algn="ctr">
                      <a:solidFill>
                        <a:srgbClr val="EEF7F0"/>
                      </a:solidFill>
                      <a:prstDash val="solid"/>
                      <a:round/>
                      <a:headEnd type="none" w="med" len="med"/>
                      <a:tailEnd type="none" w="med" len="med"/>
                    </a:lnB>
                    <a:solidFill>
                      <a:srgbClr val="EEF7F0"/>
                    </a:solidFill>
                  </a:tcPr>
                </a:tc>
                <a:tc>
                  <a:txBody>
                    <a:bodyPr/>
                    <a:lstStyle/>
                    <a:p>
                      <a:pPr algn="l" fontAlgn="t"/>
                      <a:r>
                        <a:rPr lang="en-US" sz="700">
                          <a:effectLst/>
                          <a:latin typeface="Inter-Regular"/>
                        </a:rPr>
                        <a:t>0</a:t>
                      </a:r>
                      <a:endParaRPr lang="en-US" sz="700">
                        <a:effectLst/>
                        <a:latin typeface="Inter-Regular"/>
                      </a:endParaRPr>
                    </a:p>
                  </a:txBody>
                  <a:tcPr marL="29481" marR="29481" marT="29481" marB="29481">
                    <a:lnL w="6096" cap="flat" cmpd="sng" algn="ctr">
                      <a:solidFill>
                        <a:srgbClr val="DCE8DC"/>
                      </a:solidFill>
                      <a:prstDash val="solid"/>
                      <a:round/>
                      <a:headEnd type="none" w="med" len="med"/>
                      <a:tailEnd type="none" w="med" len="med"/>
                    </a:lnL>
                    <a:lnR w="6096" cap="flat" cmpd="sng" algn="ctr">
                      <a:solidFill>
                        <a:srgbClr val="DCE8DC"/>
                      </a:solidFill>
                      <a:prstDash val="solid"/>
                      <a:round/>
                      <a:headEnd type="none" w="med" len="med"/>
                      <a:tailEnd type="none" w="med" len="med"/>
                    </a:lnR>
                    <a:lnT w="6096" cap="flat" cmpd="sng" algn="ctr">
                      <a:solidFill>
                        <a:srgbClr val="EEF7F0"/>
                      </a:solidFill>
                      <a:prstDash val="solid"/>
                      <a:round/>
                      <a:headEnd type="none" w="med" len="med"/>
                      <a:tailEnd type="none" w="med" len="med"/>
                    </a:lnT>
                    <a:lnB w="6096" cap="flat" cmpd="sng" algn="ctr">
                      <a:solidFill>
                        <a:srgbClr val="EEF7F0"/>
                      </a:solidFill>
                      <a:prstDash val="solid"/>
                      <a:round/>
                      <a:headEnd type="none" w="med" len="med"/>
                      <a:tailEnd type="none" w="med" len="med"/>
                    </a:lnB>
                    <a:solidFill>
                      <a:srgbClr val="EEF7F0"/>
                    </a:solidFill>
                  </a:tcPr>
                </a:tc>
                <a:tc>
                  <a:txBody>
                    <a:bodyPr/>
                    <a:lstStyle/>
                    <a:p>
                      <a:pPr algn="l" fontAlgn="t"/>
                      <a:r>
                        <a:rPr lang="en-US" sz="700">
                          <a:effectLst/>
                          <a:latin typeface="Inter-Regular"/>
                        </a:rPr>
                        <a:t>8 bits</a:t>
                      </a:r>
                      <a:endParaRPr lang="en-US" sz="700">
                        <a:effectLst/>
                        <a:latin typeface="Inter-Regular"/>
                      </a:endParaRPr>
                    </a:p>
                  </a:txBody>
                  <a:tcPr marL="29481" marR="29481" marT="29481" marB="29481">
                    <a:lnL w="6096" cap="flat" cmpd="sng" algn="ctr">
                      <a:solidFill>
                        <a:srgbClr val="DCE8DC"/>
                      </a:solidFill>
                      <a:prstDash val="solid"/>
                      <a:round/>
                      <a:headEnd type="none" w="med" len="med"/>
                      <a:tailEnd type="none" w="med" len="med"/>
                    </a:lnL>
                    <a:lnR w="6096" cap="flat" cmpd="sng" algn="ctr">
                      <a:solidFill>
                        <a:srgbClr val="DCE8DC"/>
                      </a:solidFill>
                      <a:prstDash val="solid"/>
                      <a:round/>
                      <a:headEnd type="none" w="med" len="med"/>
                      <a:tailEnd type="none" w="med" len="med"/>
                    </a:lnR>
                    <a:lnT w="6096" cap="flat" cmpd="sng" algn="ctr">
                      <a:solidFill>
                        <a:srgbClr val="EEF7F0"/>
                      </a:solidFill>
                      <a:prstDash val="solid"/>
                      <a:round/>
                      <a:headEnd type="none" w="med" len="med"/>
                      <a:tailEnd type="none" w="med" len="med"/>
                    </a:lnT>
                    <a:lnB w="6096" cap="flat" cmpd="sng" algn="ctr">
                      <a:solidFill>
                        <a:srgbClr val="EEF7F0"/>
                      </a:solidFill>
                      <a:prstDash val="solid"/>
                      <a:round/>
                      <a:headEnd type="none" w="med" len="med"/>
                      <a:tailEnd type="none" w="med" len="med"/>
                    </a:lnB>
                    <a:solidFill>
                      <a:srgbClr val="EEF7F0"/>
                    </a:solidFill>
                  </a:tcPr>
                </a:tc>
                <a:tc>
                  <a:txBody>
                    <a:bodyPr/>
                    <a:lstStyle/>
                    <a:p>
                      <a:pPr algn="l" fontAlgn="t"/>
                      <a:r>
                        <a:rPr lang="en-US" sz="700">
                          <a:effectLst/>
                          <a:latin typeface="Inter-Regular"/>
                        </a:rPr>
                        <a:t>-128 to 127</a:t>
                      </a:r>
                      <a:endParaRPr lang="en-US" sz="700">
                        <a:effectLst/>
                        <a:latin typeface="Inter-Regular"/>
                      </a:endParaRPr>
                    </a:p>
                  </a:txBody>
                  <a:tcPr marL="29481" marR="29481" marT="29481" marB="29481">
                    <a:lnL w="6096" cap="flat" cmpd="sng" algn="ctr">
                      <a:solidFill>
                        <a:srgbClr val="DCE8DC"/>
                      </a:solidFill>
                      <a:prstDash val="solid"/>
                      <a:round/>
                      <a:headEnd type="none" w="med" len="med"/>
                      <a:tailEnd type="none" w="med" len="med"/>
                    </a:lnL>
                    <a:lnR w="6096" cap="flat" cmpd="sng" algn="ctr">
                      <a:solidFill>
                        <a:srgbClr val="DCE8DC"/>
                      </a:solidFill>
                      <a:prstDash val="solid"/>
                      <a:round/>
                      <a:headEnd type="none" w="med" len="med"/>
                      <a:tailEnd type="none" w="med" len="med"/>
                    </a:lnR>
                    <a:lnT w="6096" cap="flat" cmpd="sng" algn="ctr">
                      <a:solidFill>
                        <a:srgbClr val="EEF7F0"/>
                      </a:solidFill>
                      <a:prstDash val="solid"/>
                      <a:round/>
                      <a:headEnd type="none" w="med" len="med"/>
                      <a:tailEnd type="none" w="med" len="med"/>
                    </a:lnT>
                    <a:lnB w="6096" cap="flat" cmpd="sng" algn="ctr">
                      <a:solidFill>
                        <a:srgbClr val="EEF7F0"/>
                      </a:solidFill>
                      <a:prstDash val="solid"/>
                      <a:round/>
                      <a:headEnd type="none" w="med" len="med"/>
                      <a:tailEnd type="none" w="med" len="med"/>
                    </a:lnB>
                    <a:solidFill>
                      <a:srgbClr val="EEF7F0"/>
                    </a:solidFill>
                  </a:tcPr>
                </a:tc>
                <a:tc>
                  <a:txBody>
                    <a:bodyPr/>
                    <a:lstStyle/>
                    <a:p>
                      <a:pPr algn="l" fontAlgn="t"/>
                      <a:r>
                        <a:rPr lang="en-US" sz="700">
                          <a:effectLst/>
                          <a:latin typeface="Inter-Regular"/>
                        </a:rPr>
                        <a:t>-</a:t>
                      </a:r>
                      <a:endParaRPr lang="en-US" sz="700">
                        <a:effectLst/>
                        <a:latin typeface="Inter-Regular"/>
                      </a:endParaRPr>
                    </a:p>
                  </a:txBody>
                  <a:tcPr marL="29481" marR="29481" marT="29481" marB="29481">
                    <a:lnL w="6096" cap="flat" cmpd="sng" algn="ctr">
                      <a:solidFill>
                        <a:srgbClr val="DCE8DC"/>
                      </a:solidFill>
                      <a:prstDash val="solid"/>
                      <a:round/>
                      <a:headEnd type="none" w="med" len="med"/>
                      <a:tailEnd type="none" w="med" len="med"/>
                    </a:lnL>
                    <a:lnR w="6096" cap="flat" cmpd="sng" algn="ctr">
                      <a:solidFill>
                        <a:srgbClr val="EEF7F0"/>
                      </a:solidFill>
                      <a:prstDash val="solid"/>
                      <a:round/>
                      <a:headEnd type="none" w="med" len="med"/>
                      <a:tailEnd type="none" w="med" len="med"/>
                    </a:lnR>
                    <a:lnT w="6096" cap="flat" cmpd="sng" algn="ctr">
                      <a:solidFill>
                        <a:srgbClr val="EEF7F0"/>
                      </a:solidFill>
                      <a:prstDash val="solid"/>
                      <a:round/>
                      <a:headEnd type="none" w="med" len="med"/>
                      <a:tailEnd type="none" w="med" len="med"/>
                    </a:lnT>
                    <a:lnB w="6096" cap="flat" cmpd="sng" algn="ctr">
                      <a:solidFill>
                        <a:srgbClr val="EEF7F0"/>
                      </a:solidFill>
                      <a:prstDash val="solid"/>
                      <a:round/>
                      <a:headEnd type="none" w="med" len="med"/>
                      <a:tailEnd type="none" w="med" len="med"/>
                    </a:lnB>
                    <a:solidFill>
                      <a:srgbClr val="EEF7F0"/>
                    </a:solidFill>
                  </a:tcPr>
                </a:tc>
              </a:tr>
              <a:tr h="589612">
                <a:tc>
                  <a:txBody>
                    <a:bodyPr/>
                    <a:lstStyle/>
                    <a:p>
                      <a:pPr algn="l" fontAlgn="t"/>
                      <a:r>
                        <a:rPr lang="en-US" sz="700" b="1">
                          <a:effectLst/>
                          <a:latin typeface="Inter-Regular"/>
                        </a:rPr>
                        <a:t>char</a:t>
                      </a:r>
                      <a:endParaRPr lang="en-US" sz="700">
                        <a:effectLst/>
                        <a:latin typeface="Inter-Regular"/>
                      </a:endParaRPr>
                    </a:p>
                  </a:txBody>
                  <a:tcPr marL="29481" marR="29481" marT="29481" marB="29481">
                    <a:lnL w="6096" cap="flat" cmpd="sng" algn="ctr">
                      <a:solidFill>
                        <a:srgbClr val="DCE8DC"/>
                      </a:solidFill>
                      <a:prstDash val="solid"/>
                      <a:round/>
                      <a:headEnd type="none" w="med" len="med"/>
                      <a:tailEnd type="none" w="med" len="med"/>
                    </a:lnL>
                    <a:lnR w="6096" cap="flat" cmpd="sng" algn="ctr">
                      <a:solidFill>
                        <a:srgbClr val="DCE8DC"/>
                      </a:solidFill>
                      <a:prstDash val="solid"/>
                      <a:round/>
                      <a:headEnd type="none" w="med" len="med"/>
                      <a:tailEnd type="none" w="med" len="med"/>
                    </a:lnR>
                    <a:lnT w="6096" cap="flat" cmpd="sng" algn="ctr">
                      <a:solidFill>
                        <a:srgbClr val="EEF7F0"/>
                      </a:solidFill>
                      <a:prstDash val="solid"/>
                      <a:round/>
                      <a:headEnd type="none" w="med" len="med"/>
                      <a:tailEnd type="none" w="med" len="med"/>
                    </a:lnT>
                    <a:lnB w="6096" cap="flat" cmpd="sng" algn="ctr">
                      <a:solidFill>
                        <a:srgbClr val="EEF7F0"/>
                      </a:solidFill>
                      <a:prstDash val="solid"/>
                      <a:round/>
                      <a:headEnd type="none" w="med" len="med"/>
                      <a:tailEnd type="none" w="med" len="med"/>
                    </a:lnB>
                    <a:solidFill>
                      <a:srgbClr val="FFFFFF"/>
                    </a:solidFill>
                  </a:tcPr>
                </a:tc>
                <a:tc>
                  <a:txBody>
                    <a:bodyPr/>
                    <a:lstStyle/>
                    <a:p>
                      <a:pPr algn="l" fontAlgn="t"/>
                      <a:r>
                        <a:rPr lang="en-US" sz="700">
                          <a:effectLst/>
                          <a:latin typeface="Inter-Regular"/>
                        </a:rPr>
                        <a:t>\u0000</a:t>
                      </a:r>
                      <a:endParaRPr lang="en-US" sz="700">
                        <a:effectLst/>
                        <a:latin typeface="Inter-Regular"/>
                      </a:endParaRPr>
                    </a:p>
                  </a:txBody>
                  <a:tcPr marL="29481" marR="29481" marT="29481" marB="29481">
                    <a:lnL w="6096" cap="flat" cmpd="sng" algn="ctr">
                      <a:solidFill>
                        <a:srgbClr val="DCE8DC"/>
                      </a:solidFill>
                      <a:prstDash val="solid"/>
                      <a:round/>
                      <a:headEnd type="none" w="med" len="med"/>
                      <a:tailEnd type="none" w="med" len="med"/>
                    </a:lnL>
                    <a:lnR w="6096" cap="flat" cmpd="sng" algn="ctr">
                      <a:solidFill>
                        <a:srgbClr val="DCE8DC"/>
                      </a:solidFill>
                      <a:prstDash val="solid"/>
                      <a:round/>
                      <a:headEnd type="none" w="med" len="med"/>
                      <a:tailEnd type="none" w="med" len="med"/>
                    </a:lnR>
                    <a:lnT w="6096" cap="flat" cmpd="sng" algn="ctr">
                      <a:solidFill>
                        <a:srgbClr val="EEF7F0"/>
                      </a:solidFill>
                      <a:prstDash val="solid"/>
                      <a:round/>
                      <a:headEnd type="none" w="med" len="med"/>
                      <a:tailEnd type="none" w="med" len="med"/>
                    </a:lnT>
                    <a:lnB w="6096" cap="flat" cmpd="sng" algn="ctr">
                      <a:solidFill>
                        <a:srgbClr val="EEF7F0"/>
                      </a:solidFill>
                      <a:prstDash val="solid"/>
                      <a:round/>
                      <a:headEnd type="none" w="med" len="med"/>
                      <a:tailEnd type="none" w="med" len="med"/>
                    </a:lnB>
                    <a:solidFill>
                      <a:srgbClr val="FFFFFF"/>
                    </a:solidFill>
                  </a:tcPr>
                </a:tc>
                <a:tc>
                  <a:txBody>
                    <a:bodyPr/>
                    <a:lstStyle/>
                    <a:p>
                      <a:pPr algn="l" fontAlgn="t"/>
                      <a:r>
                        <a:rPr lang="en-US" sz="700">
                          <a:effectLst/>
                          <a:latin typeface="Inter-Regular"/>
                        </a:rPr>
                        <a:t>16 bits</a:t>
                      </a:r>
                      <a:endParaRPr lang="en-US" sz="700">
                        <a:effectLst/>
                        <a:latin typeface="Inter-Regular"/>
                      </a:endParaRPr>
                    </a:p>
                  </a:txBody>
                  <a:tcPr marL="29481" marR="29481" marT="29481" marB="29481">
                    <a:lnL w="6096" cap="flat" cmpd="sng" algn="ctr">
                      <a:solidFill>
                        <a:srgbClr val="DCE8DC"/>
                      </a:solidFill>
                      <a:prstDash val="solid"/>
                      <a:round/>
                      <a:headEnd type="none" w="med" len="med"/>
                      <a:tailEnd type="none" w="med" len="med"/>
                    </a:lnL>
                    <a:lnR w="6096" cap="flat" cmpd="sng" algn="ctr">
                      <a:solidFill>
                        <a:srgbClr val="DCE8DC"/>
                      </a:solidFill>
                      <a:prstDash val="solid"/>
                      <a:round/>
                      <a:headEnd type="none" w="med" len="med"/>
                      <a:tailEnd type="none" w="med" len="med"/>
                    </a:lnR>
                    <a:lnT w="6096" cap="flat" cmpd="sng" algn="ctr">
                      <a:solidFill>
                        <a:srgbClr val="EEF7F0"/>
                      </a:solidFill>
                      <a:prstDash val="solid"/>
                      <a:round/>
                      <a:headEnd type="none" w="med" len="med"/>
                      <a:tailEnd type="none" w="med" len="med"/>
                    </a:lnT>
                    <a:lnB w="6096" cap="flat" cmpd="sng" algn="ctr">
                      <a:solidFill>
                        <a:srgbClr val="EEF7F0"/>
                      </a:solidFill>
                      <a:prstDash val="solid"/>
                      <a:round/>
                      <a:headEnd type="none" w="med" len="med"/>
                      <a:tailEnd type="none" w="med" len="med"/>
                    </a:lnB>
                    <a:solidFill>
                      <a:srgbClr val="FFFFFF"/>
                    </a:solidFill>
                  </a:tcPr>
                </a:tc>
                <a:tc>
                  <a:txBody>
                    <a:bodyPr/>
                    <a:lstStyle/>
                    <a:p>
                      <a:pPr algn="l" fontAlgn="t"/>
                      <a:r>
                        <a:rPr lang="en-US" sz="700">
                          <a:effectLst/>
                          <a:latin typeface="Inter-Regular"/>
                        </a:rPr>
                        <a:t>Characters Representation of ASCII values</a:t>
                      </a:r>
                      <a:br>
                        <a:rPr lang="en-US" sz="700">
                          <a:effectLst/>
                          <a:latin typeface="Inter-Regular"/>
                        </a:rPr>
                      </a:br>
                      <a:r>
                        <a:rPr lang="en-US" sz="700">
                          <a:effectLst/>
                          <a:latin typeface="Inter-Regular"/>
                        </a:rPr>
                        <a:t>0 to 255</a:t>
                      </a:r>
                      <a:endParaRPr lang="en-US" sz="700">
                        <a:effectLst/>
                        <a:latin typeface="Inter-Regular"/>
                      </a:endParaRPr>
                    </a:p>
                  </a:txBody>
                  <a:tcPr marL="29481" marR="29481" marT="29481" marB="29481">
                    <a:lnL w="6096" cap="flat" cmpd="sng" algn="ctr">
                      <a:solidFill>
                        <a:srgbClr val="DCE8DC"/>
                      </a:solidFill>
                      <a:prstDash val="solid"/>
                      <a:round/>
                      <a:headEnd type="none" w="med" len="med"/>
                      <a:tailEnd type="none" w="med" len="med"/>
                    </a:lnL>
                    <a:lnR w="6096" cap="flat" cmpd="sng" algn="ctr">
                      <a:solidFill>
                        <a:srgbClr val="DCE8DC"/>
                      </a:solidFill>
                      <a:prstDash val="solid"/>
                      <a:round/>
                      <a:headEnd type="none" w="med" len="med"/>
                      <a:tailEnd type="none" w="med" len="med"/>
                    </a:lnR>
                    <a:lnT w="6096" cap="flat" cmpd="sng" algn="ctr">
                      <a:solidFill>
                        <a:srgbClr val="EEF7F0"/>
                      </a:solidFill>
                      <a:prstDash val="solid"/>
                      <a:round/>
                      <a:headEnd type="none" w="med" len="med"/>
                      <a:tailEnd type="none" w="med" len="med"/>
                    </a:lnT>
                    <a:lnB w="6096" cap="flat" cmpd="sng" algn="ctr">
                      <a:solidFill>
                        <a:srgbClr val="EEF7F0"/>
                      </a:solidFill>
                      <a:prstDash val="solid"/>
                      <a:round/>
                      <a:headEnd type="none" w="med" len="med"/>
                      <a:tailEnd type="none" w="med" len="med"/>
                    </a:lnB>
                    <a:solidFill>
                      <a:srgbClr val="FFFFFF"/>
                    </a:solidFill>
                  </a:tcPr>
                </a:tc>
                <a:tc>
                  <a:txBody>
                    <a:bodyPr/>
                    <a:lstStyle/>
                    <a:p>
                      <a:pPr algn="l" fontAlgn="t"/>
                      <a:r>
                        <a:rPr lang="en-US" sz="700">
                          <a:effectLst/>
                          <a:latin typeface="Inter-Regular"/>
                        </a:rPr>
                        <a:t>'z', '\u0041', '\11', '\\', '\', '\n'</a:t>
                      </a:r>
                      <a:endParaRPr lang="en-US" sz="700">
                        <a:effectLst/>
                        <a:latin typeface="Inter-Regular"/>
                      </a:endParaRPr>
                    </a:p>
                  </a:txBody>
                  <a:tcPr marL="29481" marR="29481" marT="29481" marB="29481">
                    <a:lnL w="6096" cap="flat" cmpd="sng" algn="ctr">
                      <a:solidFill>
                        <a:srgbClr val="DCE8DC"/>
                      </a:solidFill>
                      <a:prstDash val="solid"/>
                      <a:round/>
                      <a:headEnd type="none" w="med" len="med"/>
                      <a:tailEnd type="none" w="med" len="med"/>
                    </a:lnL>
                    <a:lnR w="6096" cap="flat" cmpd="sng" algn="ctr">
                      <a:solidFill>
                        <a:srgbClr val="EEF7F0"/>
                      </a:solidFill>
                      <a:prstDash val="solid"/>
                      <a:round/>
                      <a:headEnd type="none" w="med" len="med"/>
                      <a:tailEnd type="none" w="med" len="med"/>
                    </a:lnR>
                    <a:lnT w="6096" cap="flat" cmpd="sng" algn="ctr">
                      <a:solidFill>
                        <a:srgbClr val="EEF7F0"/>
                      </a:solidFill>
                      <a:prstDash val="solid"/>
                      <a:round/>
                      <a:headEnd type="none" w="med" len="med"/>
                      <a:tailEnd type="none" w="med" len="med"/>
                    </a:lnT>
                    <a:lnB w="6096" cap="flat" cmpd="sng" algn="ctr">
                      <a:solidFill>
                        <a:srgbClr val="EEF7F0"/>
                      </a:solidFill>
                      <a:prstDash val="solid"/>
                      <a:round/>
                      <a:headEnd type="none" w="med" len="med"/>
                      <a:tailEnd type="none" w="med" len="med"/>
                    </a:lnB>
                    <a:solidFill>
                      <a:srgbClr val="FFFFFF"/>
                    </a:solidFill>
                  </a:tcPr>
                </a:tc>
              </a:tr>
              <a:tr h="271222">
                <a:tc>
                  <a:txBody>
                    <a:bodyPr/>
                    <a:lstStyle/>
                    <a:p>
                      <a:pPr algn="l" fontAlgn="t"/>
                      <a:r>
                        <a:rPr lang="en-US" sz="700" b="1">
                          <a:effectLst/>
                          <a:latin typeface="Inter-Regular"/>
                        </a:rPr>
                        <a:t>short</a:t>
                      </a:r>
                      <a:endParaRPr lang="en-US" sz="700">
                        <a:effectLst/>
                        <a:latin typeface="Inter-Regular"/>
                      </a:endParaRPr>
                    </a:p>
                  </a:txBody>
                  <a:tcPr marL="29481" marR="29481" marT="29481" marB="29481">
                    <a:lnL w="6096" cap="flat" cmpd="sng" algn="ctr">
                      <a:solidFill>
                        <a:srgbClr val="DCE8DC"/>
                      </a:solidFill>
                      <a:prstDash val="solid"/>
                      <a:round/>
                      <a:headEnd type="none" w="med" len="med"/>
                      <a:tailEnd type="none" w="med" len="med"/>
                    </a:lnL>
                    <a:lnR w="6096" cap="flat" cmpd="sng" algn="ctr">
                      <a:solidFill>
                        <a:srgbClr val="DCE8DC"/>
                      </a:solidFill>
                      <a:prstDash val="solid"/>
                      <a:round/>
                      <a:headEnd type="none" w="med" len="med"/>
                      <a:tailEnd type="none" w="med" len="med"/>
                    </a:lnR>
                    <a:lnT w="6096" cap="flat" cmpd="sng" algn="ctr">
                      <a:solidFill>
                        <a:srgbClr val="EEF7F0"/>
                      </a:solidFill>
                      <a:prstDash val="solid"/>
                      <a:round/>
                      <a:headEnd type="none" w="med" len="med"/>
                      <a:tailEnd type="none" w="med" len="med"/>
                    </a:lnT>
                    <a:lnB w="6096" cap="flat" cmpd="sng" algn="ctr">
                      <a:solidFill>
                        <a:srgbClr val="EEF7F0"/>
                      </a:solidFill>
                      <a:prstDash val="solid"/>
                      <a:round/>
                      <a:headEnd type="none" w="med" len="med"/>
                      <a:tailEnd type="none" w="med" len="med"/>
                    </a:lnB>
                    <a:solidFill>
                      <a:srgbClr val="EEF7F0"/>
                    </a:solidFill>
                  </a:tcPr>
                </a:tc>
                <a:tc>
                  <a:txBody>
                    <a:bodyPr/>
                    <a:lstStyle/>
                    <a:p>
                      <a:pPr algn="l" fontAlgn="t"/>
                      <a:r>
                        <a:rPr lang="en-US" sz="700">
                          <a:effectLst/>
                          <a:latin typeface="Inter-Regular"/>
                        </a:rPr>
                        <a:t>0</a:t>
                      </a:r>
                      <a:endParaRPr lang="en-US" sz="700">
                        <a:effectLst/>
                        <a:latin typeface="Inter-Regular"/>
                      </a:endParaRPr>
                    </a:p>
                  </a:txBody>
                  <a:tcPr marL="29481" marR="29481" marT="29481" marB="29481">
                    <a:lnL w="6096" cap="flat" cmpd="sng" algn="ctr">
                      <a:solidFill>
                        <a:srgbClr val="DCE8DC"/>
                      </a:solidFill>
                      <a:prstDash val="solid"/>
                      <a:round/>
                      <a:headEnd type="none" w="med" len="med"/>
                      <a:tailEnd type="none" w="med" len="med"/>
                    </a:lnL>
                    <a:lnR w="6096" cap="flat" cmpd="sng" algn="ctr">
                      <a:solidFill>
                        <a:srgbClr val="DCE8DC"/>
                      </a:solidFill>
                      <a:prstDash val="solid"/>
                      <a:round/>
                      <a:headEnd type="none" w="med" len="med"/>
                      <a:tailEnd type="none" w="med" len="med"/>
                    </a:lnR>
                    <a:lnT w="6096" cap="flat" cmpd="sng" algn="ctr">
                      <a:solidFill>
                        <a:srgbClr val="EEF7F0"/>
                      </a:solidFill>
                      <a:prstDash val="solid"/>
                      <a:round/>
                      <a:headEnd type="none" w="med" len="med"/>
                      <a:tailEnd type="none" w="med" len="med"/>
                    </a:lnT>
                    <a:lnB w="6096" cap="flat" cmpd="sng" algn="ctr">
                      <a:solidFill>
                        <a:srgbClr val="EEF7F0"/>
                      </a:solidFill>
                      <a:prstDash val="solid"/>
                      <a:round/>
                      <a:headEnd type="none" w="med" len="med"/>
                      <a:tailEnd type="none" w="med" len="med"/>
                    </a:lnB>
                    <a:solidFill>
                      <a:srgbClr val="EEF7F0"/>
                    </a:solidFill>
                  </a:tcPr>
                </a:tc>
                <a:tc>
                  <a:txBody>
                    <a:bodyPr/>
                    <a:lstStyle/>
                    <a:p>
                      <a:pPr algn="l" fontAlgn="t"/>
                      <a:r>
                        <a:rPr lang="en-US" sz="700">
                          <a:effectLst/>
                          <a:latin typeface="Inter-Regular"/>
                        </a:rPr>
                        <a:t>16 bits</a:t>
                      </a:r>
                      <a:endParaRPr lang="en-US" sz="700">
                        <a:effectLst/>
                        <a:latin typeface="Inter-Regular"/>
                      </a:endParaRPr>
                    </a:p>
                  </a:txBody>
                  <a:tcPr marL="29481" marR="29481" marT="29481" marB="29481">
                    <a:lnL w="6096" cap="flat" cmpd="sng" algn="ctr">
                      <a:solidFill>
                        <a:srgbClr val="DCE8DC"/>
                      </a:solidFill>
                      <a:prstDash val="solid"/>
                      <a:round/>
                      <a:headEnd type="none" w="med" len="med"/>
                      <a:tailEnd type="none" w="med" len="med"/>
                    </a:lnL>
                    <a:lnR w="6096" cap="flat" cmpd="sng" algn="ctr">
                      <a:solidFill>
                        <a:srgbClr val="DCE8DC"/>
                      </a:solidFill>
                      <a:prstDash val="solid"/>
                      <a:round/>
                      <a:headEnd type="none" w="med" len="med"/>
                      <a:tailEnd type="none" w="med" len="med"/>
                    </a:lnR>
                    <a:lnT w="6096" cap="flat" cmpd="sng" algn="ctr">
                      <a:solidFill>
                        <a:srgbClr val="EEF7F0"/>
                      </a:solidFill>
                      <a:prstDash val="solid"/>
                      <a:round/>
                      <a:headEnd type="none" w="med" len="med"/>
                      <a:tailEnd type="none" w="med" len="med"/>
                    </a:lnT>
                    <a:lnB w="6096" cap="flat" cmpd="sng" algn="ctr">
                      <a:solidFill>
                        <a:srgbClr val="EEF7F0"/>
                      </a:solidFill>
                      <a:prstDash val="solid"/>
                      <a:round/>
                      <a:headEnd type="none" w="med" len="med"/>
                      <a:tailEnd type="none" w="med" len="med"/>
                    </a:lnB>
                    <a:solidFill>
                      <a:srgbClr val="EEF7F0"/>
                    </a:solidFill>
                  </a:tcPr>
                </a:tc>
                <a:tc>
                  <a:txBody>
                    <a:bodyPr/>
                    <a:lstStyle/>
                    <a:p>
                      <a:pPr algn="l" fontAlgn="t"/>
                      <a:r>
                        <a:rPr lang="en-US" sz="700">
                          <a:effectLst/>
                          <a:latin typeface="Inter-Regular"/>
                        </a:rPr>
                        <a:t>-32,768 to 32,767</a:t>
                      </a:r>
                      <a:endParaRPr lang="en-US" sz="700">
                        <a:effectLst/>
                        <a:latin typeface="Inter-Regular"/>
                      </a:endParaRPr>
                    </a:p>
                  </a:txBody>
                  <a:tcPr marL="29481" marR="29481" marT="29481" marB="29481">
                    <a:lnL w="6096" cap="flat" cmpd="sng" algn="ctr">
                      <a:solidFill>
                        <a:srgbClr val="DCE8DC"/>
                      </a:solidFill>
                      <a:prstDash val="solid"/>
                      <a:round/>
                      <a:headEnd type="none" w="med" len="med"/>
                      <a:tailEnd type="none" w="med" len="med"/>
                    </a:lnL>
                    <a:lnR w="6096" cap="flat" cmpd="sng" algn="ctr">
                      <a:solidFill>
                        <a:srgbClr val="DCE8DC"/>
                      </a:solidFill>
                      <a:prstDash val="solid"/>
                      <a:round/>
                      <a:headEnd type="none" w="med" len="med"/>
                      <a:tailEnd type="none" w="med" len="med"/>
                    </a:lnR>
                    <a:lnT w="6096" cap="flat" cmpd="sng" algn="ctr">
                      <a:solidFill>
                        <a:srgbClr val="EEF7F0"/>
                      </a:solidFill>
                      <a:prstDash val="solid"/>
                      <a:round/>
                      <a:headEnd type="none" w="med" len="med"/>
                      <a:tailEnd type="none" w="med" len="med"/>
                    </a:lnT>
                    <a:lnB w="6096" cap="flat" cmpd="sng" algn="ctr">
                      <a:solidFill>
                        <a:srgbClr val="EEF7F0"/>
                      </a:solidFill>
                      <a:prstDash val="solid"/>
                      <a:round/>
                      <a:headEnd type="none" w="med" len="med"/>
                      <a:tailEnd type="none" w="med" len="med"/>
                    </a:lnB>
                    <a:solidFill>
                      <a:srgbClr val="EEF7F0"/>
                    </a:solidFill>
                  </a:tcPr>
                </a:tc>
                <a:tc>
                  <a:txBody>
                    <a:bodyPr/>
                    <a:lstStyle/>
                    <a:p>
                      <a:pPr algn="l" fontAlgn="t"/>
                      <a:r>
                        <a:rPr lang="en-US" sz="700">
                          <a:effectLst/>
                          <a:latin typeface="Inter-Regular"/>
                        </a:rPr>
                        <a:t>-</a:t>
                      </a:r>
                      <a:endParaRPr lang="en-US" sz="700">
                        <a:effectLst/>
                        <a:latin typeface="Inter-Regular"/>
                      </a:endParaRPr>
                    </a:p>
                  </a:txBody>
                  <a:tcPr marL="29481" marR="29481" marT="29481" marB="29481">
                    <a:lnL w="6096" cap="flat" cmpd="sng" algn="ctr">
                      <a:solidFill>
                        <a:srgbClr val="DCE8DC"/>
                      </a:solidFill>
                      <a:prstDash val="solid"/>
                      <a:round/>
                      <a:headEnd type="none" w="med" len="med"/>
                      <a:tailEnd type="none" w="med" len="med"/>
                    </a:lnL>
                    <a:lnR w="6096" cap="flat" cmpd="sng" algn="ctr">
                      <a:solidFill>
                        <a:srgbClr val="EEF7F0"/>
                      </a:solidFill>
                      <a:prstDash val="solid"/>
                      <a:round/>
                      <a:headEnd type="none" w="med" len="med"/>
                      <a:tailEnd type="none" w="med" len="med"/>
                    </a:lnR>
                    <a:lnT w="6096" cap="flat" cmpd="sng" algn="ctr">
                      <a:solidFill>
                        <a:srgbClr val="EEF7F0"/>
                      </a:solidFill>
                      <a:prstDash val="solid"/>
                      <a:round/>
                      <a:headEnd type="none" w="med" len="med"/>
                      <a:tailEnd type="none" w="med" len="med"/>
                    </a:lnT>
                    <a:lnB w="6096" cap="flat" cmpd="sng" algn="ctr">
                      <a:solidFill>
                        <a:srgbClr val="EEF7F0"/>
                      </a:solidFill>
                      <a:prstDash val="solid"/>
                      <a:round/>
                      <a:headEnd type="none" w="med" len="med"/>
                      <a:tailEnd type="none" w="med" len="med"/>
                    </a:lnB>
                    <a:solidFill>
                      <a:srgbClr val="EEF7F0"/>
                    </a:solidFill>
                  </a:tcPr>
                </a:tc>
              </a:tr>
              <a:tr h="695742">
                <a:tc>
                  <a:txBody>
                    <a:bodyPr/>
                    <a:lstStyle/>
                    <a:p>
                      <a:pPr algn="l" fontAlgn="t"/>
                      <a:r>
                        <a:rPr lang="en-US" sz="700" b="1">
                          <a:effectLst/>
                          <a:latin typeface="Inter-Regular"/>
                        </a:rPr>
                        <a:t>int</a:t>
                      </a:r>
                      <a:endParaRPr lang="en-US" sz="700">
                        <a:effectLst/>
                        <a:latin typeface="Inter-Regular"/>
                      </a:endParaRPr>
                    </a:p>
                  </a:txBody>
                  <a:tcPr marL="29481" marR="29481" marT="29481" marB="29481">
                    <a:lnL w="6096" cap="flat" cmpd="sng" algn="ctr">
                      <a:solidFill>
                        <a:srgbClr val="DCE8DC"/>
                      </a:solidFill>
                      <a:prstDash val="solid"/>
                      <a:round/>
                      <a:headEnd type="none" w="med" len="med"/>
                      <a:tailEnd type="none" w="med" len="med"/>
                    </a:lnL>
                    <a:lnR w="6096" cap="flat" cmpd="sng" algn="ctr">
                      <a:solidFill>
                        <a:srgbClr val="DCE8DC"/>
                      </a:solidFill>
                      <a:prstDash val="solid"/>
                      <a:round/>
                      <a:headEnd type="none" w="med" len="med"/>
                      <a:tailEnd type="none" w="med" len="med"/>
                    </a:lnR>
                    <a:lnT w="6096" cap="flat" cmpd="sng" algn="ctr">
                      <a:solidFill>
                        <a:srgbClr val="EEF7F0"/>
                      </a:solidFill>
                      <a:prstDash val="solid"/>
                      <a:round/>
                      <a:headEnd type="none" w="med" len="med"/>
                      <a:tailEnd type="none" w="med" len="med"/>
                    </a:lnT>
                    <a:lnB w="6096" cap="flat" cmpd="sng" algn="ctr">
                      <a:solidFill>
                        <a:srgbClr val="EEF7F0"/>
                      </a:solidFill>
                      <a:prstDash val="solid"/>
                      <a:round/>
                      <a:headEnd type="none" w="med" len="med"/>
                      <a:tailEnd type="none" w="med" len="med"/>
                    </a:lnB>
                    <a:solidFill>
                      <a:srgbClr val="FFFFFF"/>
                    </a:solidFill>
                  </a:tcPr>
                </a:tc>
                <a:tc>
                  <a:txBody>
                    <a:bodyPr/>
                    <a:lstStyle/>
                    <a:p>
                      <a:pPr algn="l" fontAlgn="t"/>
                      <a:r>
                        <a:rPr lang="en-US" sz="700">
                          <a:effectLst/>
                          <a:latin typeface="Inter-Regular"/>
                        </a:rPr>
                        <a:t>0</a:t>
                      </a:r>
                      <a:endParaRPr lang="en-US" sz="700">
                        <a:effectLst/>
                        <a:latin typeface="Inter-Regular"/>
                      </a:endParaRPr>
                    </a:p>
                  </a:txBody>
                  <a:tcPr marL="29481" marR="29481" marT="29481" marB="29481">
                    <a:lnL w="6096" cap="flat" cmpd="sng" algn="ctr">
                      <a:solidFill>
                        <a:srgbClr val="DCE8DC"/>
                      </a:solidFill>
                      <a:prstDash val="solid"/>
                      <a:round/>
                      <a:headEnd type="none" w="med" len="med"/>
                      <a:tailEnd type="none" w="med" len="med"/>
                    </a:lnL>
                    <a:lnR w="6096" cap="flat" cmpd="sng" algn="ctr">
                      <a:solidFill>
                        <a:srgbClr val="DCE8DC"/>
                      </a:solidFill>
                      <a:prstDash val="solid"/>
                      <a:round/>
                      <a:headEnd type="none" w="med" len="med"/>
                      <a:tailEnd type="none" w="med" len="med"/>
                    </a:lnR>
                    <a:lnT w="6096" cap="flat" cmpd="sng" algn="ctr">
                      <a:solidFill>
                        <a:srgbClr val="EEF7F0"/>
                      </a:solidFill>
                      <a:prstDash val="solid"/>
                      <a:round/>
                      <a:headEnd type="none" w="med" len="med"/>
                      <a:tailEnd type="none" w="med" len="med"/>
                    </a:lnT>
                    <a:lnB w="6096" cap="flat" cmpd="sng" algn="ctr">
                      <a:solidFill>
                        <a:srgbClr val="EEF7F0"/>
                      </a:solidFill>
                      <a:prstDash val="solid"/>
                      <a:round/>
                      <a:headEnd type="none" w="med" len="med"/>
                      <a:tailEnd type="none" w="med" len="med"/>
                    </a:lnB>
                    <a:solidFill>
                      <a:srgbClr val="FFFFFF"/>
                    </a:solidFill>
                  </a:tcPr>
                </a:tc>
                <a:tc>
                  <a:txBody>
                    <a:bodyPr/>
                    <a:lstStyle/>
                    <a:p>
                      <a:pPr algn="l" fontAlgn="t"/>
                      <a:r>
                        <a:rPr lang="en-US" sz="700">
                          <a:effectLst/>
                          <a:latin typeface="Inter-Regular"/>
                        </a:rPr>
                        <a:t>32 bits</a:t>
                      </a:r>
                      <a:endParaRPr lang="en-US" sz="700">
                        <a:effectLst/>
                        <a:latin typeface="Inter-Regular"/>
                      </a:endParaRPr>
                    </a:p>
                  </a:txBody>
                  <a:tcPr marL="29481" marR="29481" marT="29481" marB="29481">
                    <a:lnL w="6096" cap="flat" cmpd="sng" algn="ctr">
                      <a:solidFill>
                        <a:srgbClr val="DCE8DC"/>
                      </a:solidFill>
                      <a:prstDash val="solid"/>
                      <a:round/>
                      <a:headEnd type="none" w="med" len="med"/>
                      <a:tailEnd type="none" w="med" len="med"/>
                    </a:lnL>
                    <a:lnR w="6096" cap="flat" cmpd="sng" algn="ctr">
                      <a:solidFill>
                        <a:srgbClr val="DCE8DC"/>
                      </a:solidFill>
                      <a:prstDash val="solid"/>
                      <a:round/>
                      <a:headEnd type="none" w="med" len="med"/>
                      <a:tailEnd type="none" w="med" len="med"/>
                    </a:lnR>
                    <a:lnT w="6096" cap="flat" cmpd="sng" algn="ctr">
                      <a:solidFill>
                        <a:srgbClr val="EEF7F0"/>
                      </a:solidFill>
                      <a:prstDash val="solid"/>
                      <a:round/>
                      <a:headEnd type="none" w="med" len="med"/>
                      <a:tailEnd type="none" w="med" len="med"/>
                    </a:lnT>
                    <a:lnB w="6096" cap="flat" cmpd="sng" algn="ctr">
                      <a:solidFill>
                        <a:srgbClr val="EEF7F0"/>
                      </a:solidFill>
                      <a:prstDash val="solid"/>
                      <a:round/>
                      <a:headEnd type="none" w="med" len="med"/>
                      <a:tailEnd type="none" w="med" len="med"/>
                    </a:lnB>
                    <a:solidFill>
                      <a:srgbClr val="FFFFFF"/>
                    </a:solidFill>
                  </a:tcPr>
                </a:tc>
                <a:tc>
                  <a:txBody>
                    <a:bodyPr/>
                    <a:lstStyle/>
                    <a:p>
                      <a:pPr algn="l" fontAlgn="t"/>
                      <a:r>
                        <a:rPr lang="en-US" sz="700">
                          <a:effectLst/>
                          <a:latin typeface="Inter-Regular"/>
                        </a:rPr>
                        <a:t>-2,147,483,648</a:t>
                      </a:r>
                      <a:br>
                        <a:rPr lang="en-US" sz="700">
                          <a:effectLst/>
                          <a:latin typeface="Inter-Regular"/>
                        </a:rPr>
                      </a:br>
                      <a:r>
                        <a:rPr lang="en-US" sz="700">
                          <a:effectLst/>
                          <a:latin typeface="Inter-Regular"/>
                        </a:rPr>
                        <a:t>to</a:t>
                      </a:r>
                      <a:br>
                        <a:rPr lang="en-US" sz="700">
                          <a:effectLst/>
                          <a:latin typeface="Inter-Regular"/>
                        </a:rPr>
                      </a:br>
                      <a:r>
                        <a:rPr lang="en-US" sz="700">
                          <a:effectLst/>
                          <a:latin typeface="Inter-Regular"/>
                        </a:rPr>
                        <a:t>2,147,483,647</a:t>
                      </a:r>
                      <a:endParaRPr lang="en-US" sz="700">
                        <a:effectLst/>
                        <a:latin typeface="Inter-Regular"/>
                      </a:endParaRPr>
                    </a:p>
                  </a:txBody>
                  <a:tcPr marL="29481" marR="29481" marT="29481" marB="29481">
                    <a:lnL w="6096" cap="flat" cmpd="sng" algn="ctr">
                      <a:solidFill>
                        <a:srgbClr val="DCE8DC"/>
                      </a:solidFill>
                      <a:prstDash val="solid"/>
                      <a:round/>
                      <a:headEnd type="none" w="med" len="med"/>
                      <a:tailEnd type="none" w="med" len="med"/>
                    </a:lnL>
                    <a:lnR w="6096" cap="flat" cmpd="sng" algn="ctr">
                      <a:solidFill>
                        <a:srgbClr val="DCE8DC"/>
                      </a:solidFill>
                      <a:prstDash val="solid"/>
                      <a:round/>
                      <a:headEnd type="none" w="med" len="med"/>
                      <a:tailEnd type="none" w="med" len="med"/>
                    </a:lnR>
                    <a:lnT w="6096" cap="flat" cmpd="sng" algn="ctr">
                      <a:solidFill>
                        <a:srgbClr val="EEF7F0"/>
                      </a:solidFill>
                      <a:prstDash val="solid"/>
                      <a:round/>
                      <a:headEnd type="none" w="med" len="med"/>
                      <a:tailEnd type="none" w="med" len="med"/>
                    </a:lnT>
                    <a:lnB w="6096" cap="flat" cmpd="sng" algn="ctr">
                      <a:solidFill>
                        <a:srgbClr val="EEF7F0"/>
                      </a:solidFill>
                      <a:prstDash val="solid"/>
                      <a:round/>
                      <a:headEnd type="none" w="med" len="med"/>
                      <a:tailEnd type="none" w="med" len="med"/>
                    </a:lnB>
                    <a:solidFill>
                      <a:srgbClr val="FFFFFF"/>
                    </a:solidFill>
                  </a:tcPr>
                </a:tc>
                <a:tc>
                  <a:txBody>
                    <a:bodyPr/>
                    <a:lstStyle/>
                    <a:p>
                      <a:pPr algn="l" fontAlgn="t"/>
                      <a:r>
                        <a:rPr lang="en-US" sz="700">
                          <a:effectLst/>
                          <a:latin typeface="Inter-Regular"/>
                        </a:rPr>
                        <a:t>-5,-1,0,6,8</a:t>
                      </a:r>
                      <a:endParaRPr lang="en-US" sz="700">
                        <a:effectLst/>
                        <a:latin typeface="Inter-Regular"/>
                      </a:endParaRPr>
                    </a:p>
                  </a:txBody>
                  <a:tcPr marL="29481" marR="29481" marT="29481" marB="29481">
                    <a:lnL w="6096" cap="flat" cmpd="sng" algn="ctr">
                      <a:solidFill>
                        <a:srgbClr val="DCE8DC"/>
                      </a:solidFill>
                      <a:prstDash val="solid"/>
                      <a:round/>
                      <a:headEnd type="none" w="med" len="med"/>
                      <a:tailEnd type="none" w="med" len="med"/>
                    </a:lnL>
                    <a:lnR w="6096" cap="flat" cmpd="sng" algn="ctr">
                      <a:solidFill>
                        <a:srgbClr val="EEF7F0"/>
                      </a:solidFill>
                      <a:prstDash val="solid"/>
                      <a:round/>
                      <a:headEnd type="none" w="med" len="med"/>
                      <a:tailEnd type="none" w="med" len="med"/>
                    </a:lnR>
                    <a:lnT w="6096" cap="flat" cmpd="sng" algn="ctr">
                      <a:solidFill>
                        <a:srgbClr val="EEF7F0"/>
                      </a:solidFill>
                      <a:prstDash val="solid"/>
                      <a:round/>
                      <a:headEnd type="none" w="med" len="med"/>
                      <a:tailEnd type="none" w="med" len="med"/>
                    </a:lnT>
                    <a:lnB w="6096" cap="flat" cmpd="sng" algn="ctr">
                      <a:solidFill>
                        <a:srgbClr val="EEF7F0"/>
                      </a:solidFill>
                      <a:prstDash val="solid"/>
                      <a:round/>
                      <a:headEnd type="none" w="med" len="med"/>
                      <a:tailEnd type="none" w="med" len="med"/>
                    </a:lnB>
                    <a:solidFill>
                      <a:srgbClr val="FFFFFF"/>
                    </a:solidFill>
                  </a:tcPr>
                </a:tc>
              </a:tr>
              <a:tr h="908003">
                <a:tc>
                  <a:txBody>
                    <a:bodyPr/>
                    <a:lstStyle/>
                    <a:p>
                      <a:pPr algn="l" fontAlgn="t"/>
                      <a:r>
                        <a:rPr lang="en-US" sz="700" b="1">
                          <a:effectLst/>
                          <a:latin typeface="Inter-Regular"/>
                        </a:rPr>
                        <a:t>long</a:t>
                      </a:r>
                      <a:endParaRPr lang="en-US" sz="700">
                        <a:effectLst/>
                        <a:latin typeface="Inter-Regular"/>
                      </a:endParaRPr>
                    </a:p>
                  </a:txBody>
                  <a:tcPr marL="29481" marR="29481" marT="29481" marB="29481">
                    <a:lnL w="6096" cap="flat" cmpd="sng" algn="ctr">
                      <a:solidFill>
                        <a:srgbClr val="DCE8DC"/>
                      </a:solidFill>
                      <a:prstDash val="solid"/>
                      <a:round/>
                      <a:headEnd type="none" w="med" len="med"/>
                      <a:tailEnd type="none" w="med" len="med"/>
                    </a:lnL>
                    <a:lnR w="6096" cap="flat" cmpd="sng" algn="ctr">
                      <a:solidFill>
                        <a:srgbClr val="DCE8DC"/>
                      </a:solidFill>
                      <a:prstDash val="solid"/>
                      <a:round/>
                      <a:headEnd type="none" w="med" len="med"/>
                      <a:tailEnd type="none" w="med" len="med"/>
                    </a:lnR>
                    <a:lnT w="6096" cap="flat" cmpd="sng" algn="ctr">
                      <a:solidFill>
                        <a:srgbClr val="EEF7F0"/>
                      </a:solidFill>
                      <a:prstDash val="solid"/>
                      <a:round/>
                      <a:headEnd type="none" w="med" len="med"/>
                      <a:tailEnd type="none" w="med" len="med"/>
                    </a:lnT>
                    <a:lnB w="6096" cap="flat" cmpd="sng" algn="ctr">
                      <a:solidFill>
                        <a:srgbClr val="EEF7F0"/>
                      </a:solidFill>
                      <a:prstDash val="solid"/>
                      <a:round/>
                      <a:headEnd type="none" w="med" len="med"/>
                      <a:tailEnd type="none" w="med" len="med"/>
                    </a:lnB>
                    <a:solidFill>
                      <a:srgbClr val="EEF7F0"/>
                    </a:solidFill>
                  </a:tcPr>
                </a:tc>
                <a:tc>
                  <a:txBody>
                    <a:bodyPr/>
                    <a:lstStyle/>
                    <a:p>
                      <a:pPr algn="l" fontAlgn="t"/>
                      <a:r>
                        <a:rPr lang="en-US" sz="700">
                          <a:effectLst/>
                          <a:latin typeface="Inter-Regular"/>
                        </a:rPr>
                        <a:t>0</a:t>
                      </a:r>
                      <a:endParaRPr lang="en-US" sz="700">
                        <a:effectLst/>
                        <a:latin typeface="Inter-Regular"/>
                      </a:endParaRPr>
                    </a:p>
                  </a:txBody>
                  <a:tcPr marL="29481" marR="29481" marT="29481" marB="29481">
                    <a:lnL w="6096" cap="flat" cmpd="sng" algn="ctr">
                      <a:solidFill>
                        <a:srgbClr val="DCE8DC"/>
                      </a:solidFill>
                      <a:prstDash val="solid"/>
                      <a:round/>
                      <a:headEnd type="none" w="med" len="med"/>
                      <a:tailEnd type="none" w="med" len="med"/>
                    </a:lnL>
                    <a:lnR w="6096" cap="flat" cmpd="sng" algn="ctr">
                      <a:solidFill>
                        <a:srgbClr val="DCE8DC"/>
                      </a:solidFill>
                      <a:prstDash val="solid"/>
                      <a:round/>
                      <a:headEnd type="none" w="med" len="med"/>
                      <a:tailEnd type="none" w="med" len="med"/>
                    </a:lnR>
                    <a:lnT w="6096" cap="flat" cmpd="sng" algn="ctr">
                      <a:solidFill>
                        <a:srgbClr val="EEF7F0"/>
                      </a:solidFill>
                      <a:prstDash val="solid"/>
                      <a:round/>
                      <a:headEnd type="none" w="med" len="med"/>
                      <a:tailEnd type="none" w="med" len="med"/>
                    </a:lnT>
                    <a:lnB w="6096" cap="flat" cmpd="sng" algn="ctr">
                      <a:solidFill>
                        <a:srgbClr val="EEF7F0"/>
                      </a:solidFill>
                      <a:prstDash val="solid"/>
                      <a:round/>
                      <a:headEnd type="none" w="med" len="med"/>
                      <a:tailEnd type="none" w="med" len="med"/>
                    </a:lnB>
                    <a:solidFill>
                      <a:srgbClr val="EEF7F0"/>
                    </a:solidFill>
                  </a:tcPr>
                </a:tc>
                <a:tc>
                  <a:txBody>
                    <a:bodyPr/>
                    <a:lstStyle/>
                    <a:p>
                      <a:pPr algn="l" fontAlgn="t"/>
                      <a:r>
                        <a:rPr lang="en-US" sz="700">
                          <a:effectLst/>
                          <a:latin typeface="Inter-Regular"/>
                        </a:rPr>
                        <a:t>64 bits</a:t>
                      </a:r>
                      <a:endParaRPr lang="en-US" sz="700">
                        <a:effectLst/>
                        <a:latin typeface="Inter-Regular"/>
                      </a:endParaRPr>
                    </a:p>
                  </a:txBody>
                  <a:tcPr marL="29481" marR="29481" marT="29481" marB="29481">
                    <a:lnL w="6096" cap="flat" cmpd="sng" algn="ctr">
                      <a:solidFill>
                        <a:srgbClr val="DCE8DC"/>
                      </a:solidFill>
                      <a:prstDash val="solid"/>
                      <a:round/>
                      <a:headEnd type="none" w="med" len="med"/>
                      <a:tailEnd type="none" w="med" len="med"/>
                    </a:lnL>
                    <a:lnR w="6096" cap="flat" cmpd="sng" algn="ctr">
                      <a:solidFill>
                        <a:srgbClr val="DCE8DC"/>
                      </a:solidFill>
                      <a:prstDash val="solid"/>
                      <a:round/>
                      <a:headEnd type="none" w="med" len="med"/>
                      <a:tailEnd type="none" w="med" len="med"/>
                    </a:lnR>
                    <a:lnT w="6096" cap="flat" cmpd="sng" algn="ctr">
                      <a:solidFill>
                        <a:srgbClr val="EEF7F0"/>
                      </a:solidFill>
                      <a:prstDash val="solid"/>
                      <a:round/>
                      <a:headEnd type="none" w="med" len="med"/>
                      <a:tailEnd type="none" w="med" len="med"/>
                    </a:lnT>
                    <a:lnB w="6096" cap="flat" cmpd="sng" algn="ctr">
                      <a:solidFill>
                        <a:srgbClr val="EEF7F0"/>
                      </a:solidFill>
                      <a:prstDash val="solid"/>
                      <a:round/>
                      <a:headEnd type="none" w="med" len="med"/>
                      <a:tailEnd type="none" w="med" len="med"/>
                    </a:lnB>
                    <a:solidFill>
                      <a:srgbClr val="EEF7F0"/>
                    </a:solidFill>
                  </a:tcPr>
                </a:tc>
                <a:tc>
                  <a:txBody>
                    <a:bodyPr/>
                    <a:lstStyle/>
                    <a:p>
                      <a:pPr algn="l" fontAlgn="t"/>
                      <a:r>
                        <a:rPr lang="en-US" sz="700">
                          <a:effectLst/>
                          <a:latin typeface="Inter-Regular"/>
                        </a:rPr>
                        <a:t>-9,223,372,036,854,775,808</a:t>
                      </a:r>
                      <a:br>
                        <a:rPr lang="en-US" sz="700">
                          <a:effectLst/>
                          <a:latin typeface="Inter-Regular"/>
                        </a:rPr>
                      </a:br>
                      <a:r>
                        <a:rPr lang="en-US" sz="700">
                          <a:effectLst/>
                          <a:latin typeface="Inter-Regular"/>
                        </a:rPr>
                        <a:t>to</a:t>
                      </a:r>
                      <a:br>
                        <a:rPr lang="en-US" sz="700">
                          <a:effectLst/>
                          <a:latin typeface="Inter-Regular"/>
                        </a:rPr>
                      </a:br>
                      <a:r>
                        <a:rPr lang="en-US" sz="700">
                          <a:effectLst/>
                          <a:latin typeface="Inter-Regular"/>
                        </a:rPr>
                        <a:t>9,223,372,036,854,775,807</a:t>
                      </a:r>
                      <a:endParaRPr lang="en-US" sz="700">
                        <a:effectLst/>
                        <a:latin typeface="Inter-Regular"/>
                      </a:endParaRPr>
                    </a:p>
                  </a:txBody>
                  <a:tcPr marL="29481" marR="29481" marT="29481" marB="29481">
                    <a:lnL w="6096" cap="flat" cmpd="sng" algn="ctr">
                      <a:solidFill>
                        <a:srgbClr val="DCE8DC"/>
                      </a:solidFill>
                      <a:prstDash val="solid"/>
                      <a:round/>
                      <a:headEnd type="none" w="med" len="med"/>
                      <a:tailEnd type="none" w="med" len="med"/>
                    </a:lnL>
                    <a:lnR w="6096" cap="flat" cmpd="sng" algn="ctr">
                      <a:solidFill>
                        <a:srgbClr val="DCE8DC"/>
                      </a:solidFill>
                      <a:prstDash val="solid"/>
                      <a:round/>
                      <a:headEnd type="none" w="med" len="med"/>
                      <a:tailEnd type="none" w="med" len="med"/>
                    </a:lnR>
                    <a:lnT w="6096" cap="flat" cmpd="sng" algn="ctr">
                      <a:solidFill>
                        <a:srgbClr val="EEF7F0"/>
                      </a:solidFill>
                      <a:prstDash val="solid"/>
                      <a:round/>
                      <a:headEnd type="none" w="med" len="med"/>
                      <a:tailEnd type="none" w="med" len="med"/>
                    </a:lnT>
                    <a:lnB w="6096" cap="flat" cmpd="sng" algn="ctr">
                      <a:solidFill>
                        <a:srgbClr val="EEF7F0"/>
                      </a:solidFill>
                      <a:prstDash val="solid"/>
                      <a:round/>
                      <a:headEnd type="none" w="med" len="med"/>
                      <a:tailEnd type="none" w="med" len="med"/>
                    </a:lnB>
                    <a:solidFill>
                      <a:srgbClr val="EEF7F0"/>
                    </a:solidFill>
                  </a:tcPr>
                </a:tc>
                <a:tc>
                  <a:txBody>
                    <a:bodyPr/>
                    <a:lstStyle/>
                    <a:p>
                      <a:pPr algn="l" fontAlgn="t"/>
                      <a:r>
                        <a:rPr lang="en-US" sz="700">
                          <a:effectLst/>
                          <a:latin typeface="Inter-Regular"/>
                        </a:rPr>
                        <a:t>-7L,-2L,0L,1L,2L</a:t>
                      </a:r>
                      <a:endParaRPr lang="en-US" sz="700">
                        <a:effectLst/>
                        <a:latin typeface="Inter-Regular"/>
                      </a:endParaRPr>
                    </a:p>
                  </a:txBody>
                  <a:tcPr marL="29481" marR="29481" marT="29481" marB="29481">
                    <a:lnL w="6096" cap="flat" cmpd="sng" algn="ctr">
                      <a:solidFill>
                        <a:srgbClr val="DCE8DC"/>
                      </a:solidFill>
                      <a:prstDash val="solid"/>
                      <a:round/>
                      <a:headEnd type="none" w="med" len="med"/>
                      <a:tailEnd type="none" w="med" len="med"/>
                    </a:lnL>
                    <a:lnR w="6096" cap="flat" cmpd="sng" algn="ctr">
                      <a:solidFill>
                        <a:srgbClr val="EEF7F0"/>
                      </a:solidFill>
                      <a:prstDash val="solid"/>
                      <a:round/>
                      <a:headEnd type="none" w="med" len="med"/>
                      <a:tailEnd type="none" w="med" len="med"/>
                    </a:lnR>
                    <a:lnT w="6096" cap="flat" cmpd="sng" algn="ctr">
                      <a:solidFill>
                        <a:srgbClr val="EEF7F0"/>
                      </a:solidFill>
                      <a:prstDash val="solid"/>
                      <a:round/>
                      <a:headEnd type="none" w="med" len="med"/>
                      <a:tailEnd type="none" w="med" len="med"/>
                    </a:lnT>
                    <a:lnB w="6096" cap="flat" cmpd="sng" algn="ctr">
                      <a:solidFill>
                        <a:srgbClr val="EEF7F0"/>
                      </a:solidFill>
                      <a:prstDash val="solid"/>
                      <a:round/>
                      <a:headEnd type="none" w="med" len="med"/>
                      <a:tailEnd type="none" w="med" len="med"/>
                    </a:lnB>
                    <a:solidFill>
                      <a:srgbClr val="EEF7F0"/>
                    </a:solidFill>
                  </a:tcPr>
                </a:tc>
              </a:tr>
              <a:tr h="377352">
                <a:tc>
                  <a:txBody>
                    <a:bodyPr/>
                    <a:lstStyle/>
                    <a:p>
                      <a:pPr algn="l" fontAlgn="t"/>
                      <a:r>
                        <a:rPr lang="en-US" sz="700" b="1">
                          <a:effectLst/>
                          <a:latin typeface="Inter-Regular"/>
                        </a:rPr>
                        <a:t>float</a:t>
                      </a:r>
                      <a:endParaRPr lang="en-US" sz="700">
                        <a:effectLst/>
                        <a:latin typeface="Inter-Regular"/>
                      </a:endParaRPr>
                    </a:p>
                  </a:txBody>
                  <a:tcPr marL="29481" marR="29481" marT="29481" marB="29481">
                    <a:lnL w="6096" cap="flat" cmpd="sng" algn="ctr">
                      <a:solidFill>
                        <a:srgbClr val="DCE8DC"/>
                      </a:solidFill>
                      <a:prstDash val="solid"/>
                      <a:round/>
                      <a:headEnd type="none" w="med" len="med"/>
                      <a:tailEnd type="none" w="med" len="med"/>
                    </a:lnL>
                    <a:lnR w="6096" cap="flat" cmpd="sng" algn="ctr">
                      <a:solidFill>
                        <a:srgbClr val="DCE8DC"/>
                      </a:solidFill>
                      <a:prstDash val="solid"/>
                      <a:round/>
                      <a:headEnd type="none" w="med" len="med"/>
                      <a:tailEnd type="none" w="med" len="med"/>
                    </a:lnR>
                    <a:lnT w="6096" cap="flat" cmpd="sng" algn="ctr">
                      <a:solidFill>
                        <a:srgbClr val="EEF7F0"/>
                      </a:solidFill>
                      <a:prstDash val="solid"/>
                      <a:round/>
                      <a:headEnd type="none" w="med" len="med"/>
                      <a:tailEnd type="none" w="med" len="med"/>
                    </a:lnT>
                    <a:lnB w="6096" cap="flat" cmpd="sng" algn="ctr">
                      <a:solidFill>
                        <a:srgbClr val="EEF7F0"/>
                      </a:solidFill>
                      <a:prstDash val="solid"/>
                      <a:round/>
                      <a:headEnd type="none" w="med" len="med"/>
                      <a:tailEnd type="none" w="med" len="med"/>
                    </a:lnB>
                    <a:solidFill>
                      <a:srgbClr val="FFFFFF"/>
                    </a:solidFill>
                  </a:tcPr>
                </a:tc>
                <a:tc>
                  <a:txBody>
                    <a:bodyPr/>
                    <a:lstStyle/>
                    <a:p>
                      <a:pPr algn="l" fontAlgn="t"/>
                      <a:r>
                        <a:rPr lang="en-US" sz="700">
                          <a:effectLst/>
                          <a:latin typeface="Inter-Regular"/>
                        </a:rPr>
                        <a:t>0.0f</a:t>
                      </a:r>
                      <a:endParaRPr lang="en-US" sz="700">
                        <a:effectLst/>
                        <a:latin typeface="Inter-Regular"/>
                      </a:endParaRPr>
                    </a:p>
                  </a:txBody>
                  <a:tcPr marL="29481" marR="29481" marT="29481" marB="29481">
                    <a:lnL w="6096" cap="flat" cmpd="sng" algn="ctr">
                      <a:solidFill>
                        <a:srgbClr val="DCE8DC"/>
                      </a:solidFill>
                      <a:prstDash val="solid"/>
                      <a:round/>
                      <a:headEnd type="none" w="med" len="med"/>
                      <a:tailEnd type="none" w="med" len="med"/>
                    </a:lnL>
                    <a:lnR w="6096" cap="flat" cmpd="sng" algn="ctr">
                      <a:solidFill>
                        <a:srgbClr val="DCE8DC"/>
                      </a:solidFill>
                      <a:prstDash val="solid"/>
                      <a:round/>
                      <a:headEnd type="none" w="med" len="med"/>
                      <a:tailEnd type="none" w="med" len="med"/>
                    </a:lnR>
                    <a:lnT w="6096" cap="flat" cmpd="sng" algn="ctr">
                      <a:solidFill>
                        <a:srgbClr val="EEF7F0"/>
                      </a:solidFill>
                      <a:prstDash val="solid"/>
                      <a:round/>
                      <a:headEnd type="none" w="med" len="med"/>
                      <a:tailEnd type="none" w="med" len="med"/>
                    </a:lnT>
                    <a:lnB w="6096" cap="flat" cmpd="sng" algn="ctr">
                      <a:solidFill>
                        <a:srgbClr val="EEF7F0"/>
                      </a:solidFill>
                      <a:prstDash val="solid"/>
                      <a:round/>
                      <a:headEnd type="none" w="med" len="med"/>
                      <a:tailEnd type="none" w="med" len="med"/>
                    </a:lnB>
                    <a:solidFill>
                      <a:srgbClr val="FFFFFF"/>
                    </a:solidFill>
                  </a:tcPr>
                </a:tc>
                <a:tc>
                  <a:txBody>
                    <a:bodyPr/>
                    <a:lstStyle/>
                    <a:p>
                      <a:pPr algn="l" fontAlgn="t"/>
                      <a:r>
                        <a:rPr lang="en-US" sz="700">
                          <a:effectLst/>
                          <a:latin typeface="Inter-Regular"/>
                        </a:rPr>
                        <a:t>32 bits</a:t>
                      </a:r>
                      <a:endParaRPr lang="en-US" sz="700">
                        <a:effectLst/>
                        <a:latin typeface="Inter-Regular"/>
                      </a:endParaRPr>
                    </a:p>
                  </a:txBody>
                  <a:tcPr marL="29481" marR="29481" marT="29481" marB="29481">
                    <a:lnL w="6096" cap="flat" cmpd="sng" algn="ctr">
                      <a:solidFill>
                        <a:srgbClr val="DCE8DC"/>
                      </a:solidFill>
                      <a:prstDash val="solid"/>
                      <a:round/>
                      <a:headEnd type="none" w="med" len="med"/>
                      <a:tailEnd type="none" w="med" len="med"/>
                    </a:lnL>
                    <a:lnR w="6096" cap="flat" cmpd="sng" algn="ctr">
                      <a:solidFill>
                        <a:srgbClr val="DCE8DC"/>
                      </a:solidFill>
                      <a:prstDash val="solid"/>
                      <a:round/>
                      <a:headEnd type="none" w="med" len="med"/>
                      <a:tailEnd type="none" w="med" len="med"/>
                    </a:lnR>
                    <a:lnT w="6096" cap="flat" cmpd="sng" algn="ctr">
                      <a:solidFill>
                        <a:srgbClr val="EEF7F0"/>
                      </a:solidFill>
                      <a:prstDash val="solid"/>
                      <a:round/>
                      <a:headEnd type="none" w="med" len="med"/>
                      <a:tailEnd type="none" w="med" len="med"/>
                    </a:lnT>
                    <a:lnB w="6096" cap="flat" cmpd="sng" algn="ctr">
                      <a:solidFill>
                        <a:srgbClr val="EEF7F0"/>
                      </a:solidFill>
                      <a:prstDash val="solid"/>
                      <a:round/>
                      <a:headEnd type="none" w="med" len="med"/>
                      <a:tailEnd type="none" w="med" len="med"/>
                    </a:lnB>
                    <a:solidFill>
                      <a:srgbClr val="FFFFFF"/>
                    </a:solidFill>
                  </a:tcPr>
                </a:tc>
                <a:tc>
                  <a:txBody>
                    <a:bodyPr/>
                    <a:lstStyle/>
                    <a:p>
                      <a:pPr algn="l" fontAlgn="t"/>
                      <a:r>
                        <a:rPr lang="en-US" sz="700">
                          <a:effectLst/>
                          <a:latin typeface="Inter-Regular"/>
                        </a:rPr>
                        <a:t>up to 7 decimal digits</a:t>
                      </a:r>
                      <a:endParaRPr lang="en-US" sz="700">
                        <a:effectLst/>
                        <a:latin typeface="Inter-Regular"/>
                      </a:endParaRPr>
                    </a:p>
                  </a:txBody>
                  <a:tcPr marL="29481" marR="29481" marT="29481" marB="29481">
                    <a:lnL w="6096" cap="flat" cmpd="sng" algn="ctr">
                      <a:solidFill>
                        <a:srgbClr val="DCE8DC"/>
                      </a:solidFill>
                      <a:prstDash val="solid"/>
                      <a:round/>
                      <a:headEnd type="none" w="med" len="med"/>
                      <a:tailEnd type="none" w="med" len="med"/>
                    </a:lnL>
                    <a:lnR w="6096" cap="flat" cmpd="sng" algn="ctr">
                      <a:solidFill>
                        <a:srgbClr val="DCE8DC"/>
                      </a:solidFill>
                      <a:prstDash val="solid"/>
                      <a:round/>
                      <a:headEnd type="none" w="med" len="med"/>
                      <a:tailEnd type="none" w="med" len="med"/>
                    </a:lnR>
                    <a:lnT w="6096" cap="flat" cmpd="sng" algn="ctr">
                      <a:solidFill>
                        <a:srgbClr val="EEF7F0"/>
                      </a:solidFill>
                      <a:prstDash val="solid"/>
                      <a:round/>
                      <a:headEnd type="none" w="med" len="med"/>
                      <a:tailEnd type="none" w="med" len="med"/>
                    </a:lnT>
                    <a:lnB w="6096" cap="flat" cmpd="sng" algn="ctr">
                      <a:solidFill>
                        <a:srgbClr val="EEF7F0"/>
                      </a:solidFill>
                      <a:prstDash val="solid"/>
                      <a:round/>
                      <a:headEnd type="none" w="med" len="med"/>
                      <a:tailEnd type="none" w="med" len="med"/>
                    </a:lnB>
                    <a:solidFill>
                      <a:srgbClr val="FFFFFF"/>
                    </a:solidFill>
                  </a:tcPr>
                </a:tc>
                <a:tc>
                  <a:txBody>
                    <a:bodyPr/>
                    <a:lstStyle/>
                    <a:p>
                      <a:pPr algn="l" fontAlgn="t"/>
                      <a:r>
                        <a:rPr lang="en-US" sz="700">
                          <a:effectLst/>
                          <a:latin typeface="Inter-Regular"/>
                        </a:rPr>
                        <a:t>3.14f, 89.09F, -9.3F</a:t>
                      </a:r>
                      <a:endParaRPr lang="en-US" sz="700">
                        <a:effectLst/>
                        <a:latin typeface="Inter-Regular"/>
                      </a:endParaRPr>
                    </a:p>
                  </a:txBody>
                  <a:tcPr marL="29481" marR="29481" marT="29481" marB="29481">
                    <a:lnL w="6096" cap="flat" cmpd="sng" algn="ctr">
                      <a:solidFill>
                        <a:srgbClr val="DCE8DC"/>
                      </a:solidFill>
                      <a:prstDash val="solid"/>
                      <a:round/>
                      <a:headEnd type="none" w="med" len="med"/>
                      <a:tailEnd type="none" w="med" len="med"/>
                    </a:lnL>
                    <a:lnR w="6096" cap="flat" cmpd="sng" algn="ctr">
                      <a:solidFill>
                        <a:srgbClr val="EEF7F0"/>
                      </a:solidFill>
                      <a:prstDash val="solid"/>
                      <a:round/>
                      <a:headEnd type="none" w="med" len="med"/>
                      <a:tailEnd type="none" w="med" len="med"/>
                    </a:lnR>
                    <a:lnT w="6096" cap="flat" cmpd="sng" algn="ctr">
                      <a:solidFill>
                        <a:srgbClr val="EEF7F0"/>
                      </a:solidFill>
                      <a:prstDash val="solid"/>
                      <a:round/>
                      <a:headEnd type="none" w="med" len="med"/>
                      <a:tailEnd type="none" w="med" len="med"/>
                    </a:lnT>
                    <a:lnB w="6096" cap="flat" cmpd="sng" algn="ctr">
                      <a:solidFill>
                        <a:srgbClr val="EEF7F0"/>
                      </a:solidFill>
                      <a:prstDash val="solid"/>
                      <a:round/>
                      <a:headEnd type="none" w="med" len="med"/>
                      <a:tailEnd type="none" w="med" len="med"/>
                    </a:lnB>
                    <a:solidFill>
                      <a:srgbClr val="FFFFFF"/>
                    </a:solidFill>
                  </a:tcPr>
                </a:tc>
              </a:tr>
              <a:tr h="695742">
                <a:tc>
                  <a:txBody>
                    <a:bodyPr/>
                    <a:lstStyle/>
                    <a:p>
                      <a:pPr algn="l" fontAlgn="t"/>
                      <a:r>
                        <a:rPr lang="en-US" sz="700" b="1">
                          <a:effectLst/>
                          <a:latin typeface="Inter-Regular"/>
                        </a:rPr>
                        <a:t>double</a:t>
                      </a:r>
                      <a:endParaRPr lang="en-US" sz="700">
                        <a:effectLst/>
                        <a:latin typeface="Inter-Regular"/>
                      </a:endParaRPr>
                    </a:p>
                  </a:txBody>
                  <a:tcPr marL="29481" marR="29481" marT="29481" marB="29481">
                    <a:lnL w="6096" cap="flat" cmpd="sng" algn="ctr">
                      <a:solidFill>
                        <a:srgbClr val="DCE8DC"/>
                      </a:solidFill>
                      <a:prstDash val="solid"/>
                      <a:round/>
                      <a:headEnd type="none" w="med" len="med"/>
                      <a:tailEnd type="none" w="med" len="med"/>
                    </a:lnL>
                    <a:lnR w="6096" cap="flat" cmpd="sng" algn="ctr">
                      <a:solidFill>
                        <a:srgbClr val="DCE8DC"/>
                      </a:solidFill>
                      <a:prstDash val="solid"/>
                      <a:round/>
                      <a:headEnd type="none" w="med" len="med"/>
                      <a:tailEnd type="none" w="med" len="med"/>
                    </a:lnR>
                    <a:lnT w="6096" cap="flat" cmpd="sng" algn="ctr">
                      <a:solidFill>
                        <a:srgbClr val="EEF7F0"/>
                      </a:solidFill>
                      <a:prstDash val="solid"/>
                      <a:round/>
                      <a:headEnd type="none" w="med" len="med"/>
                      <a:tailEnd type="none" w="med" len="med"/>
                    </a:lnT>
                    <a:lnB w="6096" cap="flat" cmpd="sng" algn="ctr">
                      <a:solidFill>
                        <a:srgbClr val="EEF7F0"/>
                      </a:solidFill>
                      <a:prstDash val="solid"/>
                      <a:round/>
                      <a:headEnd type="none" w="med" len="med"/>
                      <a:tailEnd type="none" w="med" len="med"/>
                    </a:lnB>
                    <a:solidFill>
                      <a:srgbClr val="EEF7F0"/>
                    </a:solidFill>
                  </a:tcPr>
                </a:tc>
                <a:tc>
                  <a:txBody>
                    <a:bodyPr/>
                    <a:lstStyle/>
                    <a:p>
                      <a:pPr algn="l" fontAlgn="t"/>
                      <a:r>
                        <a:rPr lang="en-US" sz="700">
                          <a:effectLst/>
                          <a:latin typeface="Inter-Regular"/>
                        </a:rPr>
                        <a:t>0.0</a:t>
                      </a:r>
                      <a:endParaRPr lang="en-US" sz="700">
                        <a:effectLst/>
                        <a:latin typeface="Inter-Regular"/>
                      </a:endParaRPr>
                    </a:p>
                  </a:txBody>
                  <a:tcPr marL="29481" marR="29481" marT="29481" marB="29481">
                    <a:lnL w="6096" cap="flat" cmpd="sng" algn="ctr">
                      <a:solidFill>
                        <a:srgbClr val="DCE8DC"/>
                      </a:solidFill>
                      <a:prstDash val="solid"/>
                      <a:round/>
                      <a:headEnd type="none" w="med" len="med"/>
                      <a:tailEnd type="none" w="med" len="med"/>
                    </a:lnL>
                    <a:lnR w="6096" cap="flat" cmpd="sng" algn="ctr">
                      <a:solidFill>
                        <a:srgbClr val="DCE8DC"/>
                      </a:solidFill>
                      <a:prstDash val="solid"/>
                      <a:round/>
                      <a:headEnd type="none" w="med" len="med"/>
                      <a:tailEnd type="none" w="med" len="med"/>
                    </a:lnR>
                    <a:lnT w="6096" cap="flat" cmpd="sng" algn="ctr">
                      <a:solidFill>
                        <a:srgbClr val="EEF7F0"/>
                      </a:solidFill>
                      <a:prstDash val="solid"/>
                      <a:round/>
                      <a:headEnd type="none" w="med" len="med"/>
                      <a:tailEnd type="none" w="med" len="med"/>
                    </a:lnT>
                    <a:lnB w="6096" cap="flat" cmpd="sng" algn="ctr">
                      <a:solidFill>
                        <a:srgbClr val="EEF7F0"/>
                      </a:solidFill>
                      <a:prstDash val="solid"/>
                      <a:round/>
                      <a:headEnd type="none" w="med" len="med"/>
                      <a:tailEnd type="none" w="med" len="med"/>
                    </a:lnB>
                    <a:solidFill>
                      <a:srgbClr val="EEF7F0"/>
                    </a:solidFill>
                  </a:tcPr>
                </a:tc>
                <a:tc>
                  <a:txBody>
                    <a:bodyPr/>
                    <a:lstStyle/>
                    <a:p>
                      <a:pPr algn="l" fontAlgn="t"/>
                      <a:r>
                        <a:rPr lang="en-US" sz="700">
                          <a:effectLst/>
                          <a:latin typeface="Inter-Regular"/>
                        </a:rPr>
                        <a:t>64 bits</a:t>
                      </a:r>
                      <a:endParaRPr lang="en-US" sz="700">
                        <a:effectLst/>
                        <a:latin typeface="Inter-Regular"/>
                      </a:endParaRPr>
                    </a:p>
                  </a:txBody>
                  <a:tcPr marL="29481" marR="29481" marT="29481" marB="29481">
                    <a:lnL w="6096" cap="flat" cmpd="sng" algn="ctr">
                      <a:solidFill>
                        <a:srgbClr val="DCE8DC"/>
                      </a:solidFill>
                      <a:prstDash val="solid"/>
                      <a:round/>
                      <a:headEnd type="none" w="med" len="med"/>
                      <a:tailEnd type="none" w="med" len="med"/>
                    </a:lnL>
                    <a:lnR w="6096" cap="flat" cmpd="sng" algn="ctr">
                      <a:solidFill>
                        <a:srgbClr val="DCE8DC"/>
                      </a:solidFill>
                      <a:prstDash val="solid"/>
                      <a:round/>
                      <a:headEnd type="none" w="med" len="med"/>
                      <a:tailEnd type="none" w="med" len="med"/>
                    </a:lnR>
                    <a:lnT w="6096" cap="flat" cmpd="sng" algn="ctr">
                      <a:solidFill>
                        <a:srgbClr val="EEF7F0"/>
                      </a:solidFill>
                      <a:prstDash val="solid"/>
                      <a:round/>
                      <a:headEnd type="none" w="med" len="med"/>
                      <a:tailEnd type="none" w="med" len="med"/>
                    </a:lnT>
                    <a:lnB w="6096" cap="flat" cmpd="sng" algn="ctr">
                      <a:solidFill>
                        <a:srgbClr val="EEF7F0"/>
                      </a:solidFill>
                      <a:prstDash val="solid"/>
                      <a:round/>
                      <a:headEnd type="none" w="med" len="med"/>
                      <a:tailEnd type="none" w="med" len="med"/>
                    </a:lnB>
                    <a:solidFill>
                      <a:srgbClr val="EEF7F0"/>
                    </a:solidFill>
                  </a:tcPr>
                </a:tc>
                <a:tc>
                  <a:txBody>
                    <a:bodyPr/>
                    <a:lstStyle/>
                    <a:p>
                      <a:pPr algn="l" fontAlgn="t"/>
                      <a:r>
                        <a:rPr lang="en-US" sz="700">
                          <a:effectLst/>
                          <a:latin typeface="Inter-Regular"/>
                        </a:rPr>
                        <a:t>up to 16 decimal digits</a:t>
                      </a:r>
                      <a:endParaRPr lang="en-US" sz="700">
                        <a:effectLst/>
                        <a:latin typeface="Inter-Regular"/>
                      </a:endParaRPr>
                    </a:p>
                  </a:txBody>
                  <a:tcPr marL="29481" marR="29481" marT="29481" marB="29481">
                    <a:lnL w="6096" cap="flat" cmpd="sng" algn="ctr">
                      <a:solidFill>
                        <a:srgbClr val="DCE8DC"/>
                      </a:solidFill>
                      <a:prstDash val="solid"/>
                      <a:round/>
                      <a:headEnd type="none" w="med" len="med"/>
                      <a:tailEnd type="none" w="med" len="med"/>
                    </a:lnL>
                    <a:lnR w="6096" cap="flat" cmpd="sng" algn="ctr">
                      <a:solidFill>
                        <a:srgbClr val="DCE8DC"/>
                      </a:solidFill>
                      <a:prstDash val="solid"/>
                      <a:round/>
                      <a:headEnd type="none" w="med" len="med"/>
                      <a:tailEnd type="none" w="med" len="med"/>
                    </a:lnR>
                    <a:lnT w="6096" cap="flat" cmpd="sng" algn="ctr">
                      <a:solidFill>
                        <a:srgbClr val="EEF7F0"/>
                      </a:solidFill>
                      <a:prstDash val="solid"/>
                      <a:round/>
                      <a:headEnd type="none" w="med" len="med"/>
                      <a:tailEnd type="none" w="med" len="med"/>
                    </a:lnT>
                    <a:lnB w="6096" cap="flat" cmpd="sng" algn="ctr">
                      <a:solidFill>
                        <a:srgbClr val="EEF7F0"/>
                      </a:solidFill>
                      <a:prstDash val="solid"/>
                      <a:round/>
                      <a:headEnd type="none" w="med" len="med"/>
                      <a:tailEnd type="none" w="med" len="med"/>
                    </a:lnB>
                    <a:solidFill>
                      <a:srgbClr val="EEF7F0"/>
                    </a:solidFill>
                  </a:tcPr>
                </a:tc>
                <a:tc>
                  <a:txBody>
                    <a:bodyPr/>
                    <a:lstStyle/>
                    <a:p>
                      <a:pPr algn="l" fontAlgn="t"/>
                      <a:r>
                        <a:rPr lang="en-US" sz="700" dirty="0">
                          <a:effectLst/>
                          <a:latin typeface="Inter-Regular"/>
                        </a:rPr>
                        <a:t>6.98765e300d , -567899e-600d , 2e2d</a:t>
                      </a:r>
                      <a:endParaRPr lang="en-US" sz="700" dirty="0">
                        <a:effectLst/>
                        <a:latin typeface="Inter-Regular"/>
                      </a:endParaRPr>
                    </a:p>
                  </a:txBody>
                  <a:tcPr marL="29481" marR="29481" marT="29481" marB="29481">
                    <a:lnL w="6096" cap="flat" cmpd="sng" algn="ctr">
                      <a:solidFill>
                        <a:srgbClr val="DCE8DC"/>
                      </a:solidFill>
                      <a:prstDash val="solid"/>
                      <a:round/>
                      <a:headEnd type="none" w="med" len="med"/>
                      <a:tailEnd type="none" w="med" len="med"/>
                    </a:lnL>
                    <a:lnR w="6096" cap="flat" cmpd="sng" algn="ctr">
                      <a:solidFill>
                        <a:srgbClr val="EEF7F0"/>
                      </a:solidFill>
                      <a:prstDash val="solid"/>
                      <a:round/>
                      <a:headEnd type="none" w="med" len="med"/>
                      <a:tailEnd type="none" w="med" len="med"/>
                    </a:lnR>
                    <a:lnT w="6096" cap="flat" cmpd="sng" algn="ctr">
                      <a:solidFill>
                        <a:srgbClr val="EEF7F0"/>
                      </a:solidFill>
                      <a:prstDash val="solid"/>
                      <a:round/>
                      <a:headEnd type="none" w="med" len="med"/>
                      <a:tailEnd type="none" w="med" len="med"/>
                    </a:lnT>
                    <a:lnB w="6096" cap="flat" cmpd="sng" algn="ctr">
                      <a:solidFill>
                        <a:srgbClr val="EEF7F0"/>
                      </a:solidFill>
                      <a:prstDash val="solid"/>
                      <a:round/>
                      <a:headEnd type="none" w="med" len="med"/>
                      <a:tailEnd type="none" w="med" len="med"/>
                    </a:lnB>
                    <a:solidFill>
                      <a:srgbClr val="EEF7F0"/>
                    </a:solidFill>
                  </a:tcPr>
                </a:tc>
              </a:tr>
            </a:tbl>
          </a:graphicData>
        </a:graphic>
      </p:graphicFrame>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Courier" charset="0"/>
                <a:cs typeface="Times New Roman" panose="02020603050405020304" pitchFamily="18" charset="0"/>
              </a:rPr>
              <a:t>Converting Strings to Integers</a:t>
            </a:r>
            <a:endParaRPr lang="en-US" dirty="0">
              <a:latin typeface="Courier" charset="0"/>
              <a:cs typeface="Times New Roman" panose="02020603050405020304" pitchFamily="18" charset="0"/>
            </a:endParaRPr>
          </a:p>
        </p:txBody>
      </p:sp>
      <p:sp>
        <p:nvSpPr>
          <p:cNvPr id="3" name="Content Placeholder 2"/>
          <p:cNvSpPr>
            <a:spLocks noGrp="1"/>
          </p:cNvSpPr>
          <p:nvPr>
            <p:ph idx="1"/>
          </p:nvPr>
        </p:nvSpPr>
        <p:spPr/>
        <p:txBody>
          <a:bodyPr>
            <a:normAutofit fontScale="92500"/>
          </a:bodyPr>
          <a:lstStyle/>
          <a:p>
            <a:pPr marL="0" indent="0">
              <a:buNone/>
            </a:pPr>
            <a:r>
              <a:rPr lang="en-US" dirty="0" smtClean="0">
                <a:latin typeface="Courier" charset="0"/>
                <a:cs typeface="Times New Roman" panose="02020603050405020304" pitchFamily="18" charset="0"/>
              </a:rPr>
              <a:t>The input returned from the input dialog box is a string. If you enter a numeric value such as 123, it returns “123”. To obtain the input as a number, you have to convert a string into a number. </a:t>
            </a:r>
            <a:endParaRPr lang="en-US" dirty="0" smtClean="0">
              <a:latin typeface="Courier" charset="0"/>
              <a:cs typeface="Times New Roman" panose="02020603050405020304" pitchFamily="18" charset="0"/>
            </a:endParaRPr>
          </a:p>
          <a:p>
            <a:pPr marL="0" indent="0">
              <a:buNone/>
            </a:pPr>
            <a:r>
              <a:rPr lang="en-US" dirty="0" smtClean="0">
                <a:latin typeface="Courier" charset="0"/>
                <a:cs typeface="Times New Roman" panose="02020603050405020304" pitchFamily="18" charset="0"/>
              </a:rPr>
              <a:t> </a:t>
            </a:r>
            <a:endParaRPr lang="en-US" dirty="0" smtClean="0">
              <a:latin typeface="Courier" charset="0"/>
              <a:cs typeface="Times New Roman" panose="02020603050405020304" pitchFamily="18" charset="0"/>
            </a:endParaRPr>
          </a:p>
          <a:p>
            <a:pPr marL="0" indent="0">
              <a:buNone/>
            </a:pPr>
            <a:r>
              <a:rPr lang="en-US" dirty="0" smtClean="0">
                <a:latin typeface="Courier" charset="0"/>
                <a:cs typeface="Times New Roman" panose="02020603050405020304" pitchFamily="18" charset="0"/>
              </a:rPr>
              <a:t>To convert a string into an </a:t>
            </a:r>
            <a:r>
              <a:rPr lang="en-US" u="sng" dirty="0" err="1" smtClean="0">
                <a:latin typeface="Courier" charset="0"/>
                <a:cs typeface="Times New Roman" panose="02020603050405020304" pitchFamily="18" charset="0"/>
              </a:rPr>
              <a:t>int</a:t>
            </a:r>
            <a:r>
              <a:rPr lang="en-US" dirty="0" smtClean="0">
                <a:latin typeface="Courier" charset="0"/>
                <a:cs typeface="Times New Roman" panose="02020603050405020304" pitchFamily="18" charset="0"/>
              </a:rPr>
              <a:t> value, you can use the static </a:t>
            </a:r>
            <a:r>
              <a:rPr lang="en-US" u="sng" dirty="0" err="1" smtClean="0">
                <a:latin typeface="Courier" charset="0"/>
                <a:cs typeface="Times New Roman" panose="02020603050405020304" pitchFamily="18" charset="0"/>
              </a:rPr>
              <a:t>parseInt</a:t>
            </a:r>
            <a:r>
              <a:rPr lang="en-US" dirty="0" smtClean="0">
                <a:latin typeface="Courier" charset="0"/>
                <a:cs typeface="Times New Roman" panose="02020603050405020304" pitchFamily="18" charset="0"/>
              </a:rPr>
              <a:t> method in the </a:t>
            </a:r>
            <a:r>
              <a:rPr lang="en-US" u="sng" dirty="0" smtClean="0">
                <a:latin typeface="Courier" charset="0"/>
                <a:cs typeface="Times New Roman" panose="02020603050405020304" pitchFamily="18" charset="0"/>
              </a:rPr>
              <a:t>Integer</a:t>
            </a:r>
            <a:r>
              <a:rPr lang="en-US" dirty="0" smtClean="0">
                <a:latin typeface="Courier" charset="0"/>
                <a:cs typeface="Times New Roman" panose="02020603050405020304" pitchFamily="18" charset="0"/>
              </a:rPr>
              <a:t> class as follows:</a:t>
            </a:r>
            <a:endParaRPr lang="en-US" dirty="0" smtClean="0">
              <a:latin typeface="Courier" charset="0"/>
              <a:cs typeface="Times New Roman" panose="02020603050405020304" pitchFamily="18" charset="0"/>
            </a:endParaRPr>
          </a:p>
          <a:p>
            <a:pPr marL="0" indent="0">
              <a:buNone/>
            </a:pPr>
            <a:r>
              <a:rPr lang="en-US" dirty="0" smtClean="0">
                <a:latin typeface="Courier" charset="0"/>
                <a:cs typeface="Times New Roman" panose="02020603050405020304" pitchFamily="18" charset="0"/>
              </a:rPr>
              <a:t> </a:t>
            </a:r>
            <a:endParaRPr lang="en-US" dirty="0" smtClean="0">
              <a:latin typeface="Courier" charset="0"/>
              <a:cs typeface="Times New Roman" panose="02020603050405020304" pitchFamily="18" charset="0"/>
            </a:endParaRPr>
          </a:p>
          <a:p>
            <a:pPr marL="0" indent="0">
              <a:buNone/>
            </a:pPr>
            <a:r>
              <a:rPr lang="en-US" u="sng" dirty="0" err="1" smtClean="0">
                <a:latin typeface="Courier" charset="0"/>
                <a:cs typeface="Times New Roman" panose="02020603050405020304" pitchFamily="18" charset="0"/>
              </a:rPr>
              <a:t>int</a:t>
            </a:r>
            <a:r>
              <a:rPr lang="en-US" u="sng" dirty="0" smtClean="0">
                <a:latin typeface="Courier" charset="0"/>
                <a:cs typeface="Times New Roman" panose="02020603050405020304" pitchFamily="18" charset="0"/>
              </a:rPr>
              <a:t> </a:t>
            </a:r>
            <a:r>
              <a:rPr lang="en-US" u="sng" dirty="0" err="1" smtClean="0">
                <a:latin typeface="Courier" charset="0"/>
                <a:cs typeface="Times New Roman" panose="02020603050405020304" pitchFamily="18" charset="0"/>
              </a:rPr>
              <a:t>intValue</a:t>
            </a:r>
            <a:r>
              <a:rPr lang="en-US" u="sng" dirty="0" smtClean="0">
                <a:latin typeface="Courier" charset="0"/>
                <a:cs typeface="Times New Roman" panose="02020603050405020304" pitchFamily="18" charset="0"/>
              </a:rPr>
              <a:t> = </a:t>
            </a:r>
            <a:r>
              <a:rPr lang="en-US" u="sng" dirty="0" err="1" smtClean="0">
                <a:latin typeface="Courier" charset="0"/>
                <a:cs typeface="Times New Roman" panose="02020603050405020304" pitchFamily="18" charset="0"/>
              </a:rPr>
              <a:t>Integer.parseInt</a:t>
            </a:r>
            <a:r>
              <a:rPr lang="en-US" u="sng" dirty="0" smtClean="0">
                <a:latin typeface="Courier" charset="0"/>
                <a:cs typeface="Times New Roman" panose="02020603050405020304" pitchFamily="18" charset="0"/>
              </a:rPr>
              <a:t>(</a:t>
            </a:r>
            <a:r>
              <a:rPr lang="en-US" u="sng" dirty="0" err="1" smtClean="0">
                <a:latin typeface="Courier" charset="0"/>
                <a:cs typeface="Times New Roman" panose="02020603050405020304" pitchFamily="18" charset="0"/>
              </a:rPr>
              <a:t>intString</a:t>
            </a:r>
            <a:r>
              <a:rPr lang="en-US" u="sng" dirty="0" smtClean="0">
                <a:latin typeface="Courier" charset="0"/>
                <a:cs typeface="Times New Roman" panose="02020603050405020304" pitchFamily="18" charset="0"/>
              </a:rPr>
              <a:t>);</a:t>
            </a:r>
            <a:endParaRPr lang="en-US" u="sng" dirty="0">
              <a:latin typeface="Courier"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Courier" charset="0"/>
                <a:cs typeface="Times New Roman" panose="02020603050405020304" pitchFamily="18" charset="0"/>
              </a:rPr>
              <a:t>Converting Strings to Doubles</a:t>
            </a:r>
            <a:endParaRPr lang="en-US" dirty="0">
              <a:latin typeface="Courier" charset="0"/>
              <a:cs typeface="Times New Roman" panose="02020603050405020304" pitchFamily="18" charset="0"/>
            </a:endParaRPr>
          </a:p>
        </p:txBody>
      </p:sp>
      <p:sp>
        <p:nvSpPr>
          <p:cNvPr id="3" name="Content Placeholder 2"/>
          <p:cNvSpPr>
            <a:spLocks noGrp="1"/>
          </p:cNvSpPr>
          <p:nvPr>
            <p:ph idx="1"/>
          </p:nvPr>
        </p:nvSpPr>
        <p:spPr/>
        <p:txBody>
          <a:bodyPr/>
          <a:lstStyle/>
          <a:p>
            <a:pPr marL="0" indent="0">
              <a:buNone/>
            </a:pPr>
            <a:r>
              <a:rPr lang="en-US" dirty="0" smtClean="0">
                <a:latin typeface="Courier" charset="0"/>
                <a:cs typeface="Times New Roman" panose="02020603050405020304" pitchFamily="18" charset="0"/>
              </a:rPr>
              <a:t>To convert a string into a </a:t>
            </a:r>
            <a:r>
              <a:rPr lang="en-US" u="sng" dirty="0" smtClean="0">
                <a:latin typeface="Courier" charset="0"/>
                <a:cs typeface="Times New Roman" panose="02020603050405020304" pitchFamily="18" charset="0"/>
              </a:rPr>
              <a:t>double</a:t>
            </a:r>
            <a:r>
              <a:rPr lang="en-US" dirty="0" smtClean="0">
                <a:latin typeface="Courier" charset="0"/>
                <a:cs typeface="Times New Roman" panose="02020603050405020304" pitchFamily="18" charset="0"/>
              </a:rPr>
              <a:t> value, you can use the static </a:t>
            </a:r>
            <a:r>
              <a:rPr lang="en-US" u="sng" dirty="0" err="1" smtClean="0">
                <a:latin typeface="Courier" charset="0"/>
                <a:cs typeface="Times New Roman" panose="02020603050405020304" pitchFamily="18" charset="0"/>
              </a:rPr>
              <a:t>parseDouble</a:t>
            </a:r>
            <a:r>
              <a:rPr lang="en-US" dirty="0" smtClean="0">
                <a:latin typeface="Courier" charset="0"/>
                <a:cs typeface="Times New Roman" panose="02020603050405020304" pitchFamily="18" charset="0"/>
              </a:rPr>
              <a:t> method in the </a:t>
            </a:r>
            <a:r>
              <a:rPr lang="en-US" u="sng" dirty="0" smtClean="0">
                <a:latin typeface="Courier" charset="0"/>
                <a:cs typeface="Times New Roman" panose="02020603050405020304" pitchFamily="18" charset="0"/>
              </a:rPr>
              <a:t>Double</a:t>
            </a:r>
            <a:r>
              <a:rPr lang="en-US" dirty="0" smtClean="0">
                <a:latin typeface="Courier" charset="0"/>
                <a:cs typeface="Times New Roman" panose="02020603050405020304" pitchFamily="18" charset="0"/>
              </a:rPr>
              <a:t> class as follows:</a:t>
            </a:r>
            <a:endParaRPr lang="en-US" dirty="0" smtClean="0">
              <a:latin typeface="Courier" charset="0"/>
              <a:cs typeface="Times New Roman" panose="02020603050405020304" pitchFamily="18" charset="0"/>
            </a:endParaRPr>
          </a:p>
          <a:p>
            <a:pPr marL="0" indent="0">
              <a:buNone/>
            </a:pPr>
            <a:r>
              <a:rPr lang="en-US" dirty="0" smtClean="0">
                <a:latin typeface="Courier" charset="0"/>
                <a:cs typeface="Times New Roman" panose="02020603050405020304" pitchFamily="18" charset="0"/>
              </a:rPr>
              <a:t> </a:t>
            </a:r>
            <a:endParaRPr lang="en-US" dirty="0" smtClean="0">
              <a:latin typeface="Courier" charset="0"/>
              <a:cs typeface="Times New Roman" panose="02020603050405020304" pitchFamily="18" charset="0"/>
            </a:endParaRPr>
          </a:p>
          <a:p>
            <a:pPr marL="0" indent="0">
              <a:buNone/>
            </a:pPr>
            <a:r>
              <a:rPr lang="en-US" u="sng" dirty="0" smtClean="0">
                <a:latin typeface="Courier" charset="0"/>
                <a:cs typeface="Times New Roman" panose="02020603050405020304" pitchFamily="18" charset="0"/>
              </a:rPr>
              <a:t>double </a:t>
            </a:r>
            <a:r>
              <a:rPr lang="en-US" u="sng" dirty="0" err="1" smtClean="0">
                <a:latin typeface="Courier" charset="0"/>
                <a:cs typeface="Times New Roman" panose="02020603050405020304" pitchFamily="18" charset="0"/>
              </a:rPr>
              <a:t>doubleValue</a:t>
            </a:r>
            <a:r>
              <a:rPr lang="en-US" u="sng" dirty="0" smtClean="0">
                <a:latin typeface="Courier" charset="0"/>
                <a:cs typeface="Times New Roman" panose="02020603050405020304" pitchFamily="18" charset="0"/>
              </a:rPr>
              <a:t> =</a:t>
            </a:r>
            <a:r>
              <a:rPr lang="en-US" u="sng" dirty="0" err="1" smtClean="0">
                <a:latin typeface="Courier" charset="0"/>
                <a:cs typeface="Times New Roman" panose="02020603050405020304" pitchFamily="18" charset="0"/>
              </a:rPr>
              <a:t>Double.parseDouble</a:t>
            </a:r>
            <a:r>
              <a:rPr lang="en-US" u="sng" dirty="0" smtClean="0">
                <a:latin typeface="Courier" charset="0"/>
                <a:cs typeface="Times New Roman" panose="02020603050405020304" pitchFamily="18" charset="0"/>
              </a:rPr>
              <a:t>(</a:t>
            </a:r>
            <a:r>
              <a:rPr lang="en-US" u="sng" dirty="0" err="1" smtClean="0">
                <a:latin typeface="Courier" charset="0"/>
                <a:cs typeface="Times New Roman" panose="02020603050405020304" pitchFamily="18" charset="0"/>
              </a:rPr>
              <a:t>doubleString</a:t>
            </a:r>
            <a:r>
              <a:rPr lang="en-US" u="sng" dirty="0" smtClean="0">
                <a:latin typeface="Courier" charset="0"/>
                <a:cs typeface="Times New Roman" panose="02020603050405020304" pitchFamily="18" charset="0"/>
              </a:rPr>
              <a:t>);</a:t>
            </a:r>
            <a:endParaRPr lang="en-US" u="sng" dirty="0" smtClean="0">
              <a:latin typeface="Courier" charset="0"/>
              <a:cs typeface="Times New Roman" panose="02020603050405020304" pitchFamily="18" charset="0"/>
            </a:endParaRPr>
          </a:p>
          <a:p>
            <a:pPr marL="0" indent="0">
              <a:buNone/>
            </a:pPr>
            <a:r>
              <a:rPr lang="en-US" dirty="0" smtClean="0">
                <a:latin typeface="Courier" charset="0"/>
                <a:cs typeface="Times New Roman" panose="02020603050405020304" pitchFamily="18" charset="0"/>
              </a:rPr>
              <a:t> </a:t>
            </a:r>
            <a:endParaRPr lang="en-US" dirty="0" smtClean="0">
              <a:latin typeface="Courier" charset="0"/>
              <a:cs typeface="Times New Roman" panose="02020603050405020304" pitchFamily="18" charset="0"/>
            </a:endParaRPr>
          </a:p>
          <a:p>
            <a:pPr marL="0" indent="0">
              <a:buNone/>
            </a:pPr>
            <a:r>
              <a:rPr lang="en-US" dirty="0" smtClean="0">
                <a:latin typeface="Courier" charset="0"/>
                <a:cs typeface="Times New Roman" panose="02020603050405020304" pitchFamily="18" charset="0"/>
              </a:rPr>
              <a:t>where </a:t>
            </a:r>
            <a:r>
              <a:rPr lang="en-US" u="sng" dirty="0" err="1" smtClean="0">
                <a:latin typeface="Courier" charset="0"/>
                <a:cs typeface="Times New Roman" panose="02020603050405020304" pitchFamily="18" charset="0"/>
              </a:rPr>
              <a:t>doubleString</a:t>
            </a:r>
            <a:r>
              <a:rPr lang="en-US" dirty="0" smtClean="0">
                <a:latin typeface="Courier" charset="0"/>
                <a:cs typeface="Times New Roman" panose="02020603050405020304" pitchFamily="18" charset="0"/>
              </a:rPr>
              <a:t> is a numeric string such as “123.45”. </a:t>
            </a:r>
            <a:endParaRPr lang="en-US" dirty="0">
              <a:latin typeface="Courier" charset="0"/>
              <a:ea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Appropriate Comments</a:t>
            </a:r>
            <a:endParaRPr lang="en-US" dirty="0"/>
          </a:p>
        </p:txBody>
      </p:sp>
      <p:sp>
        <p:nvSpPr>
          <p:cNvPr id="3" name="Content Placeholder 2"/>
          <p:cNvSpPr>
            <a:spLocks noGrp="1"/>
          </p:cNvSpPr>
          <p:nvPr>
            <p:ph idx="1"/>
          </p:nvPr>
        </p:nvSpPr>
        <p:spPr/>
        <p:txBody>
          <a:bodyPr/>
          <a:lstStyle/>
          <a:p>
            <a:pPr algn="just">
              <a:buNone/>
            </a:pPr>
            <a:r>
              <a:rPr lang="en-US" dirty="0" smtClean="0">
                <a:latin typeface="Courier" charset="0"/>
                <a:cs typeface="Times New Roman" panose="02020603050405020304" pitchFamily="18" charset="0"/>
              </a:rPr>
              <a:t>Include a summary at the beginning of the program to explain what the program does, its key features, its supporting data structures, and any unique techniques it uses. </a:t>
            </a:r>
            <a:endParaRPr lang="en-US" dirty="0" smtClean="0">
              <a:latin typeface="Courier" charset="0"/>
              <a:cs typeface="Times New Roman" panose="02020603050405020304" pitchFamily="18" charset="0"/>
            </a:endParaRPr>
          </a:p>
          <a:p>
            <a:pPr algn="just">
              <a:buNone/>
            </a:pPr>
            <a:endParaRPr lang="en-US" dirty="0" smtClean="0">
              <a:latin typeface="Courier" charset="0"/>
              <a:cs typeface="Times New Roman" panose="02020603050405020304" pitchFamily="18" charset="0"/>
            </a:endParaRPr>
          </a:p>
          <a:p>
            <a:pPr algn="just">
              <a:buNone/>
            </a:pPr>
            <a:r>
              <a:rPr lang="en-US" dirty="0" smtClean="0">
                <a:latin typeface="Courier" charset="0"/>
                <a:cs typeface="Times New Roman" panose="02020603050405020304" pitchFamily="18" charset="0"/>
              </a:rPr>
              <a:t>	Include your name, class section, instruction, date, and a brief description at the beginning of the program. </a:t>
            </a:r>
            <a:endParaRPr lang="en-US" dirty="0" smtClean="0">
              <a:latin typeface="Courier" charset="0"/>
              <a:cs typeface="Times New Roman" panose="02020603050405020304" pitchFamily="18" charset="0"/>
            </a:endParaRPr>
          </a:p>
          <a:p>
            <a:pPr algn="just">
              <a:buNone/>
            </a:pPr>
            <a:endParaRPr lang="en-US" dirty="0">
              <a:latin typeface="Courier" charset="0"/>
              <a:ea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Naming Conventions</a:t>
            </a:r>
            <a:endParaRPr lang="en-US" dirty="0"/>
          </a:p>
        </p:txBody>
      </p:sp>
      <p:sp>
        <p:nvSpPr>
          <p:cNvPr id="3" name="Content Placeholder 2"/>
          <p:cNvSpPr>
            <a:spLocks noGrp="1"/>
          </p:cNvSpPr>
          <p:nvPr>
            <p:ph idx="1"/>
          </p:nvPr>
        </p:nvSpPr>
        <p:spPr/>
        <p:txBody>
          <a:bodyPr/>
          <a:lstStyle/>
          <a:p>
            <a:pPr algn="just"/>
            <a:r>
              <a:rPr lang="en-US" dirty="0" smtClean="0"/>
              <a:t>Choose meaningful and descriptive names.</a:t>
            </a:r>
            <a:endParaRPr lang="en-US" dirty="0" smtClean="0"/>
          </a:p>
          <a:p>
            <a:pPr algn="just"/>
            <a:r>
              <a:rPr lang="en-US" dirty="0" smtClean="0"/>
              <a:t>Variables and method names:  </a:t>
            </a:r>
            <a:endParaRPr lang="en-US" dirty="0" smtClean="0"/>
          </a:p>
          <a:p>
            <a:pPr lvl="1"/>
            <a:r>
              <a:rPr lang="en-US" dirty="0" smtClean="0"/>
              <a:t>Use lowercase. If the name consists of several words, concatenate all in one, use lowercase for the first word, and capitalize the first letter of each subsequent word in the name. For example, the variables </a:t>
            </a:r>
            <a:r>
              <a:rPr lang="en-US" sz="2600" dirty="0" smtClean="0">
                <a:latin typeface="Courier New" panose="02070309020205020404" charset="0"/>
              </a:rPr>
              <a:t>radius</a:t>
            </a:r>
            <a:r>
              <a:rPr lang="en-US" dirty="0" smtClean="0"/>
              <a:t> and </a:t>
            </a:r>
            <a:r>
              <a:rPr lang="en-US" sz="2600" dirty="0" smtClean="0">
                <a:latin typeface="Courier New" panose="02070309020205020404" charset="0"/>
              </a:rPr>
              <a:t>area</a:t>
            </a:r>
            <a:r>
              <a:rPr lang="en-US" dirty="0" smtClean="0"/>
              <a:t>, and the method </a:t>
            </a:r>
            <a:r>
              <a:rPr lang="en-US" sz="2600" dirty="0" err="1" smtClean="0">
                <a:latin typeface="Courier New" panose="02070309020205020404" charset="0"/>
              </a:rPr>
              <a:t>computeArea</a:t>
            </a:r>
            <a:r>
              <a:rPr lang="en-US" dirty="0" smtClean="0"/>
              <a:t>. </a:t>
            </a:r>
            <a:endParaRPr lang="en-US" dirty="0"/>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Naming Conventions, cont.</a:t>
            </a:r>
            <a:endParaRPr lang="en-US" dirty="0"/>
          </a:p>
        </p:txBody>
      </p:sp>
      <p:sp>
        <p:nvSpPr>
          <p:cNvPr id="3" name="Content Placeholder 2"/>
          <p:cNvSpPr>
            <a:spLocks noGrp="1"/>
          </p:cNvSpPr>
          <p:nvPr>
            <p:ph idx="1"/>
          </p:nvPr>
        </p:nvSpPr>
        <p:spPr/>
        <p:txBody>
          <a:bodyPr/>
          <a:lstStyle/>
          <a:p>
            <a:pPr algn="just"/>
            <a:r>
              <a:rPr lang="en-US" dirty="0" smtClean="0"/>
              <a:t>Class names:</a:t>
            </a:r>
            <a:r>
              <a:rPr lang="en-US" dirty="0" smtClean="0">
                <a:latin typeface="Book Antiqua" panose="02040602050305030304" pitchFamily="18" charset="0"/>
              </a:rPr>
              <a:t> </a:t>
            </a:r>
            <a:endParaRPr lang="en-US" dirty="0" smtClean="0">
              <a:latin typeface="Book Antiqua" panose="02040602050305030304" pitchFamily="18" charset="0"/>
            </a:endParaRPr>
          </a:p>
          <a:p>
            <a:pPr lvl="1"/>
            <a:r>
              <a:rPr lang="en-US" dirty="0" smtClean="0"/>
              <a:t>Capitalize the first letter of each word in the name.  For example, the class name </a:t>
            </a:r>
            <a:r>
              <a:rPr lang="en-US" sz="2600" dirty="0" err="1" smtClean="0">
                <a:latin typeface="Courier New" panose="02070309020205020404" charset="0"/>
              </a:rPr>
              <a:t>ComputeArea</a:t>
            </a:r>
            <a:r>
              <a:rPr lang="en-US" dirty="0" smtClean="0"/>
              <a:t>.</a:t>
            </a:r>
            <a:endParaRPr lang="en-US" dirty="0" smtClean="0">
              <a:latin typeface="Book Antiqua" panose="02040602050305030304" pitchFamily="18" charset="0"/>
            </a:endParaRPr>
          </a:p>
          <a:p>
            <a:pPr algn="just"/>
            <a:endParaRPr lang="en-US" dirty="0" smtClean="0">
              <a:latin typeface="Book Antiqua" panose="02040602050305030304" pitchFamily="18" charset="0"/>
            </a:endParaRPr>
          </a:p>
          <a:p>
            <a:pPr algn="just">
              <a:spcBef>
                <a:spcPct val="0"/>
              </a:spcBef>
            </a:pPr>
            <a:r>
              <a:rPr lang="en-US" dirty="0" smtClean="0"/>
              <a:t>Constants: </a:t>
            </a:r>
            <a:endParaRPr lang="en-US" dirty="0" smtClean="0"/>
          </a:p>
          <a:p>
            <a:pPr lvl="1"/>
            <a:r>
              <a:rPr lang="en-US" dirty="0" smtClean="0"/>
              <a:t>Capitalize all letters in constants.  For example, the constant </a:t>
            </a:r>
            <a:r>
              <a:rPr lang="en-US" sz="2600" dirty="0" smtClean="0">
                <a:latin typeface="Courier New" panose="02070309020205020404" charset="0"/>
              </a:rPr>
              <a:t>PI</a:t>
            </a:r>
            <a:r>
              <a:rPr lang="en-US" dirty="0" smtClean="0"/>
              <a:t>.</a:t>
            </a:r>
            <a:endParaRPr lang="en-US" dirty="0"/>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Proper Indentation and Spacing</a:t>
            </a:r>
            <a:endParaRPr lang="en-US" dirty="0"/>
          </a:p>
        </p:txBody>
      </p:sp>
      <p:sp>
        <p:nvSpPr>
          <p:cNvPr id="3" name="Content Placeholder 2"/>
          <p:cNvSpPr>
            <a:spLocks noGrp="1"/>
          </p:cNvSpPr>
          <p:nvPr>
            <p:ph idx="1"/>
          </p:nvPr>
        </p:nvSpPr>
        <p:spPr/>
        <p:txBody>
          <a:bodyPr/>
          <a:lstStyle/>
          <a:p>
            <a:pPr algn="just"/>
            <a:r>
              <a:rPr lang="en-US" dirty="0" smtClean="0"/>
              <a:t>Indentation</a:t>
            </a:r>
            <a:endParaRPr lang="en-US" dirty="0" smtClean="0">
              <a:latin typeface="Book Antiqua" panose="02040602050305030304" pitchFamily="18" charset="0"/>
            </a:endParaRPr>
          </a:p>
          <a:p>
            <a:pPr lvl="1"/>
            <a:r>
              <a:rPr lang="en-US" dirty="0" smtClean="0"/>
              <a:t>Indent two spaces.</a:t>
            </a:r>
            <a:endParaRPr lang="en-US" dirty="0" smtClean="0">
              <a:latin typeface="Book Antiqua" panose="02040602050305030304" pitchFamily="18" charset="0"/>
            </a:endParaRPr>
          </a:p>
          <a:p>
            <a:pPr algn="just"/>
            <a:endParaRPr lang="en-US" dirty="0" smtClean="0">
              <a:latin typeface="Book Antiqua" panose="02040602050305030304" pitchFamily="18" charset="0"/>
            </a:endParaRPr>
          </a:p>
          <a:p>
            <a:pPr algn="just">
              <a:spcBef>
                <a:spcPct val="0"/>
              </a:spcBef>
            </a:pPr>
            <a:r>
              <a:rPr lang="en-US" dirty="0" smtClean="0"/>
              <a:t>Spacing </a:t>
            </a:r>
            <a:endParaRPr lang="en-US" dirty="0" smtClean="0"/>
          </a:p>
          <a:p>
            <a:pPr lvl="1"/>
            <a:r>
              <a:rPr lang="en-US" dirty="0" smtClean="0"/>
              <a:t>Use blank line to separate segments of the code.</a:t>
            </a:r>
            <a:endParaRPr lang="en-US" dirty="0" smtClean="0"/>
          </a:p>
          <a:p>
            <a:endParaRPr 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Programming Errors</a:t>
            </a:r>
            <a:endParaRPr lang="en-US" dirty="0"/>
          </a:p>
        </p:txBody>
      </p:sp>
      <p:sp>
        <p:nvSpPr>
          <p:cNvPr id="3" name="Content Placeholder 2"/>
          <p:cNvSpPr>
            <a:spLocks noGrp="1"/>
          </p:cNvSpPr>
          <p:nvPr>
            <p:ph idx="1"/>
          </p:nvPr>
        </p:nvSpPr>
        <p:spPr/>
        <p:txBody>
          <a:bodyPr/>
          <a:lstStyle/>
          <a:p>
            <a:pPr algn="just"/>
            <a:r>
              <a:rPr lang="en-US" dirty="0" smtClean="0"/>
              <a:t>Syntax Errors</a:t>
            </a:r>
            <a:endParaRPr lang="en-US" dirty="0" smtClean="0"/>
          </a:p>
          <a:p>
            <a:pPr lvl="1" algn="just"/>
            <a:r>
              <a:rPr lang="en-US" dirty="0" smtClean="0"/>
              <a:t>Detected by the compiler</a:t>
            </a:r>
            <a:endParaRPr lang="en-US" dirty="0" smtClean="0"/>
          </a:p>
          <a:p>
            <a:pPr algn="just"/>
            <a:r>
              <a:rPr lang="en-US" dirty="0" smtClean="0"/>
              <a:t>Runtime Errors</a:t>
            </a:r>
            <a:endParaRPr lang="en-US" dirty="0" smtClean="0"/>
          </a:p>
          <a:p>
            <a:pPr lvl="1" algn="just"/>
            <a:r>
              <a:rPr lang="en-US" dirty="0" smtClean="0"/>
              <a:t>Causes the program to abort</a:t>
            </a:r>
            <a:endParaRPr lang="en-US" dirty="0" smtClean="0"/>
          </a:p>
          <a:p>
            <a:pPr algn="just"/>
            <a:r>
              <a:rPr lang="en-US" dirty="0" smtClean="0"/>
              <a:t>Logic Errors</a:t>
            </a:r>
            <a:endParaRPr lang="en-US" dirty="0" smtClean="0"/>
          </a:p>
          <a:p>
            <a:pPr lvl="1" algn="just"/>
            <a:r>
              <a:rPr lang="en-US" dirty="0" smtClean="0"/>
              <a:t>Produces incorrect result</a:t>
            </a:r>
            <a:endParaRPr lang="en-US"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Compilation Errors</a:t>
            </a:r>
            <a:endParaRPr lang="en-US" dirty="0"/>
          </a:p>
        </p:txBody>
      </p:sp>
      <p:sp>
        <p:nvSpPr>
          <p:cNvPr id="3" name="Content Placeholder 2"/>
          <p:cNvSpPr>
            <a:spLocks noGrp="1"/>
          </p:cNvSpPr>
          <p:nvPr>
            <p:ph idx="1"/>
          </p:nvPr>
        </p:nvSpPr>
        <p:spPr/>
        <p:txBody>
          <a:bodyPr/>
          <a:lstStyle/>
          <a:p>
            <a:pPr algn="just">
              <a:buNone/>
            </a:pPr>
            <a:r>
              <a:rPr lang="en-US" dirty="0" smtClean="0">
                <a:latin typeface="Courier" charset="0"/>
                <a:cs typeface="Times New Roman" panose="02020603050405020304" pitchFamily="18" charset="0"/>
              </a:rPr>
              <a:t>public class </a:t>
            </a:r>
            <a:r>
              <a:rPr lang="en-US" dirty="0" err="1" smtClean="0">
                <a:latin typeface="Courier" charset="0"/>
                <a:cs typeface="Times New Roman" panose="02020603050405020304" pitchFamily="18" charset="0"/>
              </a:rPr>
              <a:t>ShowSyntaxErrors</a:t>
            </a:r>
            <a:r>
              <a:rPr lang="en-US" dirty="0" smtClean="0">
                <a:latin typeface="Courier" charset="0"/>
                <a:cs typeface="Times New Roman" panose="02020603050405020304" pitchFamily="18" charset="0"/>
              </a:rPr>
              <a:t> {</a:t>
            </a:r>
            <a:endParaRPr lang="en-US" dirty="0" smtClean="0">
              <a:latin typeface="Courier" charset="0"/>
              <a:cs typeface="Times New Roman" panose="02020603050405020304" pitchFamily="18" charset="0"/>
            </a:endParaRPr>
          </a:p>
          <a:p>
            <a:pPr algn="just">
              <a:buNone/>
            </a:pPr>
            <a:r>
              <a:rPr lang="en-US" dirty="0" smtClean="0">
                <a:latin typeface="Courier" charset="0"/>
                <a:cs typeface="Times New Roman" panose="02020603050405020304" pitchFamily="18" charset="0"/>
              </a:rPr>
              <a:t>  public static void main(String[] </a:t>
            </a:r>
            <a:r>
              <a:rPr lang="en-US" dirty="0" err="1" smtClean="0">
                <a:latin typeface="Courier" charset="0"/>
                <a:cs typeface="Times New Roman" panose="02020603050405020304" pitchFamily="18" charset="0"/>
              </a:rPr>
              <a:t>args</a:t>
            </a:r>
            <a:r>
              <a:rPr lang="en-US" dirty="0" smtClean="0">
                <a:latin typeface="Courier" charset="0"/>
                <a:cs typeface="Times New Roman" panose="02020603050405020304" pitchFamily="18" charset="0"/>
              </a:rPr>
              <a:t>) {</a:t>
            </a:r>
            <a:endParaRPr lang="en-US" dirty="0" smtClean="0">
              <a:latin typeface="Courier" charset="0"/>
              <a:cs typeface="Times New Roman" panose="02020603050405020304" pitchFamily="18" charset="0"/>
            </a:endParaRPr>
          </a:p>
          <a:p>
            <a:pPr algn="just">
              <a:buNone/>
            </a:pPr>
            <a:r>
              <a:rPr lang="en-US" dirty="0" smtClean="0">
                <a:latin typeface="Courier" charset="0"/>
                <a:cs typeface="Times New Roman" panose="02020603050405020304" pitchFamily="18" charset="0"/>
              </a:rPr>
              <a:t>    </a:t>
            </a:r>
            <a:r>
              <a:rPr lang="en-US" dirty="0" err="1" smtClean="0">
                <a:latin typeface="Courier" charset="0"/>
                <a:cs typeface="Times New Roman" panose="02020603050405020304" pitchFamily="18" charset="0"/>
              </a:rPr>
              <a:t>i</a:t>
            </a:r>
            <a:r>
              <a:rPr lang="en-US" dirty="0" smtClean="0">
                <a:latin typeface="Courier" charset="0"/>
                <a:cs typeface="Times New Roman" panose="02020603050405020304" pitchFamily="18" charset="0"/>
              </a:rPr>
              <a:t> = 30</a:t>
            </a:r>
            <a:endParaRPr lang="en-US" dirty="0" smtClean="0">
              <a:latin typeface="Courier" charset="0"/>
              <a:cs typeface="Times New Roman" panose="02020603050405020304" pitchFamily="18" charset="0"/>
            </a:endParaRPr>
          </a:p>
          <a:p>
            <a:pPr algn="just">
              <a:buNone/>
            </a:pPr>
            <a:r>
              <a:rPr lang="en-US" dirty="0" smtClean="0">
                <a:latin typeface="Courier" charset="0"/>
                <a:cs typeface="Times New Roman" panose="02020603050405020304" pitchFamily="18" charset="0"/>
              </a:rPr>
              <a:t>    </a:t>
            </a:r>
            <a:r>
              <a:rPr lang="en-US" dirty="0" err="1" smtClean="0">
                <a:latin typeface="Courier" charset="0"/>
                <a:cs typeface="Times New Roman" panose="02020603050405020304" pitchFamily="18" charset="0"/>
              </a:rPr>
              <a:t>System.out.println</a:t>
            </a:r>
            <a:r>
              <a:rPr lang="en-US" dirty="0" smtClean="0">
                <a:latin typeface="Courier" charset="0"/>
                <a:cs typeface="Times New Roman" panose="02020603050405020304" pitchFamily="18" charset="0"/>
              </a:rPr>
              <a:t>(i+4);</a:t>
            </a:r>
            <a:endParaRPr lang="en-US" dirty="0" smtClean="0">
              <a:latin typeface="Courier" charset="0"/>
              <a:cs typeface="Times New Roman" panose="02020603050405020304" pitchFamily="18" charset="0"/>
            </a:endParaRPr>
          </a:p>
          <a:p>
            <a:pPr algn="just">
              <a:buNone/>
            </a:pPr>
            <a:r>
              <a:rPr lang="en-US" dirty="0" smtClean="0">
                <a:latin typeface="Courier" charset="0"/>
                <a:cs typeface="Times New Roman" panose="02020603050405020304" pitchFamily="18" charset="0"/>
              </a:rPr>
              <a:t>  }</a:t>
            </a:r>
            <a:endParaRPr lang="en-US" dirty="0">
              <a:latin typeface="Courier" charset="0"/>
              <a:cs typeface="Times New Roman" panose="02020603050405020304" pitchFamily="18" charset="0"/>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Runtime Errors</a:t>
            </a:r>
            <a:endParaRPr lang="en-US" dirty="0"/>
          </a:p>
        </p:txBody>
      </p:sp>
      <p:sp>
        <p:nvSpPr>
          <p:cNvPr id="3" name="Content Placeholder 2"/>
          <p:cNvSpPr>
            <a:spLocks noGrp="1"/>
          </p:cNvSpPr>
          <p:nvPr>
            <p:ph idx="1"/>
          </p:nvPr>
        </p:nvSpPr>
        <p:spPr/>
        <p:txBody>
          <a:bodyPr/>
          <a:lstStyle/>
          <a:p>
            <a:pPr algn="just">
              <a:buNone/>
            </a:pPr>
            <a:r>
              <a:rPr lang="en-US" dirty="0" smtClean="0">
                <a:latin typeface="Courier" charset="0"/>
                <a:cs typeface="Times New Roman" panose="02020603050405020304" pitchFamily="18" charset="0"/>
              </a:rPr>
              <a:t>public class </a:t>
            </a:r>
            <a:r>
              <a:rPr lang="en-US" dirty="0" err="1" smtClean="0">
                <a:latin typeface="Courier" charset="0"/>
                <a:cs typeface="Times New Roman" panose="02020603050405020304" pitchFamily="18" charset="0"/>
              </a:rPr>
              <a:t>ShowRuntimeErrors</a:t>
            </a:r>
            <a:r>
              <a:rPr lang="en-US" dirty="0" smtClean="0">
                <a:latin typeface="Courier" charset="0"/>
                <a:cs typeface="Times New Roman" panose="02020603050405020304" pitchFamily="18" charset="0"/>
              </a:rPr>
              <a:t> {</a:t>
            </a:r>
            <a:endParaRPr lang="en-US" dirty="0" smtClean="0">
              <a:latin typeface="Courier" charset="0"/>
              <a:cs typeface="Times New Roman" panose="02020603050405020304" pitchFamily="18" charset="0"/>
            </a:endParaRPr>
          </a:p>
          <a:p>
            <a:pPr algn="just">
              <a:buNone/>
            </a:pPr>
            <a:r>
              <a:rPr lang="en-US" dirty="0" smtClean="0">
                <a:latin typeface="Courier" charset="0"/>
                <a:cs typeface="Times New Roman" panose="02020603050405020304" pitchFamily="18" charset="0"/>
              </a:rPr>
              <a:t>  public static void main(String[] </a:t>
            </a:r>
            <a:r>
              <a:rPr lang="en-US" dirty="0" err="1" smtClean="0">
                <a:latin typeface="Courier" charset="0"/>
                <a:cs typeface="Times New Roman" panose="02020603050405020304" pitchFamily="18" charset="0"/>
              </a:rPr>
              <a:t>args</a:t>
            </a:r>
            <a:r>
              <a:rPr lang="en-US" dirty="0" smtClean="0">
                <a:latin typeface="Courier" charset="0"/>
                <a:cs typeface="Times New Roman" panose="02020603050405020304" pitchFamily="18" charset="0"/>
              </a:rPr>
              <a:t>) {</a:t>
            </a:r>
            <a:endParaRPr lang="en-US" dirty="0" smtClean="0">
              <a:latin typeface="Courier" charset="0"/>
              <a:cs typeface="Times New Roman" panose="02020603050405020304" pitchFamily="18" charset="0"/>
            </a:endParaRPr>
          </a:p>
          <a:p>
            <a:pPr algn="just">
              <a:buNone/>
            </a:pPr>
            <a:r>
              <a:rPr lang="en-US" dirty="0" smtClean="0">
                <a:latin typeface="Courier" charset="0"/>
                <a:cs typeface="Times New Roman" panose="02020603050405020304" pitchFamily="18" charset="0"/>
              </a:rPr>
              <a:t>    </a:t>
            </a:r>
            <a:r>
              <a:rPr lang="en-US" dirty="0" err="1" smtClean="0">
                <a:latin typeface="Courier" charset="0"/>
                <a:cs typeface="Times New Roman" panose="02020603050405020304" pitchFamily="18" charset="0"/>
              </a:rPr>
              <a:t>int</a:t>
            </a:r>
            <a:r>
              <a:rPr lang="en-US" dirty="0" smtClean="0">
                <a:latin typeface="Courier" charset="0"/>
                <a:cs typeface="Times New Roman" panose="02020603050405020304" pitchFamily="18" charset="0"/>
              </a:rPr>
              <a:t> </a:t>
            </a:r>
            <a:r>
              <a:rPr lang="en-US" dirty="0" err="1" smtClean="0">
                <a:latin typeface="Courier" charset="0"/>
                <a:cs typeface="Times New Roman" panose="02020603050405020304" pitchFamily="18" charset="0"/>
              </a:rPr>
              <a:t>i</a:t>
            </a:r>
            <a:r>
              <a:rPr lang="en-US" dirty="0" smtClean="0">
                <a:latin typeface="Courier" charset="0"/>
                <a:cs typeface="Times New Roman" panose="02020603050405020304" pitchFamily="18" charset="0"/>
              </a:rPr>
              <a:t> = 1 / 0;</a:t>
            </a:r>
            <a:endParaRPr lang="en-US" dirty="0" smtClean="0">
              <a:latin typeface="Courier" charset="0"/>
              <a:cs typeface="Times New Roman" panose="02020603050405020304" pitchFamily="18" charset="0"/>
            </a:endParaRPr>
          </a:p>
          <a:p>
            <a:pPr algn="just">
              <a:buNone/>
            </a:pPr>
            <a:r>
              <a:rPr lang="en-US" dirty="0" smtClean="0">
                <a:latin typeface="Courier" charset="0"/>
                <a:cs typeface="Times New Roman" panose="02020603050405020304" pitchFamily="18" charset="0"/>
              </a:rPr>
              <a:t>  }</a:t>
            </a:r>
            <a:endParaRPr lang="en-US" dirty="0" smtClean="0">
              <a:latin typeface="Courier" charset="0"/>
              <a:cs typeface="Times New Roman" panose="02020603050405020304" pitchFamily="18" charset="0"/>
            </a:endParaRPr>
          </a:p>
          <a:p>
            <a:pPr algn="just">
              <a:buNone/>
            </a:pPr>
            <a:r>
              <a:rPr lang="en-US" dirty="0" smtClean="0">
                <a:latin typeface="Courier" charset="0"/>
                <a:cs typeface="Times New Roman" panose="02020603050405020304" pitchFamily="18" charset="0"/>
              </a:rPr>
              <a:t>}</a:t>
            </a:r>
            <a:endParaRPr lang="en-US" dirty="0">
              <a:latin typeface="Courier" charset="0"/>
              <a:ea typeface="Times New Roman" panose="02020603050405020304" pitchFamily="18" charset="0"/>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Logic Errors</a:t>
            </a:r>
            <a:endParaRPr lang="en-US" dirty="0"/>
          </a:p>
        </p:txBody>
      </p:sp>
      <p:sp>
        <p:nvSpPr>
          <p:cNvPr id="3" name="Content Placeholder 2"/>
          <p:cNvSpPr>
            <a:spLocks noGrp="1"/>
          </p:cNvSpPr>
          <p:nvPr>
            <p:ph idx="1"/>
          </p:nvPr>
        </p:nvSpPr>
        <p:spPr/>
        <p:txBody>
          <a:bodyPr>
            <a:normAutofit fontScale="77500" lnSpcReduction="20000"/>
          </a:bodyPr>
          <a:lstStyle/>
          <a:p>
            <a:pPr algn="just">
              <a:buNone/>
            </a:pPr>
            <a:r>
              <a:rPr lang="en-US" dirty="0" smtClean="0">
                <a:latin typeface="Courier" charset="0"/>
                <a:cs typeface="Times New Roman" panose="02020603050405020304" pitchFamily="18" charset="0"/>
              </a:rPr>
              <a:t>public class </a:t>
            </a:r>
            <a:r>
              <a:rPr lang="en-US" dirty="0" err="1" smtClean="0">
                <a:latin typeface="Courier" charset="0"/>
                <a:cs typeface="Times New Roman" panose="02020603050405020304" pitchFamily="18" charset="0"/>
              </a:rPr>
              <a:t>ShowLogicErrors</a:t>
            </a:r>
            <a:r>
              <a:rPr lang="en-US" dirty="0" smtClean="0">
                <a:latin typeface="Courier" charset="0"/>
                <a:cs typeface="Times New Roman" panose="02020603050405020304" pitchFamily="18" charset="0"/>
              </a:rPr>
              <a:t> {</a:t>
            </a:r>
            <a:endParaRPr lang="en-US" dirty="0" smtClean="0">
              <a:latin typeface="Courier" charset="0"/>
              <a:cs typeface="Times New Roman" panose="02020603050405020304" pitchFamily="18" charset="0"/>
            </a:endParaRPr>
          </a:p>
          <a:p>
            <a:pPr algn="just">
              <a:buNone/>
            </a:pPr>
            <a:r>
              <a:rPr lang="en-US" dirty="0" smtClean="0">
                <a:latin typeface="Courier" charset="0"/>
                <a:cs typeface="Times New Roman" panose="02020603050405020304" pitchFamily="18" charset="0"/>
              </a:rPr>
              <a:t>  // Determine if a number is between 1 and 100 inclusively</a:t>
            </a:r>
            <a:endParaRPr lang="en-US" dirty="0" smtClean="0">
              <a:latin typeface="Courier" charset="0"/>
              <a:cs typeface="Times New Roman" panose="02020603050405020304" pitchFamily="18" charset="0"/>
            </a:endParaRPr>
          </a:p>
          <a:p>
            <a:pPr algn="just">
              <a:buNone/>
            </a:pPr>
            <a:r>
              <a:rPr lang="en-US" dirty="0" smtClean="0">
                <a:latin typeface="Courier" charset="0"/>
                <a:cs typeface="Times New Roman" panose="02020603050405020304" pitchFamily="18" charset="0"/>
              </a:rPr>
              <a:t>  public static void main(String[] </a:t>
            </a:r>
            <a:r>
              <a:rPr lang="en-US" dirty="0" err="1" smtClean="0">
                <a:latin typeface="Courier" charset="0"/>
                <a:cs typeface="Times New Roman" panose="02020603050405020304" pitchFamily="18" charset="0"/>
              </a:rPr>
              <a:t>args</a:t>
            </a:r>
            <a:r>
              <a:rPr lang="en-US" dirty="0" smtClean="0">
                <a:latin typeface="Courier" charset="0"/>
                <a:cs typeface="Times New Roman" panose="02020603050405020304" pitchFamily="18" charset="0"/>
              </a:rPr>
              <a:t>) {</a:t>
            </a:r>
            <a:endParaRPr lang="en-US" dirty="0" smtClean="0">
              <a:latin typeface="Courier" charset="0"/>
              <a:cs typeface="Times New Roman" panose="02020603050405020304" pitchFamily="18" charset="0"/>
            </a:endParaRPr>
          </a:p>
          <a:p>
            <a:pPr algn="just">
              <a:buNone/>
            </a:pPr>
            <a:r>
              <a:rPr lang="en-US" dirty="0" smtClean="0">
                <a:latin typeface="Courier" charset="0"/>
                <a:cs typeface="Times New Roman" panose="02020603050405020304" pitchFamily="18" charset="0"/>
              </a:rPr>
              <a:t>    // Prompt the user to enter a number</a:t>
            </a:r>
            <a:endParaRPr lang="en-US" dirty="0" smtClean="0">
              <a:latin typeface="Courier" charset="0"/>
              <a:cs typeface="Times New Roman" panose="02020603050405020304" pitchFamily="18" charset="0"/>
            </a:endParaRPr>
          </a:p>
          <a:p>
            <a:pPr algn="just">
              <a:buNone/>
            </a:pPr>
            <a:r>
              <a:rPr lang="en-US" dirty="0" smtClean="0">
                <a:latin typeface="Courier" charset="0"/>
                <a:cs typeface="Times New Roman" panose="02020603050405020304" pitchFamily="18" charset="0"/>
              </a:rPr>
              <a:t>    String input = </a:t>
            </a:r>
            <a:r>
              <a:rPr lang="en-US" dirty="0" err="1" smtClean="0">
                <a:latin typeface="Courier" charset="0"/>
                <a:cs typeface="Times New Roman" panose="02020603050405020304" pitchFamily="18" charset="0"/>
              </a:rPr>
              <a:t>JOptionPane.showInputDialog</a:t>
            </a:r>
            <a:r>
              <a:rPr lang="en-US" dirty="0" smtClean="0">
                <a:latin typeface="Courier" charset="0"/>
                <a:cs typeface="Times New Roman" panose="02020603050405020304" pitchFamily="18" charset="0"/>
              </a:rPr>
              <a:t>(null, </a:t>
            </a:r>
            <a:endParaRPr lang="en-US" dirty="0" smtClean="0">
              <a:latin typeface="Courier" charset="0"/>
              <a:cs typeface="Times New Roman" panose="02020603050405020304" pitchFamily="18" charset="0"/>
            </a:endParaRPr>
          </a:p>
          <a:p>
            <a:pPr algn="just">
              <a:buNone/>
            </a:pPr>
            <a:r>
              <a:rPr lang="en-US" dirty="0" smtClean="0">
                <a:latin typeface="Courier" charset="0"/>
                <a:cs typeface="Times New Roman" panose="02020603050405020304" pitchFamily="18" charset="0"/>
              </a:rPr>
              <a:t>      "Please enter an integer:",</a:t>
            </a:r>
            <a:endParaRPr lang="en-US" dirty="0" smtClean="0">
              <a:latin typeface="Courier" charset="0"/>
              <a:cs typeface="Times New Roman" panose="02020603050405020304" pitchFamily="18" charset="0"/>
            </a:endParaRPr>
          </a:p>
          <a:p>
            <a:pPr algn="just">
              <a:buNone/>
            </a:pPr>
            <a:r>
              <a:rPr lang="en-US" dirty="0" smtClean="0">
                <a:latin typeface="Courier" charset="0"/>
                <a:cs typeface="Times New Roman" panose="02020603050405020304" pitchFamily="18" charset="0"/>
              </a:rPr>
              <a:t>      "</a:t>
            </a:r>
            <a:r>
              <a:rPr lang="en-US" dirty="0" err="1" smtClean="0">
                <a:latin typeface="Courier" charset="0"/>
                <a:cs typeface="Times New Roman" panose="02020603050405020304" pitchFamily="18" charset="0"/>
              </a:rPr>
              <a:t>ShowLogicErrors</a:t>
            </a:r>
            <a:r>
              <a:rPr lang="en-US" dirty="0" smtClean="0">
                <a:latin typeface="Courier" charset="0"/>
                <a:cs typeface="Times New Roman" panose="02020603050405020304" pitchFamily="18" charset="0"/>
              </a:rPr>
              <a:t>", </a:t>
            </a:r>
            <a:r>
              <a:rPr lang="en-US" dirty="0" err="1" smtClean="0">
                <a:latin typeface="Courier" charset="0"/>
                <a:cs typeface="Times New Roman" panose="02020603050405020304" pitchFamily="18" charset="0"/>
              </a:rPr>
              <a:t>JOptionPane.QUESTION_MESSAGE</a:t>
            </a:r>
            <a:r>
              <a:rPr lang="en-US" dirty="0" smtClean="0">
                <a:latin typeface="Courier" charset="0"/>
                <a:cs typeface="Times New Roman" panose="02020603050405020304" pitchFamily="18" charset="0"/>
              </a:rPr>
              <a:t>);</a:t>
            </a:r>
            <a:endParaRPr lang="en-US" dirty="0" smtClean="0">
              <a:latin typeface="Courier" charset="0"/>
              <a:cs typeface="Times New Roman" panose="02020603050405020304" pitchFamily="18" charset="0"/>
            </a:endParaRPr>
          </a:p>
          <a:p>
            <a:pPr algn="just">
              <a:buNone/>
            </a:pPr>
            <a:r>
              <a:rPr lang="en-US" dirty="0" smtClean="0">
                <a:latin typeface="Courier" charset="0"/>
                <a:cs typeface="Times New Roman" panose="02020603050405020304" pitchFamily="18" charset="0"/>
              </a:rPr>
              <a:t>    </a:t>
            </a:r>
            <a:r>
              <a:rPr lang="en-US" dirty="0" err="1" smtClean="0">
                <a:latin typeface="Courier" charset="0"/>
                <a:cs typeface="Times New Roman" panose="02020603050405020304" pitchFamily="18" charset="0"/>
              </a:rPr>
              <a:t>int</a:t>
            </a:r>
            <a:r>
              <a:rPr lang="en-US" dirty="0" smtClean="0">
                <a:latin typeface="Courier" charset="0"/>
                <a:cs typeface="Times New Roman" panose="02020603050405020304" pitchFamily="18" charset="0"/>
              </a:rPr>
              <a:t> number = </a:t>
            </a:r>
            <a:r>
              <a:rPr lang="en-US" dirty="0" err="1" smtClean="0">
                <a:latin typeface="Courier" charset="0"/>
                <a:cs typeface="Times New Roman" panose="02020603050405020304" pitchFamily="18" charset="0"/>
              </a:rPr>
              <a:t>Integer.parseInt</a:t>
            </a:r>
            <a:r>
              <a:rPr lang="en-US" dirty="0" smtClean="0">
                <a:latin typeface="Courier" charset="0"/>
                <a:cs typeface="Times New Roman" panose="02020603050405020304" pitchFamily="18" charset="0"/>
              </a:rPr>
              <a:t>(input);</a:t>
            </a:r>
            <a:endParaRPr lang="en-US" dirty="0" smtClean="0">
              <a:latin typeface="Courier" charset="0"/>
              <a:cs typeface="Times New Roman" panose="02020603050405020304" pitchFamily="18" charset="0"/>
            </a:endParaRPr>
          </a:p>
          <a:p>
            <a:pPr algn="just">
              <a:buNone/>
            </a:pPr>
            <a:r>
              <a:rPr lang="en-US" dirty="0" smtClean="0">
                <a:latin typeface="Courier" charset="0"/>
                <a:cs typeface="Times New Roman" panose="02020603050405020304" pitchFamily="18" charset="0"/>
              </a:rPr>
              <a:t> </a:t>
            </a:r>
            <a:endParaRPr lang="en-US" dirty="0" smtClean="0">
              <a:latin typeface="Courier" charset="0"/>
              <a:cs typeface="Times New Roman" panose="02020603050405020304" pitchFamily="18" charset="0"/>
            </a:endParaRPr>
          </a:p>
          <a:p>
            <a:pPr algn="just">
              <a:buNone/>
            </a:pPr>
            <a:r>
              <a:rPr lang="en-US" dirty="0" smtClean="0">
                <a:latin typeface="Courier" charset="0"/>
                <a:cs typeface="Times New Roman" panose="02020603050405020304" pitchFamily="18" charset="0"/>
              </a:rPr>
              <a:t>    // Display the result</a:t>
            </a:r>
            <a:endParaRPr lang="en-US" dirty="0" smtClean="0">
              <a:latin typeface="Courier" charset="0"/>
              <a:cs typeface="Times New Roman" panose="02020603050405020304" pitchFamily="18" charset="0"/>
            </a:endParaRPr>
          </a:p>
          <a:p>
            <a:pPr algn="just">
              <a:buNone/>
            </a:pPr>
            <a:r>
              <a:rPr lang="en-US" dirty="0" smtClean="0">
                <a:latin typeface="Courier" charset="0"/>
                <a:cs typeface="Times New Roman" panose="02020603050405020304" pitchFamily="18" charset="0"/>
              </a:rPr>
              <a:t>    </a:t>
            </a:r>
            <a:r>
              <a:rPr lang="en-US" dirty="0" err="1" smtClean="0">
                <a:latin typeface="Courier" charset="0"/>
                <a:cs typeface="Times New Roman" panose="02020603050405020304" pitchFamily="18" charset="0"/>
              </a:rPr>
              <a:t>System.out.println</a:t>
            </a:r>
            <a:r>
              <a:rPr lang="en-US" dirty="0" smtClean="0">
                <a:latin typeface="Courier" charset="0"/>
                <a:cs typeface="Times New Roman" panose="02020603050405020304" pitchFamily="18" charset="0"/>
              </a:rPr>
              <a:t>("The number is between 1 and 100, " + </a:t>
            </a:r>
            <a:endParaRPr lang="en-US" dirty="0" smtClean="0">
              <a:latin typeface="Courier" charset="0"/>
              <a:cs typeface="Times New Roman" panose="02020603050405020304" pitchFamily="18" charset="0"/>
            </a:endParaRPr>
          </a:p>
          <a:p>
            <a:pPr algn="just">
              <a:buNone/>
            </a:pPr>
            <a:r>
              <a:rPr lang="en-US" dirty="0" smtClean="0">
                <a:latin typeface="Courier" charset="0"/>
                <a:cs typeface="Times New Roman" panose="02020603050405020304" pitchFamily="18" charset="0"/>
              </a:rPr>
              <a:t>      "inclusively? " + ((1 &lt; number) &amp;&amp; (number &lt; 100)));</a:t>
            </a:r>
            <a:endParaRPr lang="en-US" dirty="0">
              <a:latin typeface="Courier"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14553</Words>
  <Application>WPS Presentation</Application>
  <PresentationFormat>Widescreen</PresentationFormat>
  <Paragraphs>493</Paragraphs>
  <Slides>55</Slides>
  <Notes>0</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55</vt:i4>
      </vt:variant>
    </vt:vector>
  </HeadingPairs>
  <TitlesOfParts>
    <vt:vector size="71" baseType="lpstr">
      <vt:lpstr>Arial</vt:lpstr>
      <vt:lpstr>SimSun</vt:lpstr>
      <vt:lpstr>Wingdings</vt:lpstr>
      <vt:lpstr>Times New Roman</vt:lpstr>
      <vt:lpstr>Microsoft YaHei</vt:lpstr>
      <vt:lpstr>Arial Unicode MS</vt:lpstr>
      <vt:lpstr>Calibri Light</vt:lpstr>
      <vt:lpstr>Calibri</vt:lpstr>
      <vt:lpstr>Courier</vt:lpstr>
      <vt:lpstr>Courier New</vt:lpstr>
      <vt:lpstr>Palatino</vt:lpstr>
      <vt:lpstr>Palatino Linotype</vt:lpstr>
      <vt:lpstr>Inter-Regular</vt:lpstr>
      <vt:lpstr>Segoe Print</vt:lpstr>
      <vt:lpstr>Book Antiqua</vt:lpstr>
      <vt:lpstr>Office Theme</vt:lpstr>
      <vt:lpstr>Difference Between C and Java</vt:lpstr>
      <vt:lpstr>Object-Oriented Programming (OOP)</vt:lpstr>
      <vt:lpstr>PowerPoint 演示文稿</vt:lpstr>
      <vt:lpstr>Introduction to Java</vt:lpstr>
      <vt:lpstr>History of Java</vt:lpstr>
      <vt:lpstr>PowerPoint 演示文稿</vt:lpstr>
      <vt:lpstr>PowerPoint 演示文稿</vt:lpstr>
      <vt:lpstr>Features of Java</vt:lpstr>
      <vt:lpstr>Simple</vt:lpstr>
      <vt:lpstr>Object-Oriented</vt:lpstr>
      <vt:lpstr>Portable</vt:lpstr>
      <vt:lpstr>Platform Independent</vt:lpstr>
      <vt:lpstr>Secured</vt:lpstr>
      <vt:lpstr>Robust</vt:lpstr>
      <vt:lpstr>Architecture-Neutral</vt:lpstr>
      <vt:lpstr>Interpreted</vt:lpstr>
      <vt:lpstr>Dynamic</vt:lpstr>
      <vt:lpstr>PowerPoint 演示文稿</vt:lpstr>
      <vt:lpstr>Example 1</vt:lpstr>
      <vt:lpstr>Example 2</vt:lpstr>
      <vt:lpstr>Parameters used in First Java Program</vt:lpstr>
      <vt:lpstr>Example 3</vt:lpstr>
      <vt:lpstr>Example 4</vt:lpstr>
      <vt:lpstr>Blocks</vt:lpstr>
      <vt:lpstr>Classes</vt:lpstr>
      <vt:lpstr>Methods</vt:lpstr>
      <vt:lpstr>main Method</vt:lpstr>
      <vt:lpstr>The exit Method</vt:lpstr>
      <vt:lpstr>What happens at runtime?</vt:lpstr>
      <vt:lpstr>JVM (Java Virtual Machine)</vt:lpstr>
      <vt:lpstr>JRE(Java Runtime Environment)</vt:lpstr>
      <vt:lpstr>JDK(Java Development Kit) </vt:lpstr>
      <vt:lpstr>JVM Architecture</vt:lpstr>
      <vt:lpstr>Variable</vt:lpstr>
      <vt:lpstr>Data Types in Java</vt:lpstr>
      <vt:lpstr>Java Operators</vt:lpstr>
      <vt:lpstr>Anatomy of a Java Program</vt:lpstr>
      <vt:lpstr>Comments</vt:lpstr>
      <vt:lpstr>Reserved Words</vt:lpstr>
      <vt:lpstr>Modifiers</vt:lpstr>
      <vt:lpstr> Primitive Data Types and Operations</vt:lpstr>
      <vt:lpstr>Identifiers</vt:lpstr>
      <vt:lpstr>Declaring Variables</vt:lpstr>
      <vt:lpstr>Numerical Data Types (p.33)</vt:lpstr>
      <vt:lpstr>PowerPoint 演示文稿</vt:lpstr>
      <vt:lpstr>Converting Strings to Integers</vt:lpstr>
      <vt:lpstr>Converting Strings to Doubles</vt:lpstr>
      <vt:lpstr>Appropriate Comments</vt:lpstr>
      <vt:lpstr>Naming Conventions</vt:lpstr>
      <vt:lpstr>Naming Conventions, cont.</vt:lpstr>
      <vt:lpstr>Proper Indentation and Spacing</vt:lpstr>
      <vt:lpstr>Programming Errors</vt:lpstr>
      <vt:lpstr>Compilation Errors</vt:lpstr>
      <vt:lpstr>Runtime Errors</vt:lpstr>
      <vt:lpstr>Logic Errors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dc:title>
  <dc:creator>Microsoft account</dc:creator>
  <cp:lastModifiedBy>Manisha</cp:lastModifiedBy>
  <cp:revision>74</cp:revision>
  <dcterms:created xsi:type="dcterms:W3CDTF">2025-07-24T11:34:00Z</dcterms:created>
  <dcterms:modified xsi:type="dcterms:W3CDTF">2026-01-06T07:20:57Z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2D6D9DEF8A1148AF883CC26D6E5144D9_12</vt:lpwstr>
  </property>
  <property fmtid="{D5CDD505-2E9C-101B-9397-08002B2CF9AE}" pid="3" name="KSOProductBuildVer">
    <vt:lpwstr>1033-12.2.0.23155</vt:lpwstr>
  </property>
</Properties>
</file>